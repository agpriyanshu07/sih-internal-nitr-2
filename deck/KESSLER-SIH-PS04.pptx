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0692994" cy="6019495"/>
  <p:notesSz cx="6019495" cy="1069299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PS-04. Fill in Team ID and Team Name before submitting — they are the only placeholders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ratio. The innovation is epistemic, not algorithmic — say that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scale: measured with npm run scaling, six catalogue sizes, not extrapolated from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right-hand column is the slide to linger on — every mitigation is already built, not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this slide is visible in the live demo. Do not round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AI question. This slide answers it with numbers rather than defensively.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274320"/>
            <a:ext cx="8138160" cy="603504"/>
          </a:xfrm>
          <a:prstGeom prst="rect">
            <a:avLst/>
          </a:prstGeom>
          <a:noFill/>
          <a:ln/>
        </p:spPr>
        <p:txBody>
          <a:bodyPr wrap="square" lIns="0" tIns="0" rIns="0" bIns="0" rtlCol="0" anchor="ctr"/>
          <a:lstStyle/>
          <a:p>
            <a:pPr algn="ctr" indent="0" marL="0">
              <a:buNone/>
            </a:pPr>
            <a:r>
              <a:rPr lang="en-US" sz="3300" b="1" dirty="0">
                <a:solidFill>
                  <a:srgbClr val="1F497D"/>
                </a:solidFill>
                <a:latin typeface="Calibri" pitchFamily="34" charset="0"/>
                <a:ea typeface="Calibri" pitchFamily="34" charset="-122"/>
                <a:cs typeface="Calibri" pitchFamily="34" charset="-120"/>
              </a:rPr>
              <a:t>SMART INDIA HACKATHON 2026</a:t>
            </a:r>
            <a:endParaRPr lang="en-US" sz="3300" dirty="0"/>
          </a:p>
        </p:txBody>
      </p:sp>
      <p:pic>
        <p:nvPicPr>
          <p:cNvPr id="3" name="Image 0" descr="preencoded.png">    </p:cNvPr>
          <p:cNvPicPr>
            <a:picLocks noChangeAspect="1"/>
          </p:cNvPicPr>
          <p:nvPr/>
        </p:nvPicPr>
        <p:blipFill>
          <a:blip r:embed="rId1"/>
          <a:stretch>
            <a:fillRect/>
          </a:stretch>
        </p:blipFill>
        <p:spPr>
          <a:xfrm>
            <a:off x="8814816" y="146304"/>
            <a:ext cx="792843" cy="868680"/>
          </a:xfrm>
          <a:prstGeom prst="rect">
            <a:avLst/>
          </a:prstGeom>
        </p:spPr>
      </p:pic>
      <p:sp>
        <p:nvSpPr>
          <p:cNvPr id="4" name="Text 1"/>
          <p:cNvSpPr/>
          <p:nvPr/>
        </p:nvSpPr>
        <p:spPr>
          <a:xfrm>
            <a:off x="9710928" y="182880"/>
            <a:ext cx="868680" cy="804672"/>
          </a:xfrm>
          <a:prstGeom prst="rect">
            <a:avLst/>
          </a:prstGeom>
          <a:noFill/>
          <a:ln/>
        </p:spPr>
        <p:txBody>
          <a:bodyPr wrap="square" lIns="0" tIns="0" rIns="0" bIns="0" rtlCol="0" anchor="ctr"/>
          <a:lstStyle/>
          <a:p>
            <a:pPr indent="0" marL="0">
              <a:lnSpc>
                <a:spcPts val="1150"/>
              </a:lnSpc>
              <a:buNone/>
            </a:pPr>
            <a:r>
              <a:rPr lang="en-US" sz="1000" b="1" dirty="0">
                <a:solidFill>
                  <a:srgbClr val="3E4A56"/>
                </a:solidFill>
                <a:latin typeface="Calibri" pitchFamily="34" charset="0"/>
                <a:ea typeface="Calibri" pitchFamily="34" charset="-122"/>
                <a:cs typeface="Calibri" pitchFamily="34" charset="-120"/>
              </a:rPr>
              <a:t>SMART INDIA</a:t>
            </a:r>
            <a:endParaRPr lang="en-US" sz="1000" dirty="0"/>
          </a:p>
          <a:p>
            <a:pPr indent="0" marL="0">
              <a:lnSpc>
                <a:spcPts val="1150"/>
              </a:lnSpc>
              <a:buNone/>
            </a:pPr>
            <a:r>
              <a:rPr lang="en-US" sz="1000" b="1" dirty="0">
                <a:solidFill>
                  <a:srgbClr val="3E4A56"/>
                </a:solidFill>
                <a:latin typeface="Calibri" pitchFamily="34" charset="0"/>
                <a:ea typeface="Calibri" pitchFamily="34" charset="-122"/>
                <a:cs typeface="Calibri" pitchFamily="34" charset="-120"/>
              </a:rPr>
              <a:t>HACKATHON</a:t>
            </a:r>
            <a:endParaRPr lang="en-US" sz="1000" dirty="0"/>
          </a:p>
          <a:p>
            <a:pPr indent="0" marL="0">
              <a:lnSpc>
                <a:spcPts val="1150"/>
              </a:lnSpc>
              <a:buNone/>
            </a:pPr>
            <a:r>
              <a:rPr lang="en-US" sz="1000" b="1" dirty="0">
                <a:solidFill>
                  <a:srgbClr val="3E4A56"/>
                </a:solidFill>
                <a:latin typeface="Calibri" pitchFamily="34" charset="0"/>
                <a:ea typeface="Calibri" pitchFamily="34" charset="-122"/>
                <a:cs typeface="Calibri" pitchFamily="34" charset="-120"/>
              </a:rPr>
              <a:t>2026</a:t>
            </a:r>
            <a:endParaRPr lang="en-US" sz="1000" dirty="0"/>
          </a:p>
        </p:txBody>
      </p:sp>
      <p:sp>
        <p:nvSpPr>
          <p:cNvPr id="5" name="Text 2"/>
          <p:cNvSpPr/>
          <p:nvPr/>
        </p:nvSpPr>
        <p:spPr>
          <a:xfrm>
            <a:off x="457200" y="987552"/>
            <a:ext cx="8138160" cy="438912"/>
          </a:xfrm>
          <a:prstGeom prst="rect">
            <a:avLst/>
          </a:prstGeom>
          <a:noFill/>
          <a:ln/>
        </p:spPr>
        <p:txBody>
          <a:bodyPr wrap="square" lIns="0" tIns="0" rIns="0" bIns="0" rtlCol="0" anchor="ctr"/>
          <a:lstStyle/>
          <a:p>
            <a:pPr algn="ctr" indent="0" marL="0">
              <a:buNone/>
            </a:pPr>
            <a:r>
              <a:rPr lang="en-US" sz="2200" b="1" dirty="0">
                <a:solidFill>
                  <a:srgbClr val="111111"/>
                </a:solidFill>
                <a:latin typeface="Calibri" pitchFamily="34" charset="0"/>
                <a:ea typeface="Calibri" pitchFamily="34" charset="-122"/>
                <a:cs typeface="Calibri" pitchFamily="34" charset="-120"/>
              </a:rPr>
              <a:t>TITLE PAGE</a:t>
            </a:r>
            <a:endParaRPr lang="en-US" sz="2200" dirty="0"/>
          </a:p>
        </p:txBody>
      </p:sp>
      <p:sp>
        <p:nvSpPr>
          <p:cNvPr id="6" name="Text 3"/>
          <p:cNvSpPr/>
          <p:nvPr/>
        </p:nvSpPr>
        <p:spPr>
          <a:xfrm>
            <a:off x="384048" y="1664208"/>
            <a:ext cx="182880" cy="219456"/>
          </a:xfrm>
          <a:prstGeom prst="rect">
            <a:avLst/>
          </a:prstGeom>
          <a:noFill/>
          <a:ln/>
        </p:spPr>
        <p:txBody>
          <a:bodyPr wrap="square" lIns="0" tIns="0" rIns="0" bIns="0" rtlCol="0" anchor="ctr"/>
          <a:lstStyle/>
          <a:p>
            <a:pPr indent="0" marL="0">
              <a:buNone/>
            </a:pP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7" name="Text 4"/>
          <p:cNvSpPr/>
          <p:nvPr/>
        </p:nvSpPr>
        <p:spPr>
          <a:xfrm>
            <a:off x="603504" y="1645920"/>
            <a:ext cx="5989320" cy="274320"/>
          </a:xfrm>
          <a:prstGeom prst="rect">
            <a:avLst/>
          </a:prstGeom>
          <a:noFill/>
          <a:ln/>
        </p:spPr>
        <p:txBody>
          <a:bodyPr wrap="square" lIns="0" tIns="0" rIns="0" bIns="0" rtlCol="0" anchor="t"/>
          <a:lstStyle/>
          <a:p>
            <a:pPr indent="0" marL="0">
              <a:lnSpc>
                <a:spcPts val="1900"/>
              </a:lnSpc>
              <a:buNone/>
            </a:pPr>
            <a:r>
              <a:rPr lang="en-US" sz="1350" b="1" dirty="0">
                <a:solidFill>
                  <a:srgbClr val="111111"/>
                </a:solidFill>
                <a:latin typeface="Calibri" pitchFamily="34" charset="0"/>
                <a:ea typeface="Calibri" pitchFamily="34" charset="-122"/>
                <a:cs typeface="Calibri" pitchFamily="34" charset="-120"/>
              </a:rPr>
              <a:t>Problem Statement ID – </a:t>
            </a:r>
            <a:pPr indent="0" marL="0">
              <a:lnSpc>
                <a:spcPts val="1900"/>
              </a:lnSpc>
              <a:buNone/>
            </a:pPr>
            <a:r>
              <a:rPr lang="en-US" sz="1350" dirty="0">
                <a:solidFill>
                  <a:srgbClr val="333333"/>
                </a:solidFill>
                <a:latin typeface="Calibri" pitchFamily="34" charset="0"/>
                <a:ea typeface="Calibri" pitchFamily="34" charset="-122"/>
                <a:cs typeface="Calibri" pitchFamily="34" charset="-120"/>
              </a:rPr>
              <a:t>PS-04</a:t>
            </a:r>
            <a:endParaRPr lang="en-US" sz="1350" dirty="0"/>
          </a:p>
        </p:txBody>
      </p:sp>
      <p:sp>
        <p:nvSpPr>
          <p:cNvPr id="8" name="Text 5"/>
          <p:cNvSpPr/>
          <p:nvPr/>
        </p:nvSpPr>
        <p:spPr>
          <a:xfrm>
            <a:off x="384048" y="2066544"/>
            <a:ext cx="182880" cy="219456"/>
          </a:xfrm>
          <a:prstGeom prst="rect">
            <a:avLst/>
          </a:prstGeom>
          <a:noFill/>
          <a:ln/>
        </p:spPr>
        <p:txBody>
          <a:bodyPr wrap="square" lIns="0" tIns="0" rIns="0" bIns="0" rtlCol="0" anchor="ctr"/>
          <a:lstStyle/>
          <a:p>
            <a:pPr indent="0" marL="0">
              <a:buNone/>
            </a:pP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9" name="Text 6"/>
          <p:cNvSpPr/>
          <p:nvPr/>
        </p:nvSpPr>
        <p:spPr>
          <a:xfrm>
            <a:off x="603504" y="2048256"/>
            <a:ext cx="5989320" cy="512064"/>
          </a:xfrm>
          <a:prstGeom prst="rect">
            <a:avLst/>
          </a:prstGeom>
          <a:noFill/>
          <a:ln/>
        </p:spPr>
        <p:txBody>
          <a:bodyPr wrap="square" lIns="0" tIns="0" rIns="0" bIns="0" rtlCol="0" anchor="t"/>
          <a:lstStyle/>
          <a:p>
            <a:pPr indent="0" marL="0">
              <a:lnSpc>
                <a:spcPts val="1900"/>
              </a:lnSpc>
              <a:buNone/>
            </a:pPr>
            <a:r>
              <a:rPr lang="en-US" sz="1350" b="1" dirty="0">
                <a:solidFill>
                  <a:srgbClr val="111111"/>
                </a:solidFill>
                <a:latin typeface="Calibri" pitchFamily="34" charset="0"/>
                <a:ea typeface="Calibri" pitchFamily="34" charset="-122"/>
                <a:cs typeface="Calibri" pitchFamily="34" charset="-120"/>
              </a:rPr>
              <a:t>Problem Statement Title – </a:t>
            </a:r>
            <a:pPr indent="0" marL="0">
              <a:lnSpc>
                <a:spcPts val="1900"/>
              </a:lnSpc>
              <a:buNone/>
            </a:pPr>
            <a:r>
              <a:rPr lang="en-US" sz="1350" dirty="0">
                <a:solidFill>
                  <a:srgbClr val="333333"/>
                </a:solidFill>
                <a:latin typeface="Calibri" pitchFamily="34" charset="0"/>
                <a:ea typeface="Calibri" pitchFamily="34" charset="-122"/>
                <a:cs typeface="Calibri" pitchFamily="34" charset="-120"/>
              </a:rPr>
              <a:t>Space Debris Tracking &amp; Satellite Collision Risk Prediction Dashboard</a:t>
            </a:r>
            <a:endParaRPr lang="en-US" sz="1350" dirty="0"/>
          </a:p>
        </p:txBody>
      </p:sp>
      <p:sp>
        <p:nvSpPr>
          <p:cNvPr id="10" name="Text 7"/>
          <p:cNvSpPr/>
          <p:nvPr/>
        </p:nvSpPr>
        <p:spPr>
          <a:xfrm>
            <a:off x="384048" y="2706624"/>
            <a:ext cx="182880" cy="219456"/>
          </a:xfrm>
          <a:prstGeom prst="rect">
            <a:avLst/>
          </a:prstGeom>
          <a:noFill/>
          <a:ln/>
        </p:spPr>
        <p:txBody>
          <a:bodyPr wrap="square" lIns="0" tIns="0" rIns="0" bIns="0" rtlCol="0" anchor="ctr"/>
          <a:lstStyle/>
          <a:p>
            <a:pPr indent="0" marL="0">
              <a:buNone/>
            </a:pP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603504" y="2688336"/>
            <a:ext cx="5989320" cy="274320"/>
          </a:xfrm>
          <a:prstGeom prst="rect">
            <a:avLst/>
          </a:prstGeom>
          <a:noFill/>
          <a:ln/>
        </p:spPr>
        <p:txBody>
          <a:bodyPr wrap="square" lIns="0" tIns="0" rIns="0" bIns="0" rtlCol="0" anchor="t"/>
          <a:lstStyle/>
          <a:p>
            <a:pPr indent="0" marL="0">
              <a:lnSpc>
                <a:spcPts val="1900"/>
              </a:lnSpc>
              <a:buNone/>
            </a:pPr>
            <a:r>
              <a:rPr lang="en-US" sz="1350" b="1" dirty="0">
                <a:solidFill>
                  <a:srgbClr val="111111"/>
                </a:solidFill>
                <a:latin typeface="Calibri" pitchFamily="34" charset="0"/>
                <a:ea typeface="Calibri" pitchFamily="34" charset="-122"/>
                <a:cs typeface="Calibri" pitchFamily="34" charset="-120"/>
              </a:rPr>
              <a:t>Theme – </a:t>
            </a:r>
            <a:pPr indent="0" marL="0">
              <a:lnSpc>
                <a:spcPts val="1900"/>
              </a:lnSpc>
              <a:buNone/>
            </a:pPr>
            <a:r>
              <a:rPr lang="en-US" sz="1350" dirty="0">
                <a:solidFill>
                  <a:srgbClr val="333333"/>
                </a:solidFill>
                <a:latin typeface="Calibri" pitchFamily="34" charset="0"/>
                <a:ea typeface="Calibri" pitchFamily="34" charset="-122"/>
                <a:cs typeface="Calibri" pitchFamily="34" charset="-120"/>
              </a:rPr>
              <a:t>Space Technology</a:t>
            </a:r>
            <a:endParaRPr lang="en-US" sz="1350" dirty="0"/>
          </a:p>
        </p:txBody>
      </p:sp>
      <p:sp>
        <p:nvSpPr>
          <p:cNvPr id="12" name="Text 9"/>
          <p:cNvSpPr/>
          <p:nvPr/>
        </p:nvSpPr>
        <p:spPr>
          <a:xfrm>
            <a:off x="384048" y="3108960"/>
            <a:ext cx="182880" cy="219456"/>
          </a:xfrm>
          <a:prstGeom prst="rect">
            <a:avLst/>
          </a:prstGeom>
          <a:noFill/>
          <a:ln/>
        </p:spPr>
        <p:txBody>
          <a:bodyPr wrap="square" lIns="0" tIns="0" rIns="0" bIns="0" rtlCol="0" anchor="ctr"/>
          <a:lstStyle/>
          <a:p>
            <a:pPr indent="0" marL="0">
              <a:buNone/>
            </a:pP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13" name="Text 10"/>
          <p:cNvSpPr/>
          <p:nvPr/>
        </p:nvSpPr>
        <p:spPr>
          <a:xfrm>
            <a:off x="603504" y="3090672"/>
            <a:ext cx="5989320" cy="274320"/>
          </a:xfrm>
          <a:prstGeom prst="rect">
            <a:avLst/>
          </a:prstGeom>
          <a:noFill/>
          <a:ln/>
        </p:spPr>
        <p:txBody>
          <a:bodyPr wrap="square" lIns="0" tIns="0" rIns="0" bIns="0" rtlCol="0" anchor="t"/>
          <a:lstStyle/>
          <a:p>
            <a:pPr indent="0" marL="0">
              <a:lnSpc>
                <a:spcPts val="1900"/>
              </a:lnSpc>
              <a:buNone/>
            </a:pPr>
            <a:r>
              <a:rPr lang="en-US" sz="1350" b="1" dirty="0">
                <a:solidFill>
                  <a:srgbClr val="111111"/>
                </a:solidFill>
                <a:latin typeface="Calibri" pitchFamily="34" charset="0"/>
                <a:ea typeface="Calibri" pitchFamily="34" charset="-122"/>
                <a:cs typeface="Calibri" pitchFamily="34" charset="-120"/>
              </a:rPr>
              <a:t>PS Category – </a:t>
            </a:r>
            <a:pPr indent="0" marL="0">
              <a:lnSpc>
                <a:spcPts val="1900"/>
              </a:lnSpc>
              <a:buNone/>
            </a:pPr>
            <a:r>
              <a:rPr lang="en-US" sz="1350" dirty="0">
                <a:solidFill>
                  <a:srgbClr val="333333"/>
                </a:solidFill>
                <a:latin typeface="Calibri" pitchFamily="34" charset="0"/>
                <a:ea typeface="Calibri" pitchFamily="34" charset="-122"/>
                <a:cs typeface="Calibri" pitchFamily="34" charset="-120"/>
              </a:rPr>
              <a:t>Software</a:t>
            </a:r>
            <a:endParaRPr lang="en-US" sz="1350" dirty="0"/>
          </a:p>
        </p:txBody>
      </p:sp>
      <p:sp>
        <p:nvSpPr>
          <p:cNvPr id="14" name="Text 11"/>
          <p:cNvSpPr/>
          <p:nvPr/>
        </p:nvSpPr>
        <p:spPr>
          <a:xfrm>
            <a:off x="384048" y="3511296"/>
            <a:ext cx="182880" cy="219456"/>
          </a:xfrm>
          <a:prstGeom prst="rect">
            <a:avLst/>
          </a:prstGeom>
          <a:noFill/>
          <a:ln/>
        </p:spPr>
        <p:txBody>
          <a:bodyPr wrap="square" lIns="0" tIns="0" rIns="0" bIns="0" rtlCol="0" anchor="ctr"/>
          <a:lstStyle/>
          <a:p>
            <a:pPr indent="0" marL="0">
              <a:buNone/>
            </a:pP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15" name="Text 12"/>
          <p:cNvSpPr/>
          <p:nvPr/>
        </p:nvSpPr>
        <p:spPr>
          <a:xfrm>
            <a:off x="603504" y="3493008"/>
            <a:ext cx="5989320" cy="274320"/>
          </a:xfrm>
          <a:prstGeom prst="rect">
            <a:avLst/>
          </a:prstGeom>
          <a:noFill/>
          <a:ln/>
        </p:spPr>
        <p:txBody>
          <a:bodyPr wrap="square" lIns="0" tIns="0" rIns="0" bIns="0" rtlCol="0" anchor="t"/>
          <a:lstStyle/>
          <a:p>
            <a:pPr indent="0" marL="0">
              <a:lnSpc>
                <a:spcPts val="1900"/>
              </a:lnSpc>
              <a:buNone/>
            </a:pPr>
            <a:r>
              <a:rPr lang="en-US" sz="1350" b="1" dirty="0">
                <a:solidFill>
                  <a:srgbClr val="111111"/>
                </a:solidFill>
                <a:latin typeface="Calibri" pitchFamily="34" charset="0"/>
                <a:ea typeface="Calibri" pitchFamily="34" charset="-122"/>
                <a:cs typeface="Calibri" pitchFamily="34" charset="-120"/>
              </a:rPr>
              <a:t>Team ID – </a:t>
            </a:r>
            <a:pPr indent="0" marL="0">
              <a:lnSpc>
                <a:spcPts val="1900"/>
              </a:lnSpc>
              <a:buNone/>
            </a:pPr>
            <a:r>
              <a:rPr lang="en-US" sz="1350" i="1" dirty="0">
                <a:solidFill>
                  <a:srgbClr val="B3261E"/>
                </a:solidFill>
                <a:latin typeface="Calibri" pitchFamily="34" charset="0"/>
                <a:ea typeface="Calibri" pitchFamily="34" charset="-122"/>
                <a:cs typeface="Calibri" pitchFamily="34" charset="-120"/>
              </a:rPr>
              <a:t>&lt;&lt; enter your Team ID &gt;&gt;</a:t>
            </a:r>
            <a:endParaRPr lang="en-US" sz="1350" dirty="0"/>
          </a:p>
        </p:txBody>
      </p:sp>
      <p:sp>
        <p:nvSpPr>
          <p:cNvPr id="16" name="Text 13"/>
          <p:cNvSpPr/>
          <p:nvPr/>
        </p:nvSpPr>
        <p:spPr>
          <a:xfrm>
            <a:off x="384048" y="3913632"/>
            <a:ext cx="182880" cy="219456"/>
          </a:xfrm>
          <a:prstGeom prst="rect">
            <a:avLst/>
          </a:prstGeom>
          <a:noFill/>
          <a:ln/>
        </p:spPr>
        <p:txBody>
          <a:bodyPr wrap="square" lIns="0" tIns="0" rIns="0" bIns="0" rtlCol="0" anchor="ctr"/>
          <a:lstStyle/>
          <a:p>
            <a:pPr indent="0" marL="0">
              <a:buNone/>
            </a:pP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17" name="Text 14"/>
          <p:cNvSpPr/>
          <p:nvPr/>
        </p:nvSpPr>
        <p:spPr>
          <a:xfrm>
            <a:off x="603504" y="3895344"/>
            <a:ext cx="5989320" cy="274320"/>
          </a:xfrm>
          <a:prstGeom prst="rect">
            <a:avLst/>
          </a:prstGeom>
          <a:noFill/>
          <a:ln/>
        </p:spPr>
        <p:txBody>
          <a:bodyPr wrap="square" lIns="0" tIns="0" rIns="0" bIns="0" rtlCol="0" anchor="t"/>
          <a:lstStyle/>
          <a:p>
            <a:pPr indent="0" marL="0">
              <a:lnSpc>
                <a:spcPts val="1900"/>
              </a:lnSpc>
              <a:buNone/>
            </a:pPr>
            <a:r>
              <a:rPr lang="en-US" sz="1350" b="1" dirty="0">
                <a:solidFill>
                  <a:srgbClr val="111111"/>
                </a:solidFill>
                <a:latin typeface="Calibri" pitchFamily="34" charset="0"/>
                <a:ea typeface="Calibri" pitchFamily="34" charset="-122"/>
                <a:cs typeface="Calibri" pitchFamily="34" charset="-120"/>
              </a:rPr>
              <a:t>Team Name (Registered on portal) – </a:t>
            </a:r>
            <a:pPr indent="0" marL="0">
              <a:lnSpc>
                <a:spcPts val="1900"/>
              </a:lnSpc>
              <a:buNone/>
            </a:pPr>
            <a:r>
              <a:rPr lang="en-US" sz="1350" i="1" dirty="0">
                <a:solidFill>
                  <a:srgbClr val="B3261E"/>
                </a:solidFill>
                <a:latin typeface="Calibri" pitchFamily="34" charset="0"/>
                <a:ea typeface="Calibri" pitchFamily="34" charset="-122"/>
                <a:cs typeface="Calibri" pitchFamily="34" charset="-120"/>
              </a:rPr>
              <a:t>&lt;&lt; enter your Team Name &gt;&gt;</a:t>
            </a:r>
            <a:endParaRPr lang="en-US" sz="1350" dirty="0"/>
          </a:p>
        </p:txBody>
      </p:sp>
      <p:sp>
        <p:nvSpPr>
          <p:cNvPr id="18" name="Shape 15"/>
          <p:cNvSpPr/>
          <p:nvPr/>
        </p:nvSpPr>
        <p:spPr>
          <a:xfrm>
            <a:off x="6858000" y="1627632"/>
            <a:ext cx="3529584" cy="2487168"/>
          </a:xfrm>
          <a:prstGeom prst="roundRect">
            <a:avLst>
              <a:gd name="adj" fmla="val 1103"/>
            </a:avLst>
          </a:prstGeom>
          <a:solidFill>
            <a:srgbClr val="F2F6FA"/>
          </a:solidFill>
          <a:ln w="9525">
            <a:solidFill>
              <a:srgbClr val="D4DAE2"/>
            </a:solidFill>
            <a:prstDash val="solid"/>
          </a:ln>
        </p:spPr>
      </p:sp>
      <p:sp>
        <p:nvSpPr>
          <p:cNvPr id="19" name="Text 16"/>
          <p:cNvSpPr/>
          <p:nvPr/>
        </p:nvSpPr>
        <p:spPr>
          <a:xfrm>
            <a:off x="7095744" y="1792224"/>
            <a:ext cx="3200400" cy="182880"/>
          </a:xfrm>
          <a:prstGeom prst="rect">
            <a:avLst/>
          </a:prstGeom>
          <a:noFill/>
          <a:ln/>
        </p:spPr>
        <p:txBody>
          <a:bodyPr wrap="square" lIns="0" tIns="0" rIns="0" bIns="0" rtlCol="0" anchor="ctr"/>
          <a:lstStyle/>
          <a:p>
            <a:pPr indent="0" marL="0">
              <a:buNone/>
            </a:pPr>
            <a:r>
              <a:rPr lang="en-US" sz="850" b="1" spc="90" kern="0" dirty="0">
                <a:solidFill>
                  <a:srgbClr val="1F497D"/>
                </a:solidFill>
                <a:latin typeface="Calibri" pitchFamily="34" charset="0"/>
                <a:ea typeface="Calibri" pitchFamily="34" charset="-122"/>
                <a:cs typeface="Calibri" pitchFamily="34" charset="-120"/>
              </a:rPr>
              <a:t>WORKING PROTOTYPE — MEASURED, NOT PROJECTED</a:t>
            </a:r>
            <a:endParaRPr lang="en-US" sz="850" dirty="0"/>
          </a:p>
        </p:txBody>
      </p:sp>
      <p:sp>
        <p:nvSpPr>
          <p:cNvPr id="20" name="Text 17"/>
          <p:cNvSpPr/>
          <p:nvPr/>
        </p:nvSpPr>
        <p:spPr>
          <a:xfrm>
            <a:off x="7095744" y="2103120"/>
            <a:ext cx="1188720" cy="310896"/>
          </a:xfrm>
          <a:prstGeom prst="rect">
            <a:avLst/>
          </a:prstGeom>
          <a:noFill/>
          <a:ln/>
        </p:spPr>
        <p:txBody>
          <a:bodyPr wrap="square" lIns="0" tIns="0" rIns="0" bIns="0" rtlCol="0" anchor="ctr"/>
          <a:lstStyle/>
          <a:p>
            <a:pPr indent="0" marL="0">
              <a:buNone/>
            </a:pPr>
            <a:r>
              <a:rPr lang="en-US" sz="1900" b="1" dirty="0">
                <a:solidFill>
                  <a:srgbClr val="1F497D"/>
                </a:solidFill>
                <a:latin typeface="Arial" pitchFamily="34" charset="0"/>
                <a:ea typeface="Arial" pitchFamily="34" charset="-122"/>
                <a:cs typeface="Arial" pitchFamily="34" charset="-120"/>
              </a:rPr>
              <a:t>859</a:t>
            </a:r>
            <a:endParaRPr lang="en-US" sz="1900" dirty="0"/>
          </a:p>
        </p:txBody>
      </p:sp>
      <p:sp>
        <p:nvSpPr>
          <p:cNvPr id="21" name="Text 18"/>
          <p:cNvSpPr/>
          <p:nvPr/>
        </p:nvSpPr>
        <p:spPr>
          <a:xfrm>
            <a:off x="8321040" y="2084832"/>
            <a:ext cx="1956816" cy="347472"/>
          </a:xfrm>
          <a:prstGeom prst="rect">
            <a:avLst/>
          </a:prstGeom>
          <a:noFill/>
          <a:ln/>
        </p:spPr>
        <p:txBody>
          <a:bodyPr wrap="square" lIns="0" tIns="0" rIns="0" bIns="0" rtlCol="0" anchor="ctr"/>
          <a:lstStyle/>
          <a:p>
            <a:pPr indent="0" marL="0">
              <a:lnSpc>
                <a:spcPts val="1150"/>
              </a:lnSpc>
              <a:buNone/>
            </a:pPr>
            <a:r>
              <a:rPr lang="en-US" sz="1000" dirty="0">
                <a:solidFill>
                  <a:srgbClr val="333333"/>
                </a:solidFill>
                <a:latin typeface="Calibri" pitchFamily="34" charset="0"/>
                <a:ea typeface="Calibri" pitchFamily="34" charset="-122"/>
                <a:cs typeface="Calibri" pitchFamily="34" charset="-120"/>
              </a:rPr>
              <a:t>real tracked objects screened</a:t>
            </a:r>
            <a:endParaRPr lang="en-US" sz="1000" dirty="0"/>
          </a:p>
        </p:txBody>
      </p:sp>
      <p:sp>
        <p:nvSpPr>
          <p:cNvPr id="22" name="Text 19"/>
          <p:cNvSpPr/>
          <p:nvPr/>
        </p:nvSpPr>
        <p:spPr>
          <a:xfrm>
            <a:off x="7095744" y="2560320"/>
            <a:ext cx="1188720" cy="310896"/>
          </a:xfrm>
          <a:prstGeom prst="rect">
            <a:avLst/>
          </a:prstGeom>
          <a:noFill/>
          <a:ln/>
        </p:spPr>
        <p:txBody>
          <a:bodyPr wrap="square" lIns="0" tIns="0" rIns="0" bIns="0" rtlCol="0" anchor="ctr"/>
          <a:lstStyle/>
          <a:p>
            <a:pPr indent="0" marL="0">
              <a:buNone/>
            </a:pPr>
            <a:r>
              <a:rPr lang="en-US" sz="1900" b="1" dirty="0">
                <a:solidFill>
                  <a:srgbClr val="1F497D"/>
                </a:solidFill>
                <a:latin typeface="Arial" pitchFamily="34" charset="0"/>
                <a:ea typeface="Arial" pitchFamily="34" charset="-122"/>
                <a:cs typeface="Arial" pitchFamily="34" charset="-120"/>
              </a:rPr>
              <a:t>3,032</a:t>
            </a:r>
            <a:endParaRPr lang="en-US" sz="1900" dirty="0"/>
          </a:p>
        </p:txBody>
      </p:sp>
      <p:sp>
        <p:nvSpPr>
          <p:cNvPr id="23" name="Text 20"/>
          <p:cNvSpPr/>
          <p:nvPr/>
        </p:nvSpPr>
        <p:spPr>
          <a:xfrm>
            <a:off x="8321040" y="2542032"/>
            <a:ext cx="1956816" cy="347472"/>
          </a:xfrm>
          <a:prstGeom prst="rect">
            <a:avLst/>
          </a:prstGeom>
          <a:noFill/>
          <a:ln/>
        </p:spPr>
        <p:txBody>
          <a:bodyPr wrap="square" lIns="0" tIns="0" rIns="0" bIns="0" rtlCol="0" anchor="ctr"/>
          <a:lstStyle/>
          <a:p>
            <a:pPr indent="0" marL="0">
              <a:lnSpc>
                <a:spcPts val="1150"/>
              </a:lnSpc>
              <a:buNone/>
            </a:pPr>
            <a:r>
              <a:rPr lang="en-US" sz="1000" dirty="0">
                <a:solidFill>
                  <a:srgbClr val="333333"/>
                </a:solidFill>
                <a:latin typeface="Calibri" pitchFamily="34" charset="0"/>
                <a:ea typeface="Calibri" pitchFamily="34" charset="-122"/>
                <a:cs typeface="Calibri" pitchFamily="34" charset="-120"/>
              </a:rPr>
              <a:t>close approaches found in 72 h</a:t>
            </a:r>
            <a:endParaRPr lang="en-US" sz="1000" dirty="0"/>
          </a:p>
        </p:txBody>
      </p:sp>
      <p:sp>
        <p:nvSpPr>
          <p:cNvPr id="24" name="Text 21"/>
          <p:cNvSpPr/>
          <p:nvPr/>
        </p:nvSpPr>
        <p:spPr>
          <a:xfrm>
            <a:off x="7095744" y="3017520"/>
            <a:ext cx="1188720" cy="310896"/>
          </a:xfrm>
          <a:prstGeom prst="rect">
            <a:avLst/>
          </a:prstGeom>
          <a:noFill/>
          <a:ln/>
        </p:spPr>
        <p:txBody>
          <a:bodyPr wrap="square" lIns="0" tIns="0" rIns="0" bIns="0" rtlCol="0" anchor="ctr"/>
          <a:lstStyle/>
          <a:p>
            <a:pPr indent="0" marL="0">
              <a:buNone/>
            </a:pPr>
            <a:r>
              <a:rPr lang="en-US" sz="1900" b="1" dirty="0">
                <a:solidFill>
                  <a:srgbClr val="1F497D"/>
                </a:solidFill>
                <a:latin typeface="Arial" pitchFamily="34" charset="0"/>
                <a:ea typeface="Arial" pitchFamily="34" charset="-122"/>
                <a:cs typeface="Arial" pitchFamily="34" charset="-120"/>
              </a:rPr>
              <a:t>62 / 62</a:t>
            </a:r>
            <a:endParaRPr lang="en-US" sz="1900" dirty="0"/>
          </a:p>
        </p:txBody>
      </p:sp>
      <p:sp>
        <p:nvSpPr>
          <p:cNvPr id="25" name="Text 22"/>
          <p:cNvSpPr/>
          <p:nvPr/>
        </p:nvSpPr>
        <p:spPr>
          <a:xfrm>
            <a:off x="8321040" y="2999232"/>
            <a:ext cx="1956816" cy="347472"/>
          </a:xfrm>
          <a:prstGeom prst="rect">
            <a:avLst/>
          </a:prstGeom>
          <a:noFill/>
          <a:ln/>
        </p:spPr>
        <p:txBody>
          <a:bodyPr wrap="square" lIns="0" tIns="0" rIns="0" bIns="0" rtlCol="0" anchor="ctr"/>
          <a:lstStyle/>
          <a:p>
            <a:pPr indent="0" marL="0">
              <a:lnSpc>
                <a:spcPts val="1150"/>
              </a:lnSpc>
              <a:buNone/>
            </a:pPr>
            <a:r>
              <a:rPr lang="en-US" sz="1000" dirty="0">
                <a:solidFill>
                  <a:srgbClr val="333333"/>
                </a:solidFill>
                <a:latin typeface="Calibri" pitchFamily="34" charset="0"/>
                <a:ea typeface="Calibri" pitchFamily="34" charset="-122"/>
                <a:cs typeface="Calibri" pitchFamily="34" charset="-120"/>
              </a:rPr>
              <a:t>known-answer engine tests pass</a:t>
            </a:r>
            <a:endParaRPr lang="en-US" sz="1000" dirty="0"/>
          </a:p>
        </p:txBody>
      </p:sp>
      <p:sp>
        <p:nvSpPr>
          <p:cNvPr id="26" name="Text 23"/>
          <p:cNvSpPr/>
          <p:nvPr/>
        </p:nvSpPr>
        <p:spPr>
          <a:xfrm>
            <a:off x="7095744" y="3511296"/>
            <a:ext cx="3108960" cy="402336"/>
          </a:xfrm>
          <a:prstGeom prst="rect">
            <a:avLst/>
          </a:prstGeom>
          <a:noFill/>
          <a:ln/>
        </p:spPr>
        <p:txBody>
          <a:bodyPr wrap="square" lIns="0" tIns="0" rIns="0" bIns="0" rtlCol="0" anchor="ctr"/>
          <a:lstStyle/>
          <a:p>
            <a:pPr indent="0" marL="0">
              <a:lnSpc>
                <a:spcPts val="1200"/>
              </a:lnSpc>
              <a:buNone/>
            </a:pPr>
            <a:r>
              <a:rPr lang="en-US" sz="1000" i="1" dirty="0">
                <a:solidFill>
                  <a:srgbClr val="5A6673"/>
                </a:solidFill>
                <a:latin typeface="Calibri" pitchFamily="34" charset="0"/>
                <a:ea typeface="Calibri" pitchFamily="34" charset="-122"/>
                <a:cs typeface="Calibri" pitchFamily="34" charset="-120"/>
              </a:rPr>
              <a:t>Runs entirely in the browser — no backend, no network at runtime.</a:t>
            </a:r>
            <a:endParaRPr lang="en-US" sz="1000" dirty="0"/>
          </a:p>
        </p:txBody>
      </p:sp>
      <p:sp>
        <p:nvSpPr>
          <p:cNvPr id="27" name="Shape 24"/>
          <p:cNvSpPr/>
          <p:nvPr/>
        </p:nvSpPr>
        <p:spPr>
          <a:xfrm>
            <a:off x="310896" y="4443984"/>
            <a:ext cx="10076688" cy="932688"/>
          </a:xfrm>
          <a:prstGeom prst="roundRect">
            <a:avLst>
              <a:gd name="adj" fmla="val 2941"/>
            </a:avLst>
          </a:prstGeom>
          <a:solidFill>
            <a:srgbClr val="F2F6FA"/>
          </a:solidFill>
          <a:ln w="9525">
            <a:solidFill>
              <a:srgbClr val="D4DAE2"/>
            </a:solidFill>
            <a:prstDash val="solid"/>
          </a:ln>
        </p:spPr>
      </p:sp>
      <p:sp>
        <p:nvSpPr>
          <p:cNvPr id="28" name="Shape 25"/>
          <p:cNvSpPr/>
          <p:nvPr/>
        </p:nvSpPr>
        <p:spPr>
          <a:xfrm>
            <a:off x="310896" y="4443984"/>
            <a:ext cx="64008" cy="932688"/>
          </a:xfrm>
          <a:prstGeom prst="rect">
            <a:avLst/>
          </a:prstGeom>
          <a:solidFill>
            <a:srgbClr val="1F497D"/>
          </a:solidFill>
          <a:ln/>
        </p:spPr>
      </p:sp>
      <p:sp>
        <p:nvSpPr>
          <p:cNvPr id="29" name="Text 26"/>
          <p:cNvSpPr/>
          <p:nvPr/>
        </p:nvSpPr>
        <p:spPr>
          <a:xfrm>
            <a:off x="566928" y="4553712"/>
            <a:ext cx="9692640" cy="274320"/>
          </a:xfrm>
          <a:prstGeom prst="rect">
            <a:avLst/>
          </a:prstGeom>
          <a:noFill/>
          <a:ln/>
        </p:spPr>
        <p:txBody>
          <a:bodyPr wrap="square" lIns="0" tIns="0" rIns="0" bIns="0" rtlCol="0" anchor="ctr"/>
          <a:lstStyle/>
          <a:p>
            <a:pPr indent="0" marL="0">
              <a:buNone/>
            </a:pPr>
            <a:r>
              <a:rPr lang="en-US" sz="1350" b="1" dirty="0">
                <a:solidFill>
                  <a:srgbClr val="111111"/>
                </a:solidFill>
                <a:latin typeface="Calibri" pitchFamily="34" charset="0"/>
                <a:ea typeface="Calibri" pitchFamily="34" charset="-122"/>
                <a:cs typeface="Calibri" pitchFamily="34" charset="-120"/>
              </a:rPr>
              <a:t>A conjunction screening console that ranks close approaches AND states what would change the verdict.</a:t>
            </a:r>
            <a:endParaRPr lang="en-US" sz="1350" dirty="0"/>
          </a:p>
        </p:txBody>
      </p:sp>
      <p:sp>
        <p:nvSpPr>
          <p:cNvPr id="30" name="Text 27"/>
          <p:cNvSpPr/>
          <p:nvPr/>
        </p:nvSpPr>
        <p:spPr>
          <a:xfrm>
            <a:off x="566928" y="4864608"/>
            <a:ext cx="96926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Real element sets · real SGP4 · real times of closest approach. Every capability in the interface declares its own build status, so nothing unfinished can appear as working. Open source under the MIT licence.</a:t>
            </a:r>
            <a:endParaRPr lang="en-US" sz="1050" dirty="0"/>
          </a:p>
        </p:txBody>
      </p:sp>
      <p:sp>
        <p:nvSpPr>
          <p:cNvPr id="31" name="Shape 28"/>
          <p:cNvSpPr/>
          <p:nvPr/>
        </p:nvSpPr>
        <p:spPr>
          <a:xfrm>
            <a:off x="0" y="5708599"/>
            <a:ext cx="10692994" cy="310896"/>
          </a:xfrm>
          <a:prstGeom prst="rect">
            <a:avLst/>
          </a:prstGeom>
          <a:solidFill>
            <a:srgbClr val="0070C0"/>
          </a:solidFill>
          <a:ln/>
        </p:spPr>
      </p:sp>
      <p:sp>
        <p:nvSpPr>
          <p:cNvPr id="32" name="Text 29"/>
          <p:cNvSpPr/>
          <p:nvPr/>
        </p:nvSpPr>
        <p:spPr>
          <a:xfrm>
            <a:off x="3200400" y="5708599"/>
            <a:ext cx="429768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@SIH Idea submission- Template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219456" y="146304"/>
            <a:ext cx="1060704" cy="566928"/>
          </a:xfrm>
          <a:prstGeom prst="ellipse">
            <a:avLst/>
          </a:prstGeom>
          <a:solidFill>
            <a:srgbClr val="FFFFFF"/>
          </a:solidFill>
          <a:ln w="12700">
            <a:solidFill>
              <a:srgbClr val="B4A3C8"/>
            </a:solidFill>
            <a:prstDash val="solid"/>
          </a:ln>
        </p:spPr>
      </p:sp>
      <p:sp>
        <p:nvSpPr>
          <p:cNvPr id="3" name="Text 1"/>
          <p:cNvSpPr/>
          <p:nvPr/>
        </p:nvSpPr>
        <p:spPr>
          <a:xfrm>
            <a:off x="219456" y="146304"/>
            <a:ext cx="1060704" cy="566928"/>
          </a:xfrm>
          <a:prstGeom prst="rect">
            <a:avLst/>
          </a:prstGeom>
          <a:noFill/>
          <a:ln/>
        </p:spPr>
        <p:txBody>
          <a:bodyPr wrap="square" lIns="0" tIns="0" rIns="0" bIns="0" rtlCol="0" anchor="ctr"/>
          <a:lstStyle/>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Team</a:t>
            </a:r>
            <a:endParaRPr lang="en-US" sz="1050" dirty="0"/>
          </a:p>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Name</a:t>
            </a:r>
            <a:endParaRPr lang="en-US" sz="1050" dirty="0"/>
          </a:p>
        </p:txBody>
      </p:sp>
      <p:sp>
        <p:nvSpPr>
          <p:cNvPr id="4" name="Text 2"/>
          <p:cNvSpPr/>
          <p:nvPr/>
        </p:nvSpPr>
        <p:spPr>
          <a:xfrm>
            <a:off x="1389888" y="146304"/>
            <a:ext cx="7059168" cy="585216"/>
          </a:xfrm>
          <a:prstGeom prst="rect">
            <a:avLst/>
          </a:prstGeom>
          <a:noFill/>
          <a:ln/>
        </p:spPr>
        <p:txBody>
          <a:bodyPr wrap="square" lIns="0" tIns="0" rIns="0" bIns="0" rtlCol="0" anchor="ctr"/>
          <a:lstStyle/>
          <a:p>
            <a:pPr algn="ctr" indent="0" marL="0">
              <a:buNone/>
            </a:pPr>
            <a:r>
              <a:rPr lang="en-US" sz="2200" b="1" dirty="0">
                <a:solidFill>
                  <a:srgbClr val="111111"/>
                </a:solidFill>
                <a:latin typeface="Calibri" pitchFamily="34" charset="0"/>
                <a:ea typeface="Calibri" pitchFamily="34" charset="-122"/>
                <a:cs typeface="Calibri" pitchFamily="34" charset="-120"/>
              </a:rPr>
              <a:t>KESSLER — Collision Risk Triage Console</a:t>
            </a:r>
            <a:endParaRPr lang="en-US" sz="2200" dirty="0"/>
          </a:p>
        </p:txBody>
      </p:sp>
      <p:pic>
        <p:nvPicPr>
          <p:cNvPr id="5" name="Image 0" descr="preencoded.png">    </p:cNvPr>
          <p:cNvPicPr>
            <a:picLocks noChangeAspect="1"/>
          </p:cNvPicPr>
          <p:nvPr/>
        </p:nvPicPr>
        <p:blipFill>
          <a:blip r:embed="rId1"/>
          <a:stretch>
            <a:fillRect/>
          </a:stretch>
        </p:blipFill>
        <p:spPr>
          <a:xfrm>
            <a:off x="8796528" y="137160"/>
            <a:ext cx="517434" cy="566928"/>
          </a:xfrm>
          <a:prstGeom prst="rect">
            <a:avLst/>
          </a:prstGeom>
        </p:spPr>
      </p:pic>
      <p:sp>
        <p:nvSpPr>
          <p:cNvPr id="6" name="Text 3"/>
          <p:cNvSpPr/>
          <p:nvPr/>
        </p:nvSpPr>
        <p:spPr>
          <a:xfrm>
            <a:off x="9400032" y="146304"/>
            <a:ext cx="1115568" cy="548640"/>
          </a:xfrm>
          <a:prstGeom prst="rect">
            <a:avLst/>
          </a:prstGeom>
          <a:noFill/>
          <a:ln/>
        </p:spPr>
        <p:txBody>
          <a:bodyPr wrap="square" lIns="0" tIns="0" rIns="0" bIns="0" rtlCol="0" anchor="ctr"/>
          <a:lstStyle/>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SMART INDIA</a:t>
            </a:r>
            <a:endParaRPr lang="en-US" sz="950" dirty="0"/>
          </a:p>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HACKATHON 2026</a:t>
            </a:r>
            <a:endParaRPr lang="en-US" sz="950" dirty="0"/>
          </a:p>
        </p:txBody>
      </p:sp>
      <p:sp>
        <p:nvSpPr>
          <p:cNvPr id="7" name="Shape 4"/>
          <p:cNvSpPr/>
          <p:nvPr/>
        </p:nvSpPr>
        <p:spPr>
          <a:xfrm>
            <a:off x="0" y="5708599"/>
            <a:ext cx="10692994" cy="310896"/>
          </a:xfrm>
          <a:prstGeom prst="rect">
            <a:avLst/>
          </a:prstGeom>
          <a:solidFill>
            <a:srgbClr val="0070C0"/>
          </a:solidFill>
          <a:ln/>
        </p:spPr>
      </p:sp>
      <p:sp>
        <p:nvSpPr>
          <p:cNvPr id="8" name="Text 5"/>
          <p:cNvSpPr/>
          <p:nvPr/>
        </p:nvSpPr>
        <p:spPr>
          <a:xfrm>
            <a:off x="3200400" y="5708599"/>
            <a:ext cx="429768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@SIH Idea submission- Template</a:t>
            </a:r>
            <a:endParaRPr lang="en-US" sz="1050" dirty="0"/>
          </a:p>
        </p:txBody>
      </p:sp>
      <p:sp>
        <p:nvSpPr>
          <p:cNvPr id="9" name="Text 6"/>
          <p:cNvSpPr/>
          <p:nvPr/>
        </p:nvSpPr>
        <p:spPr>
          <a:xfrm>
            <a:off x="9915754" y="5708599"/>
            <a:ext cx="457200"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7"/>
          <p:cNvSpPr/>
          <p:nvPr/>
        </p:nvSpPr>
        <p:spPr>
          <a:xfrm>
            <a:off x="310896" y="859536"/>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11" name="Text 8"/>
          <p:cNvSpPr/>
          <p:nvPr/>
        </p:nvSpPr>
        <p:spPr>
          <a:xfrm>
            <a:off x="621792" y="859536"/>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Proposed Solution (Describe your Idea/Solution/Prototype)</a:t>
            </a:r>
            <a:endParaRPr lang="en-US" sz="1650" dirty="0"/>
          </a:p>
        </p:txBody>
      </p:sp>
      <p:sp>
        <p:nvSpPr>
          <p:cNvPr id="12" name="Shape 9"/>
          <p:cNvSpPr/>
          <p:nvPr/>
        </p:nvSpPr>
        <p:spPr>
          <a:xfrm>
            <a:off x="310896" y="1225296"/>
            <a:ext cx="4041648" cy="932688"/>
          </a:xfrm>
          <a:prstGeom prst="roundRect">
            <a:avLst>
              <a:gd name="adj" fmla="val 2941"/>
            </a:avLst>
          </a:prstGeom>
          <a:solidFill>
            <a:srgbClr val="FDF3F2"/>
          </a:solidFill>
          <a:ln w="9525">
            <a:solidFill>
              <a:srgbClr val="D4DAE2"/>
            </a:solidFill>
            <a:prstDash val="solid"/>
          </a:ln>
        </p:spPr>
      </p:sp>
      <p:sp>
        <p:nvSpPr>
          <p:cNvPr id="13" name="Text 10"/>
          <p:cNvSpPr/>
          <p:nvPr/>
        </p:nvSpPr>
        <p:spPr>
          <a:xfrm>
            <a:off x="512064" y="1316736"/>
            <a:ext cx="3657600" cy="182880"/>
          </a:xfrm>
          <a:prstGeom prst="rect">
            <a:avLst/>
          </a:prstGeom>
          <a:noFill/>
          <a:ln/>
        </p:spPr>
        <p:txBody>
          <a:bodyPr wrap="square" lIns="0" tIns="0" rIns="0" bIns="0" rtlCol="0" anchor="ctr"/>
          <a:lstStyle/>
          <a:p>
            <a:pPr indent="0" marL="0">
              <a:buNone/>
            </a:pPr>
            <a:r>
              <a:rPr lang="en-US" sz="850" b="1" spc="90" kern="0" dirty="0">
                <a:solidFill>
                  <a:srgbClr val="B3261E"/>
                </a:solidFill>
                <a:latin typeface="Calibri" pitchFamily="34" charset="0"/>
                <a:ea typeface="Calibri" pitchFamily="34" charset="-122"/>
                <a:cs typeface="Calibri" pitchFamily="34" charset="-120"/>
              </a:rPr>
              <a:t>HOW IT ADDRESSES THE PROBLEM</a:t>
            </a:r>
            <a:endParaRPr lang="en-US" sz="850" dirty="0"/>
          </a:p>
        </p:txBody>
      </p:sp>
      <p:sp>
        <p:nvSpPr>
          <p:cNvPr id="14" name="Text 11"/>
          <p:cNvSpPr/>
          <p:nvPr/>
        </p:nvSpPr>
        <p:spPr>
          <a:xfrm>
            <a:off x="512064" y="1517904"/>
            <a:ext cx="3712464" cy="329184"/>
          </a:xfrm>
          <a:prstGeom prst="rect">
            <a:avLst/>
          </a:prstGeom>
          <a:noFill/>
          <a:ln/>
        </p:spPr>
        <p:txBody>
          <a:bodyPr wrap="square" lIns="0" tIns="0" rIns="0" bIns="0" rtlCol="0" anchor="ctr"/>
          <a:lstStyle/>
          <a:p>
            <a:pPr indent="0" marL="0">
              <a:buNone/>
            </a:pPr>
            <a:r>
              <a:rPr lang="en-US" sz="2100" b="1" dirty="0">
                <a:solidFill>
                  <a:srgbClr val="B3261E"/>
                </a:solidFill>
                <a:latin typeface="Arial" pitchFamily="34" charset="0"/>
                <a:ea typeface="Arial" pitchFamily="34" charset="-122"/>
                <a:cs typeface="Arial" pitchFamily="34" charset="-120"/>
              </a:rPr>
              <a:t>53,000+</a:t>
            </a:r>
            <a:pPr indent="0" marL="0">
              <a:buNone/>
            </a:pPr>
            <a:r>
              <a:rPr lang="en-US" sz="1100" dirty="0">
                <a:solidFill>
                  <a:srgbClr val="5A6673"/>
                </a:solidFill>
                <a:latin typeface="Arial" pitchFamily="34" charset="0"/>
                <a:ea typeface="Arial" pitchFamily="34" charset="-122"/>
                <a:cs typeface="Arial" pitchFamily="34" charset="-120"/>
              </a:rPr>
              <a:t>  alerts  </a:t>
            </a:r>
            <a:pPr indent="0" marL="0">
              <a:buNone/>
            </a:pPr>
            <a:r>
              <a:rPr lang="en-US" sz="1500" dirty="0">
                <a:solidFill>
                  <a:srgbClr val="5A6673"/>
                </a:solidFill>
                <a:latin typeface="Arial" pitchFamily="34" charset="0"/>
                <a:ea typeface="Arial" pitchFamily="34" charset="-122"/>
                <a:cs typeface="Arial" pitchFamily="34" charset="-120"/>
              </a:rPr>
              <a:t>→</a:t>
            </a:r>
            <a:pPr indent="0" marL="0">
              <a:buNone/>
            </a:pPr>
            <a:r>
              <a:rPr lang="en-US" sz="2100" b="1" dirty="0">
                <a:solidFill>
                  <a:srgbClr val="1F497D"/>
                </a:solidFill>
                <a:latin typeface="Arial" pitchFamily="34" charset="0"/>
                <a:ea typeface="Arial" pitchFamily="34" charset="-122"/>
                <a:cs typeface="Arial" pitchFamily="34" charset="-120"/>
              </a:rPr>
              <a:t>  10</a:t>
            </a:r>
            <a:pPr indent="0" marL="0">
              <a:buNone/>
            </a:pPr>
            <a:r>
              <a:rPr lang="en-US" sz="1100" dirty="0">
                <a:solidFill>
                  <a:srgbClr val="5A6673"/>
                </a:solidFill>
                <a:latin typeface="Arial" pitchFamily="34" charset="0"/>
                <a:ea typeface="Arial" pitchFamily="34" charset="-122"/>
                <a:cs typeface="Arial" pitchFamily="34" charset="-120"/>
              </a:rPr>
              <a:t>  manoeuvres flown</a:t>
            </a:r>
            <a:endParaRPr lang="en-US" sz="2100" dirty="0"/>
          </a:p>
        </p:txBody>
      </p:sp>
      <p:sp>
        <p:nvSpPr>
          <p:cNvPr id="15" name="Text 12"/>
          <p:cNvSpPr/>
          <p:nvPr/>
        </p:nvSpPr>
        <p:spPr>
          <a:xfrm>
            <a:off x="512064" y="1847088"/>
            <a:ext cx="3712464" cy="274320"/>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ISRO, 2024. Detection is not the bottleneck. Deciding which ten of fifty-three thousand deserve a burn is.</a:t>
            </a:r>
            <a:endParaRPr lang="en-US" sz="950" dirty="0"/>
          </a:p>
        </p:txBody>
      </p:sp>
      <p:sp>
        <p:nvSpPr>
          <p:cNvPr id="16" name="Text 13"/>
          <p:cNvSpPr/>
          <p:nvPr/>
        </p:nvSpPr>
        <p:spPr>
          <a:xfrm>
            <a:off x="4553712" y="1207008"/>
            <a:ext cx="5833872" cy="969264"/>
          </a:xfrm>
          <a:prstGeom prst="rect">
            <a:avLst/>
          </a:prstGeom>
          <a:noFill/>
          <a:ln/>
        </p:spPr>
        <p:txBody>
          <a:bodyPr wrap="square" lIns="0" tIns="0" rIns="0" bIns="0" rtlCol="0" anchor="t"/>
          <a:lstStyle/>
          <a:p>
            <a:pPr indent="0" marL="0">
              <a:lnSpc>
                <a:spcPts val="1250"/>
              </a:lnSpc>
              <a:buNone/>
            </a:pPr>
            <a:r>
              <a:rPr lang="en-US" sz="1050" b="1" dirty="0">
                <a:solidFill>
                  <a:srgbClr val="111111"/>
                </a:solidFill>
                <a:latin typeface="Calibri" pitchFamily="34" charset="0"/>
                <a:ea typeface="Calibri" pitchFamily="34" charset="-122"/>
                <a:cs typeface="Calibri" pitchFamily="34" charset="-120"/>
              </a:rPr>
              <a:t>KESSLER ranks close approaches, then argues with its own ranking. </a:t>
            </a:r>
            <a:pPr indent="0" marL="0">
              <a:lnSpc>
                <a:spcPts val="1250"/>
              </a:lnSpc>
              <a:buNone/>
            </a:pPr>
            <a:r>
              <a:rPr lang="en-US" sz="1050" dirty="0">
                <a:solidFill>
                  <a:srgbClr val="333333"/>
                </a:solidFill>
                <a:latin typeface="Calibri" pitchFamily="34" charset="0"/>
                <a:ea typeface="Calibri" pitchFamily="34" charset="-122"/>
                <a:cs typeface="Calibri" pitchFamily="34" charset="-120"/>
              </a:rPr>
              <a:t>It loads real element sets, propagates them with SGP4, finds each pair’s exact time of closest approach and scores the event — that much is a conjunction tool. Ours adds the last step: for every event it also computes how far apart the pair would have to pass, and how wrong the uncertainty we had to assume would have to be, before the verdict changes. The operator gets a rank and the reason that rank is trustworthy — or the reason it is not.</a:t>
            </a:r>
            <a:endParaRPr lang="en-US" sz="1050" dirty="0"/>
          </a:p>
        </p:txBody>
      </p:sp>
      <p:sp>
        <p:nvSpPr>
          <p:cNvPr id="17" name="Shape 14"/>
          <p:cNvSpPr/>
          <p:nvPr/>
        </p:nvSpPr>
        <p:spPr>
          <a:xfrm>
            <a:off x="310896" y="2249424"/>
            <a:ext cx="1481328" cy="859536"/>
          </a:xfrm>
          <a:prstGeom prst="roundRect">
            <a:avLst>
              <a:gd name="adj" fmla="val 3191"/>
            </a:avLst>
          </a:prstGeom>
          <a:solidFill>
            <a:srgbClr val="FFFFFF"/>
          </a:solidFill>
          <a:ln w="9525">
            <a:solidFill>
              <a:srgbClr val="D4DAE2"/>
            </a:solidFill>
            <a:prstDash val="solid"/>
          </a:ln>
        </p:spPr>
      </p:sp>
      <p:sp>
        <p:nvSpPr>
          <p:cNvPr id="18" name="Shape 15"/>
          <p:cNvSpPr/>
          <p:nvPr/>
        </p:nvSpPr>
        <p:spPr>
          <a:xfrm>
            <a:off x="420624" y="2350008"/>
            <a:ext cx="219456" cy="219456"/>
          </a:xfrm>
          <a:prstGeom prst="ellipse">
            <a:avLst/>
          </a:prstGeom>
          <a:solidFill>
            <a:srgbClr val="1F497D"/>
          </a:solidFill>
          <a:ln/>
        </p:spPr>
      </p:sp>
      <p:sp>
        <p:nvSpPr>
          <p:cNvPr id="19" name="Text 16"/>
          <p:cNvSpPr/>
          <p:nvPr/>
        </p:nvSpPr>
        <p:spPr>
          <a:xfrm>
            <a:off x="420624" y="2350008"/>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20" name="Text 17"/>
          <p:cNvSpPr/>
          <p:nvPr/>
        </p:nvSpPr>
        <p:spPr>
          <a:xfrm>
            <a:off x="713232" y="2350008"/>
            <a:ext cx="969264" cy="219456"/>
          </a:xfrm>
          <a:prstGeom prst="rect">
            <a:avLst/>
          </a:prstGeom>
          <a:noFill/>
          <a:ln/>
        </p:spPr>
        <p:txBody>
          <a:bodyPr wrap="square" lIns="0" tIns="0" rIns="0" bIns="0" rtlCol="0" anchor="ctr"/>
          <a:lstStyle/>
          <a:p>
            <a:pPr indent="0" marL="0">
              <a:buNone/>
            </a:pPr>
            <a:r>
              <a:rPr lang="en-US" sz="1050" b="1" spc="40" kern="0" dirty="0">
                <a:solidFill>
                  <a:srgbClr val="1F497D"/>
                </a:solidFill>
                <a:latin typeface="Calibri" pitchFamily="34" charset="0"/>
                <a:ea typeface="Calibri" pitchFamily="34" charset="-122"/>
                <a:cs typeface="Calibri" pitchFamily="34" charset="-120"/>
              </a:rPr>
              <a:t>SCREEN</a:t>
            </a:r>
            <a:endParaRPr lang="en-US" sz="1050" dirty="0"/>
          </a:p>
        </p:txBody>
      </p:sp>
      <p:sp>
        <p:nvSpPr>
          <p:cNvPr id="21" name="Text 18"/>
          <p:cNvSpPr/>
          <p:nvPr/>
        </p:nvSpPr>
        <p:spPr>
          <a:xfrm>
            <a:off x="420624" y="2624328"/>
            <a:ext cx="1261872" cy="384048"/>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859 objects, 368,511 pairs over 72 h → 3,032 real close approaches</a:t>
            </a:r>
            <a:endParaRPr lang="en-US" sz="850" dirty="0"/>
          </a:p>
        </p:txBody>
      </p:sp>
      <p:sp>
        <p:nvSpPr>
          <p:cNvPr id="22" name="Text 19"/>
          <p:cNvSpPr/>
          <p:nvPr/>
        </p:nvSpPr>
        <p:spPr>
          <a:xfrm>
            <a:off x="1828800" y="2249424"/>
            <a:ext cx="228600" cy="859536"/>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2093976" y="2249424"/>
            <a:ext cx="1517904" cy="859536"/>
          </a:xfrm>
          <a:prstGeom prst="roundRect">
            <a:avLst>
              <a:gd name="adj" fmla="val 3191"/>
            </a:avLst>
          </a:prstGeom>
          <a:solidFill>
            <a:srgbClr val="FFFFFF"/>
          </a:solidFill>
          <a:ln w="9525">
            <a:solidFill>
              <a:srgbClr val="D4DAE2"/>
            </a:solidFill>
            <a:prstDash val="solid"/>
          </a:ln>
        </p:spPr>
      </p:sp>
      <p:sp>
        <p:nvSpPr>
          <p:cNvPr id="24" name="Shape 21"/>
          <p:cNvSpPr/>
          <p:nvPr/>
        </p:nvSpPr>
        <p:spPr>
          <a:xfrm>
            <a:off x="2203704" y="2350008"/>
            <a:ext cx="219456" cy="219456"/>
          </a:xfrm>
          <a:prstGeom prst="ellipse">
            <a:avLst/>
          </a:prstGeom>
          <a:solidFill>
            <a:srgbClr val="0070C0"/>
          </a:solidFill>
          <a:ln/>
        </p:spPr>
      </p:sp>
      <p:sp>
        <p:nvSpPr>
          <p:cNvPr id="25" name="Text 22"/>
          <p:cNvSpPr/>
          <p:nvPr/>
        </p:nvSpPr>
        <p:spPr>
          <a:xfrm>
            <a:off x="2203704" y="2350008"/>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26" name="Text 23"/>
          <p:cNvSpPr/>
          <p:nvPr/>
        </p:nvSpPr>
        <p:spPr>
          <a:xfrm>
            <a:off x="2496312" y="2350008"/>
            <a:ext cx="1005840" cy="219456"/>
          </a:xfrm>
          <a:prstGeom prst="rect">
            <a:avLst/>
          </a:prstGeom>
          <a:noFill/>
          <a:ln/>
        </p:spPr>
        <p:txBody>
          <a:bodyPr wrap="square" lIns="0" tIns="0" rIns="0" bIns="0" rtlCol="0" anchor="ctr"/>
          <a:lstStyle/>
          <a:p>
            <a:pPr indent="0" marL="0">
              <a:buNone/>
            </a:pPr>
            <a:r>
              <a:rPr lang="en-US" sz="1050" b="1" spc="40" kern="0" dirty="0">
                <a:solidFill>
                  <a:srgbClr val="0070C0"/>
                </a:solidFill>
                <a:latin typeface="Calibri" pitchFamily="34" charset="0"/>
                <a:ea typeface="Calibri" pitchFamily="34" charset="-122"/>
                <a:cs typeface="Calibri" pitchFamily="34" charset="-120"/>
              </a:rPr>
              <a:t>RANK</a:t>
            </a:r>
            <a:endParaRPr lang="en-US" sz="1050" dirty="0"/>
          </a:p>
        </p:txBody>
      </p:sp>
      <p:sp>
        <p:nvSpPr>
          <p:cNvPr id="27" name="Text 24"/>
          <p:cNvSpPr/>
          <p:nvPr/>
        </p:nvSpPr>
        <p:spPr>
          <a:xfrm>
            <a:off x="2203704" y="2624328"/>
            <a:ext cx="1298448" cy="384048"/>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Foster collision probability, a severity band and a 0–100 score</a:t>
            </a:r>
            <a:endParaRPr lang="en-US" sz="850" dirty="0"/>
          </a:p>
        </p:txBody>
      </p:sp>
      <p:sp>
        <p:nvSpPr>
          <p:cNvPr id="28" name="Text 25"/>
          <p:cNvSpPr/>
          <p:nvPr/>
        </p:nvSpPr>
        <p:spPr>
          <a:xfrm>
            <a:off x="3648456" y="2249424"/>
            <a:ext cx="228600" cy="859536"/>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29" name="Shape 26"/>
          <p:cNvSpPr/>
          <p:nvPr/>
        </p:nvSpPr>
        <p:spPr>
          <a:xfrm>
            <a:off x="3913632" y="2249424"/>
            <a:ext cx="1572768" cy="859536"/>
          </a:xfrm>
          <a:prstGeom prst="diamond">
            <a:avLst/>
          </a:prstGeom>
          <a:solidFill>
            <a:srgbClr val="FFF4E0"/>
          </a:solidFill>
          <a:ln w="12700">
            <a:solidFill>
              <a:srgbClr val="B25E00"/>
            </a:solidFill>
            <a:prstDash val="solid"/>
          </a:ln>
        </p:spPr>
      </p:sp>
      <p:sp>
        <p:nvSpPr>
          <p:cNvPr id="30" name="Text 27"/>
          <p:cNvSpPr/>
          <p:nvPr/>
        </p:nvSpPr>
        <p:spPr>
          <a:xfrm>
            <a:off x="4078224" y="2478024"/>
            <a:ext cx="1243584" cy="402336"/>
          </a:xfrm>
          <a:prstGeom prst="rect">
            <a:avLst/>
          </a:prstGeom>
          <a:noFill/>
          <a:ln/>
        </p:spPr>
        <p:txBody>
          <a:bodyPr wrap="square" lIns="0" tIns="0" rIns="0" bIns="0" rtlCol="0" anchor="ctr"/>
          <a:lstStyle/>
          <a:p>
            <a:pPr algn="ctr" indent="0" marL="0">
              <a:lnSpc>
                <a:spcPts val="950"/>
              </a:lnSpc>
              <a:buNone/>
            </a:pPr>
            <a:r>
              <a:rPr lang="en-US" sz="800" b="1" dirty="0">
                <a:solidFill>
                  <a:srgbClr val="7A4300"/>
                </a:solidFill>
                <a:latin typeface="Calibri" pitchFamily="34" charset="0"/>
                <a:ea typeface="Calibri" pitchFamily="34" charset="-122"/>
                <a:cs typeface="Calibri" pitchFamily="34" charset="-120"/>
              </a:rPr>
              <a:t>Does the band</a:t>
            </a:r>
            <a:endParaRPr lang="en-US" sz="800" dirty="0"/>
          </a:p>
          <a:p>
            <a:pPr algn="ctr" indent="0" marL="0">
              <a:lnSpc>
                <a:spcPts val="950"/>
              </a:lnSpc>
              <a:buNone/>
            </a:pPr>
            <a:r>
              <a:rPr lang="en-US" sz="800" b="1" dirty="0">
                <a:solidFill>
                  <a:srgbClr val="7A4300"/>
                </a:solidFill>
                <a:latin typeface="Calibri" pitchFamily="34" charset="0"/>
                <a:ea typeface="Calibri" pitchFamily="34" charset="-122"/>
                <a:cs typeface="Calibri" pitchFamily="34" charset="-120"/>
              </a:rPr>
              <a:t>survive the σ sweep?</a:t>
            </a:r>
            <a:endParaRPr lang="en-US" sz="800" dirty="0"/>
          </a:p>
        </p:txBody>
      </p:sp>
      <p:sp>
        <p:nvSpPr>
          <p:cNvPr id="31" name="Text 28"/>
          <p:cNvSpPr/>
          <p:nvPr/>
        </p:nvSpPr>
        <p:spPr>
          <a:xfrm>
            <a:off x="5522976" y="2240280"/>
            <a:ext cx="228600" cy="420624"/>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32" name="Text 29"/>
          <p:cNvSpPr/>
          <p:nvPr/>
        </p:nvSpPr>
        <p:spPr>
          <a:xfrm>
            <a:off x="5522976" y="2697480"/>
            <a:ext cx="228600" cy="420624"/>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33" name="Shape 30"/>
          <p:cNvSpPr/>
          <p:nvPr/>
        </p:nvSpPr>
        <p:spPr>
          <a:xfrm>
            <a:off x="5788152" y="2249424"/>
            <a:ext cx="2395728" cy="402336"/>
          </a:xfrm>
          <a:prstGeom prst="roundRect">
            <a:avLst>
              <a:gd name="adj" fmla="val 6818"/>
            </a:avLst>
          </a:prstGeom>
          <a:solidFill>
            <a:srgbClr val="F1F8F3"/>
          </a:solidFill>
          <a:ln w="9525">
            <a:solidFill>
              <a:srgbClr val="D4DAE2"/>
            </a:solidFill>
            <a:prstDash val="solid"/>
          </a:ln>
        </p:spPr>
      </p:sp>
      <p:sp>
        <p:nvSpPr>
          <p:cNvPr id="34" name="Text 31"/>
          <p:cNvSpPr/>
          <p:nvPr/>
        </p:nvSpPr>
        <p:spPr>
          <a:xfrm>
            <a:off x="5897880" y="2267712"/>
            <a:ext cx="822960" cy="182880"/>
          </a:xfrm>
          <a:prstGeom prst="rect">
            <a:avLst/>
          </a:prstGeom>
          <a:noFill/>
          <a:ln/>
        </p:spPr>
        <p:txBody>
          <a:bodyPr wrap="square" lIns="0" tIns="0" rIns="0" bIns="0" rtlCol="0" anchor="ctr"/>
          <a:lstStyle/>
          <a:p>
            <a:pPr indent="0" marL="0">
              <a:buNone/>
            </a:pPr>
            <a:r>
              <a:rPr lang="en-US" sz="850" b="1" dirty="0">
                <a:solidFill>
                  <a:srgbClr val="1E7A4C"/>
                </a:solidFill>
                <a:latin typeface="Calibri" pitchFamily="34" charset="0"/>
                <a:ea typeface="Calibri" pitchFamily="34" charset="-122"/>
                <a:cs typeface="Calibri" pitchFamily="34" charset="-120"/>
              </a:rPr>
              <a:t>✓  ESCALATE</a:t>
            </a:r>
            <a:endParaRPr lang="en-US" sz="850" dirty="0"/>
          </a:p>
        </p:txBody>
      </p:sp>
      <p:sp>
        <p:nvSpPr>
          <p:cNvPr id="35" name="Text 32"/>
          <p:cNvSpPr/>
          <p:nvPr/>
        </p:nvSpPr>
        <p:spPr>
          <a:xfrm>
            <a:off x="6702552" y="2249424"/>
            <a:ext cx="1389888" cy="402336"/>
          </a:xfrm>
          <a:prstGeom prst="rect">
            <a:avLst/>
          </a:prstGeom>
          <a:noFill/>
          <a:ln/>
        </p:spPr>
        <p:txBody>
          <a:bodyPr wrap="square" lIns="0" tIns="0" rIns="0" bIns="0" rtlCol="0" anchor="ctr"/>
          <a:lstStyle/>
          <a:p>
            <a:pPr indent="0" marL="0">
              <a:lnSpc>
                <a:spcPts val="850"/>
              </a:lnSpc>
              <a:buNone/>
            </a:pPr>
            <a:r>
              <a:rPr lang="en-US" sz="700" dirty="0">
                <a:solidFill>
                  <a:srgbClr val="333333"/>
                </a:solidFill>
                <a:latin typeface="Calibri" pitchFamily="34" charset="0"/>
                <a:ea typeface="Calibri" pitchFamily="34" charset="-122"/>
                <a:cs typeface="Calibri" pitchFamily="34" charset="-120"/>
              </a:rPr>
              <a:t>Band held from 0.25× to 4× the assumed σ — it is geometry, not our assumption.</a:t>
            </a:r>
            <a:endParaRPr lang="en-US" sz="700" dirty="0"/>
          </a:p>
        </p:txBody>
      </p:sp>
      <p:sp>
        <p:nvSpPr>
          <p:cNvPr id="36" name="Shape 33"/>
          <p:cNvSpPr/>
          <p:nvPr/>
        </p:nvSpPr>
        <p:spPr>
          <a:xfrm>
            <a:off x="5788152" y="2706624"/>
            <a:ext cx="2395728" cy="402336"/>
          </a:xfrm>
          <a:prstGeom prst="roundRect">
            <a:avLst>
              <a:gd name="adj" fmla="val 6818"/>
            </a:avLst>
          </a:prstGeom>
          <a:solidFill>
            <a:srgbClr val="F4F6F8"/>
          </a:solidFill>
          <a:ln w="9525">
            <a:solidFill>
              <a:srgbClr val="D4DAE2"/>
            </a:solidFill>
            <a:prstDash val="solid"/>
          </a:ln>
        </p:spPr>
      </p:sp>
      <p:sp>
        <p:nvSpPr>
          <p:cNvPr id="37" name="Text 34"/>
          <p:cNvSpPr/>
          <p:nvPr/>
        </p:nvSpPr>
        <p:spPr>
          <a:xfrm>
            <a:off x="5897880" y="2724912"/>
            <a:ext cx="822960" cy="182880"/>
          </a:xfrm>
          <a:prstGeom prst="rect">
            <a:avLst/>
          </a:prstGeom>
          <a:noFill/>
          <a:ln/>
        </p:spPr>
        <p:txBody>
          <a:bodyPr wrap="square" lIns="0" tIns="0" rIns="0" bIns="0" rtlCol="0" anchor="ctr"/>
          <a:lstStyle/>
          <a:p>
            <a:pPr indent="0" marL="0">
              <a:buNone/>
            </a:pPr>
            <a:r>
              <a:rPr lang="en-US" sz="850" b="1" dirty="0">
                <a:solidFill>
                  <a:srgbClr val="5A6673"/>
                </a:solidFill>
                <a:latin typeface="Calibri" pitchFamily="34" charset="0"/>
                <a:ea typeface="Calibri" pitchFamily="34" charset="-122"/>
                <a:cs typeface="Calibri" pitchFamily="34" charset="-120"/>
              </a:rPr>
              <a:t>✕  DISCARD</a:t>
            </a:r>
            <a:endParaRPr lang="en-US" sz="850" dirty="0"/>
          </a:p>
        </p:txBody>
      </p:sp>
      <p:sp>
        <p:nvSpPr>
          <p:cNvPr id="38" name="Text 35"/>
          <p:cNvSpPr/>
          <p:nvPr/>
        </p:nvSpPr>
        <p:spPr>
          <a:xfrm>
            <a:off x="6702552" y="2706624"/>
            <a:ext cx="1389888" cy="402336"/>
          </a:xfrm>
          <a:prstGeom prst="rect">
            <a:avLst/>
          </a:prstGeom>
          <a:noFill/>
          <a:ln/>
        </p:spPr>
        <p:txBody>
          <a:bodyPr wrap="square" lIns="0" tIns="0" rIns="0" bIns="0" rtlCol="0" anchor="ctr"/>
          <a:lstStyle/>
          <a:p>
            <a:pPr indent="0" marL="0">
              <a:lnSpc>
                <a:spcPts val="850"/>
              </a:lnSpc>
              <a:buNone/>
            </a:pPr>
            <a:r>
              <a:rPr lang="en-US" sz="700" dirty="0">
                <a:solidFill>
                  <a:srgbClr val="333333"/>
                </a:solidFill>
                <a:latin typeface="Calibri" pitchFamily="34" charset="0"/>
                <a:ea typeface="Calibri" pitchFamily="34" charset="-122"/>
                <a:cs typeface="Calibri" pitchFamily="34" charset="-120"/>
              </a:rPr>
              <a:t>A small revision to σ flips it. Logged with the exact multiplier, so the call is auditable.</a:t>
            </a:r>
            <a:endParaRPr lang="en-US" sz="700" dirty="0"/>
          </a:p>
        </p:txBody>
      </p:sp>
      <p:sp>
        <p:nvSpPr>
          <p:cNvPr id="39" name="Text 36"/>
          <p:cNvSpPr/>
          <p:nvPr/>
        </p:nvSpPr>
        <p:spPr>
          <a:xfrm>
            <a:off x="8220456" y="2249424"/>
            <a:ext cx="228600" cy="859536"/>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40" name="Shape 37"/>
          <p:cNvSpPr/>
          <p:nvPr/>
        </p:nvSpPr>
        <p:spPr>
          <a:xfrm>
            <a:off x="8485632" y="2249424"/>
            <a:ext cx="1901952" cy="859536"/>
          </a:xfrm>
          <a:prstGeom prst="roundRect">
            <a:avLst>
              <a:gd name="adj" fmla="val 3191"/>
            </a:avLst>
          </a:prstGeom>
          <a:solidFill>
            <a:srgbClr val="FFFFFF"/>
          </a:solidFill>
          <a:ln w="9525">
            <a:solidFill>
              <a:srgbClr val="D4DAE2"/>
            </a:solidFill>
            <a:prstDash val="solid"/>
          </a:ln>
        </p:spPr>
      </p:sp>
      <p:sp>
        <p:nvSpPr>
          <p:cNvPr id="41" name="Shape 38"/>
          <p:cNvSpPr/>
          <p:nvPr/>
        </p:nvSpPr>
        <p:spPr>
          <a:xfrm>
            <a:off x="8595360" y="2350008"/>
            <a:ext cx="219456" cy="219456"/>
          </a:xfrm>
          <a:prstGeom prst="ellipse">
            <a:avLst/>
          </a:prstGeom>
          <a:solidFill>
            <a:srgbClr val="1E7A4C"/>
          </a:solidFill>
          <a:ln/>
        </p:spPr>
      </p:sp>
      <p:sp>
        <p:nvSpPr>
          <p:cNvPr id="42" name="Text 39"/>
          <p:cNvSpPr/>
          <p:nvPr/>
        </p:nvSpPr>
        <p:spPr>
          <a:xfrm>
            <a:off x="8595360" y="2350008"/>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43" name="Text 40"/>
          <p:cNvSpPr/>
          <p:nvPr/>
        </p:nvSpPr>
        <p:spPr>
          <a:xfrm>
            <a:off x="8887968" y="2350008"/>
            <a:ext cx="1389888" cy="219456"/>
          </a:xfrm>
          <a:prstGeom prst="rect">
            <a:avLst/>
          </a:prstGeom>
          <a:noFill/>
          <a:ln/>
        </p:spPr>
        <p:txBody>
          <a:bodyPr wrap="square" lIns="0" tIns="0" rIns="0" bIns="0" rtlCol="0" anchor="ctr"/>
          <a:lstStyle/>
          <a:p>
            <a:pPr indent="0" marL="0">
              <a:buNone/>
            </a:pPr>
            <a:r>
              <a:rPr lang="en-US" sz="1050" b="1" spc="40" kern="0" dirty="0">
                <a:solidFill>
                  <a:srgbClr val="1E7A4C"/>
                </a:solidFill>
                <a:latin typeface="Calibri" pitchFamily="34" charset="0"/>
                <a:ea typeface="Calibri" pitchFamily="34" charset="-122"/>
                <a:cs typeface="Calibri" pitchFamily="34" charset="-120"/>
              </a:rPr>
              <a:t>HAND OFF</a:t>
            </a:r>
            <a:endParaRPr lang="en-US" sz="1050" dirty="0"/>
          </a:p>
        </p:txBody>
      </p:sp>
      <p:sp>
        <p:nvSpPr>
          <p:cNvPr id="44" name="Text 41"/>
          <p:cNvSpPr/>
          <p:nvPr/>
        </p:nvSpPr>
        <p:spPr>
          <a:xfrm>
            <a:off x="8595360" y="2624328"/>
            <a:ext cx="1682496" cy="384048"/>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CCSDS 508.0-B-1 Conjunction Data Message, plus CSV — formats an operator already ingests</a:t>
            </a:r>
            <a:endParaRPr lang="en-US" sz="850" dirty="0"/>
          </a:p>
        </p:txBody>
      </p:sp>
      <p:sp>
        <p:nvSpPr>
          <p:cNvPr id="45" name="Text 42"/>
          <p:cNvSpPr/>
          <p:nvPr/>
        </p:nvSpPr>
        <p:spPr>
          <a:xfrm>
            <a:off x="310896" y="3200400"/>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46" name="Text 43"/>
          <p:cNvSpPr/>
          <p:nvPr/>
        </p:nvSpPr>
        <p:spPr>
          <a:xfrm>
            <a:off x="621792" y="3200400"/>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Innovation and uniqueness of the solution</a:t>
            </a:r>
            <a:endParaRPr lang="en-US" sz="1650" dirty="0"/>
          </a:p>
        </p:txBody>
      </p:sp>
      <p:sp>
        <p:nvSpPr>
          <p:cNvPr id="47" name="Shape 44"/>
          <p:cNvSpPr/>
          <p:nvPr/>
        </p:nvSpPr>
        <p:spPr>
          <a:xfrm>
            <a:off x="365760" y="3685032"/>
            <a:ext cx="91440" cy="91440"/>
          </a:xfrm>
          <a:prstGeom prst="rect">
            <a:avLst/>
          </a:prstGeom>
          <a:solidFill>
            <a:srgbClr val="1F497D"/>
          </a:solidFill>
          <a:ln/>
        </p:spPr>
      </p:sp>
      <p:sp>
        <p:nvSpPr>
          <p:cNvPr id="48" name="Text 45"/>
          <p:cNvSpPr/>
          <p:nvPr/>
        </p:nvSpPr>
        <p:spPr>
          <a:xfrm>
            <a:off x="566928" y="3602736"/>
            <a:ext cx="3200400" cy="256032"/>
          </a:xfrm>
          <a:prstGeom prst="rect">
            <a:avLst/>
          </a:prstGeom>
          <a:noFill/>
          <a:ln/>
        </p:spPr>
        <p:txBody>
          <a:bodyPr wrap="square" lIns="0" tIns="0" rIns="0" bIns="0"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Answers "would this change your mind?"</a:t>
            </a:r>
            <a:endParaRPr lang="en-US" sz="1150" dirty="0"/>
          </a:p>
        </p:txBody>
      </p:sp>
      <p:sp>
        <p:nvSpPr>
          <p:cNvPr id="49" name="Text 46"/>
          <p:cNvSpPr/>
          <p:nvPr/>
        </p:nvSpPr>
        <p:spPr>
          <a:xfrm>
            <a:off x="3877056" y="3584448"/>
            <a:ext cx="6492240" cy="566928"/>
          </a:xfrm>
          <a:prstGeom prst="rect">
            <a:avLst/>
          </a:prstGeom>
          <a:noFill/>
          <a:ln/>
        </p:spPr>
        <p:txBody>
          <a:bodyPr wrap="square" lIns="0" tIns="0" rIns="0" bIns="0" rtlCol="0" anchor="ctr"/>
          <a:lstStyle/>
          <a:p>
            <a:pPr indent="0" marL="0">
              <a:lnSpc>
                <a:spcPts val="1250"/>
              </a:lnSpc>
              <a:buNone/>
            </a:pPr>
            <a:r>
              <a:rPr lang="en-US" sz="1050" dirty="0">
                <a:solidFill>
                  <a:srgbClr val="333333"/>
                </a:solidFill>
                <a:latin typeface="Calibri" pitchFamily="34" charset="0"/>
                <a:ea typeface="Calibri" pitchFamily="34" charset="-122"/>
                <a:cs typeface="Calibri" pitchFamily="34" charset="-120"/>
              </a:rPr>
              <a:t>Every event states the miss distance and the σ multiplier that would drop it a severity band, and which of the three score terms is carrying it. Published tools give a ranked list and stop. Ours is the same Foster model solved backwards, so no new assumption enters to produce the answer.</a:t>
            </a:r>
            <a:endParaRPr lang="en-US" sz="1050" dirty="0"/>
          </a:p>
        </p:txBody>
      </p:sp>
      <p:sp>
        <p:nvSpPr>
          <p:cNvPr id="50" name="Shape 47"/>
          <p:cNvSpPr/>
          <p:nvPr/>
        </p:nvSpPr>
        <p:spPr>
          <a:xfrm>
            <a:off x="365760" y="4151376"/>
            <a:ext cx="10003536" cy="0"/>
          </a:xfrm>
          <a:prstGeom prst="line">
            <a:avLst/>
          </a:prstGeom>
          <a:noFill/>
          <a:ln w="9525">
            <a:solidFill>
              <a:srgbClr val="EAEEF3"/>
            </a:solidFill>
            <a:prstDash val="solid"/>
          </a:ln>
        </p:spPr>
      </p:sp>
      <p:sp>
        <p:nvSpPr>
          <p:cNvPr id="51" name="Shape 48"/>
          <p:cNvSpPr/>
          <p:nvPr/>
        </p:nvSpPr>
        <p:spPr>
          <a:xfrm>
            <a:off x="365760" y="4343400"/>
            <a:ext cx="91440" cy="91440"/>
          </a:xfrm>
          <a:prstGeom prst="rect">
            <a:avLst/>
          </a:prstGeom>
          <a:solidFill>
            <a:srgbClr val="1E7A4C"/>
          </a:solidFill>
          <a:ln/>
        </p:spPr>
      </p:sp>
      <p:sp>
        <p:nvSpPr>
          <p:cNvPr id="52" name="Text 49"/>
          <p:cNvSpPr/>
          <p:nvPr/>
        </p:nvSpPr>
        <p:spPr>
          <a:xfrm>
            <a:off x="566928" y="4261104"/>
            <a:ext cx="3200400" cy="256032"/>
          </a:xfrm>
          <a:prstGeom prst="rect">
            <a:avLst/>
          </a:prstGeom>
          <a:noFill/>
          <a:ln/>
        </p:spPr>
        <p:txBody>
          <a:bodyPr wrap="square" lIns="0" tIns="0" rIns="0" bIns="0"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An interface that cannot overstate itself</a:t>
            </a:r>
            <a:endParaRPr lang="en-US" sz="1150" dirty="0"/>
          </a:p>
        </p:txBody>
      </p:sp>
      <p:sp>
        <p:nvSpPr>
          <p:cNvPr id="53" name="Text 50"/>
          <p:cNvSpPr/>
          <p:nvPr/>
        </p:nvSpPr>
        <p:spPr>
          <a:xfrm>
            <a:off x="3877056" y="4242816"/>
            <a:ext cx="6492240" cy="566928"/>
          </a:xfrm>
          <a:prstGeom prst="rect">
            <a:avLst/>
          </a:prstGeom>
          <a:noFill/>
          <a:ln/>
        </p:spPr>
        <p:txBody>
          <a:bodyPr wrap="square" lIns="0" tIns="0" rIns="0" bIns="0" rtlCol="0" anchor="ctr"/>
          <a:lstStyle/>
          <a:p>
            <a:pPr indent="0" marL="0">
              <a:lnSpc>
                <a:spcPts val="1250"/>
              </a:lnSpc>
              <a:buNone/>
            </a:pPr>
            <a:r>
              <a:rPr lang="en-US" sz="1050" dirty="0">
                <a:solidFill>
                  <a:srgbClr val="333333"/>
                </a:solidFill>
                <a:latin typeface="Calibri" pitchFamily="34" charset="0"/>
                <a:ea typeface="Calibri" pitchFamily="34" charset="-122"/>
                <a:cs typeface="Calibri" pitchFamily="34" charset="-120"/>
              </a:rPr>
              <a:t>Every capability renders from one registry carrying its own build status, so nothing unfinished can appear as working and the sidebar marks its own gaps. Assumed inputs are controls you can sweep rather than constants — an assumption you can move is a finding; one buried in a constant is a claim.</a:t>
            </a:r>
            <a:endParaRPr lang="en-US" sz="1050" dirty="0"/>
          </a:p>
        </p:txBody>
      </p:sp>
      <p:sp>
        <p:nvSpPr>
          <p:cNvPr id="54" name="Shape 51"/>
          <p:cNvSpPr/>
          <p:nvPr/>
        </p:nvSpPr>
        <p:spPr>
          <a:xfrm>
            <a:off x="365760" y="4809744"/>
            <a:ext cx="10003536" cy="0"/>
          </a:xfrm>
          <a:prstGeom prst="line">
            <a:avLst/>
          </a:prstGeom>
          <a:noFill/>
          <a:ln w="9525">
            <a:solidFill>
              <a:srgbClr val="EAEEF3"/>
            </a:solidFill>
            <a:prstDash val="solid"/>
          </a:ln>
        </p:spPr>
      </p:sp>
      <p:sp>
        <p:nvSpPr>
          <p:cNvPr id="55" name="Shape 52"/>
          <p:cNvSpPr/>
          <p:nvPr/>
        </p:nvSpPr>
        <p:spPr>
          <a:xfrm>
            <a:off x="365760" y="5001768"/>
            <a:ext cx="91440" cy="91440"/>
          </a:xfrm>
          <a:prstGeom prst="rect">
            <a:avLst/>
          </a:prstGeom>
          <a:solidFill>
            <a:srgbClr val="0070C0"/>
          </a:solidFill>
          <a:ln/>
        </p:spPr>
      </p:sp>
      <p:sp>
        <p:nvSpPr>
          <p:cNvPr id="56" name="Text 53"/>
          <p:cNvSpPr/>
          <p:nvPr/>
        </p:nvSpPr>
        <p:spPr>
          <a:xfrm>
            <a:off x="566928" y="4919472"/>
            <a:ext cx="3200400" cy="256032"/>
          </a:xfrm>
          <a:prstGeom prst="rect">
            <a:avLst/>
          </a:prstGeom>
          <a:noFill/>
          <a:ln/>
        </p:spPr>
        <p:txBody>
          <a:bodyPr wrap="square" lIns="0" tIns="0" rIns="0" bIns="0"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Speaks the operator’s format</a:t>
            </a:r>
            <a:endParaRPr lang="en-US" sz="1150" dirty="0"/>
          </a:p>
        </p:txBody>
      </p:sp>
      <p:sp>
        <p:nvSpPr>
          <p:cNvPr id="57" name="Text 54"/>
          <p:cNvSpPr/>
          <p:nvPr/>
        </p:nvSpPr>
        <p:spPr>
          <a:xfrm>
            <a:off x="3877056" y="4901184"/>
            <a:ext cx="6492240" cy="566928"/>
          </a:xfrm>
          <a:prstGeom prst="rect">
            <a:avLst/>
          </a:prstGeom>
          <a:noFill/>
          <a:ln/>
        </p:spPr>
        <p:txBody>
          <a:bodyPr wrap="square" lIns="0" tIns="0" rIns="0" bIns="0" rtlCol="0" anchor="ctr"/>
          <a:lstStyle/>
          <a:p>
            <a:pPr indent="0" marL="0">
              <a:lnSpc>
                <a:spcPts val="1250"/>
              </a:lnSpc>
              <a:buNone/>
            </a:pPr>
            <a:r>
              <a:rPr lang="en-US" sz="1050" dirty="0">
                <a:solidFill>
                  <a:srgbClr val="333333"/>
                </a:solidFill>
                <a:latin typeface="Calibri" pitchFamily="34" charset="0"/>
                <a:ea typeface="Calibri" pitchFamily="34" charset="-122"/>
                <a:cs typeface="Calibri" pitchFamily="34" charset="-120"/>
              </a:rPr>
              <a:t>Exports CCSDS 508.0-B-1 Conjunction Data Messages — the format Space-Track, ESA and NASA CARA already exchange — so the output enters an existing pipeline rather than a spreadsheet, and each message declares COVARIANCE_METHOD = DEFAULT rather than implying a covariance we do not have.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219456" y="146304"/>
            <a:ext cx="1060704" cy="566928"/>
          </a:xfrm>
          <a:prstGeom prst="ellipse">
            <a:avLst/>
          </a:prstGeom>
          <a:solidFill>
            <a:srgbClr val="FFFFFF"/>
          </a:solidFill>
          <a:ln w="12700">
            <a:solidFill>
              <a:srgbClr val="B4A3C8"/>
            </a:solidFill>
            <a:prstDash val="solid"/>
          </a:ln>
        </p:spPr>
      </p:sp>
      <p:sp>
        <p:nvSpPr>
          <p:cNvPr id="3" name="Text 1"/>
          <p:cNvSpPr/>
          <p:nvPr/>
        </p:nvSpPr>
        <p:spPr>
          <a:xfrm>
            <a:off x="219456" y="146304"/>
            <a:ext cx="1060704" cy="566928"/>
          </a:xfrm>
          <a:prstGeom prst="rect">
            <a:avLst/>
          </a:prstGeom>
          <a:noFill/>
          <a:ln/>
        </p:spPr>
        <p:txBody>
          <a:bodyPr wrap="square" lIns="0" tIns="0" rIns="0" bIns="0" rtlCol="0" anchor="ctr"/>
          <a:lstStyle/>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Team</a:t>
            </a:r>
            <a:endParaRPr lang="en-US" sz="1050" dirty="0"/>
          </a:p>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Name</a:t>
            </a:r>
            <a:endParaRPr lang="en-US" sz="1050" dirty="0"/>
          </a:p>
        </p:txBody>
      </p:sp>
      <p:sp>
        <p:nvSpPr>
          <p:cNvPr id="4" name="Text 2"/>
          <p:cNvSpPr/>
          <p:nvPr/>
        </p:nvSpPr>
        <p:spPr>
          <a:xfrm>
            <a:off x="1389888" y="146304"/>
            <a:ext cx="7059168" cy="585216"/>
          </a:xfrm>
          <a:prstGeom prst="rect">
            <a:avLst/>
          </a:prstGeom>
          <a:noFill/>
          <a:ln/>
        </p:spPr>
        <p:txBody>
          <a:bodyPr wrap="square" lIns="0" tIns="0" rIns="0" bIns="0" rtlCol="0" anchor="ctr"/>
          <a:lstStyle/>
          <a:p>
            <a:pPr algn="ctr" indent="0" marL="0">
              <a:buNone/>
            </a:pPr>
            <a:r>
              <a:rPr lang="en-US" sz="2700" b="1" dirty="0">
                <a:solidFill>
                  <a:srgbClr val="111111"/>
                </a:solidFill>
                <a:latin typeface="Calibri" pitchFamily="34" charset="0"/>
                <a:ea typeface="Calibri" pitchFamily="34" charset="-122"/>
                <a:cs typeface="Calibri" pitchFamily="34" charset="-120"/>
              </a:rPr>
              <a:t>TECHNICAL APPROACH</a:t>
            </a:r>
            <a:endParaRPr lang="en-US" sz="2700" dirty="0"/>
          </a:p>
        </p:txBody>
      </p:sp>
      <p:pic>
        <p:nvPicPr>
          <p:cNvPr id="5" name="Image 0" descr="preencoded.png">    </p:cNvPr>
          <p:cNvPicPr>
            <a:picLocks noChangeAspect="1"/>
          </p:cNvPicPr>
          <p:nvPr/>
        </p:nvPicPr>
        <p:blipFill>
          <a:blip r:embed="rId1"/>
          <a:stretch>
            <a:fillRect/>
          </a:stretch>
        </p:blipFill>
        <p:spPr>
          <a:xfrm>
            <a:off x="8796528" y="137160"/>
            <a:ext cx="517434" cy="566928"/>
          </a:xfrm>
          <a:prstGeom prst="rect">
            <a:avLst/>
          </a:prstGeom>
        </p:spPr>
      </p:pic>
      <p:sp>
        <p:nvSpPr>
          <p:cNvPr id="6" name="Text 3"/>
          <p:cNvSpPr/>
          <p:nvPr/>
        </p:nvSpPr>
        <p:spPr>
          <a:xfrm>
            <a:off x="9400032" y="146304"/>
            <a:ext cx="1115568" cy="548640"/>
          </a:xfrm>
          <a:prstGeom prst="rect">
            <a:avLst/>
          </a:prstGeom>
          <a:noFill/>
          <a:ln/>
        </p:spPr>
        <p:txBody>
          <a:bodyPr wrap="square" lIns="0" tIns="0" rIns="0" bIns="0" rtlCol="0" anchor="ctr"/>
          <a:lstStyle/>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SMART INDIA</a:t>
            </a:r>
            <a:endParaRPr lang="en-US" sz="950" dirty="0"/>
          </a:p>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HACKATHON 2026</a:t>
            </a:r>
            <a:endParaRPr lang="en-US" sz="950" dirty="0"/>
          </a:p>
        </p:txBody>
      </p:sp>
      <p:sp>
        <p:nvSpPr>
          <p:cNvPr id="7" name="Shape 4"/>
          <p:cNvSpPr/>
          <p:nvPr/>
        </p:nvSpPr>
        <p:spPr>
          <a:xfrm>
            <a:off x="0" y="5708599"/>
            <a:ext cx="10692994" cy="310896"/>
          </a:xfrm>
          <a:prstGeom prst="rect">
            <a:avLst/>
          </a:prstGeom>
          <a:solidFill>
            <a:srgbClr val="0070C0"/>
          </a:solidFill>
          <a:ln/>
        </p:spPr>
      </p:sp>
      <p:sp>
        <p:nvSpPr>
          <p:cNvPr id="8" name="Text 5"/>
          <p:cNvSpPr/>
          <p:nvPr/>
        </p:nvSpPr>
        <p:spPr>
          <a:xfrm>
            <a:off x="3200400" y="5708599"/>
            <a:ext cx="429768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@SIH Idea submission- Template</a:t>
            </a:r>
            <a:endParaRPr lang="en-US" sz="1050" dirty="0"/>
          </a:p>
        </p:txBody>
      </p:sp>
      <p:sp>
        <p:nvSpPr>
          <p:cNvPr id="9" name="Text 6"/>
          <p:cNvSpPr/>
          <p:nvPr/>
        </p:nvSpPr>
        <p:spPr>
          <a:xfrm>
            <a:off x="9915754" y="5708599"/>
            <a:ext cx="457200"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0" name="Text 7"/>
          <p:cNvSpPr/>
          <p:nvPr/>
        </p:nvSpPr>
        <p:spPr>
          <a:xfrm>
            <a:off x="310896" y="859536"/>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11" name="Text 8"/>
          <p:cNvSpPr/>
          <p:nvPr/>
        </p:nvSpPr>
        <p:spPr>
          <a:xfrm>
            <a:off x="621792" y="859536"/>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Technologies to be used</a:t>
            </a:r>
            <a:endParaRPr lang="en-US" sz="1650" dirty="0"/>
          </a:p>
        </p:txBody>
      </p:sp>
      <p:sp>
        <p:nvSpPr>
          <p:cNvPr id="12" name="Shape 9"/>
          <p:cNvSpPr/>
          <p:nvPr/>
        </p:nvSpPr>
        <p:spPr>
          <a:xfrm>
            <a:off x="310896" y="1225296"/>
            <a:ext cx="1828800" cy="1024128"/>
          </a:xfrm>
          <a:prstGeom prst="roundRect">
            <a:avLst>
              <a:gd name="adj" fmla="val 2679"/>
            </a:avLst>
          </a:prstGeom>
          <a:solidFill>
            <a:srgbClr val="FFFFFF"/>
          </a:solidFill>
          <a:ln w="9525">
            <a:solidFill>
              <a:srgbClr val="D4DAE2"/>
            </a:solidFill>
            <a:prstDash val="solid"/>
          </a:ln>
        </p:spPr>
      </p:sp>
      <p:sp>
        <p:nvSpPr>
          <p:cNvPr id="13" name="Shape 10"/>
          <p:cNvSpPr/>
          <p:nvPr/>
        </p:nvSpPr>
        <p:spPr>
          <a:xfrm>
            <a:off x="420624" y="1325880"/>
            <a:ext cx="219456" cy="219456"/>
          </a:xfrm>
          <a:prstGeom prst="ellipse">
            <a:avLst/>
          </a:prstGeom>
          <a:solidFill>
            <a:srgbClr val="5C7A99"/>
          </a:solidFill>
          <a:ln/>
        </p:spPr>
      </p:sp>
      <p:sp>
        <p:nvSpPr>
          <p:cNvPr id="14" name="Text 11"/>
          <p:cNvSpPr/>
          <p:nvPr/>
        </p:nvSpPr>
        <p:spPr>
          <a:xfrm>
            <a:off x="420624" y="1325880"/>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15" name="Text 12"/>
          <p:cNvSpPr/>
          <p:nvPr/>
        </p:nvSpPr>
        <p:spPr>
          <a:xfrm>
            <a:off x="713232" y="1325880"/>
            <a:ext cx="1316736" cy="219456"/>
          </a:xfrm>
          <a:prstGeom prst="rect">
            <a:avLst/>
          </a:prstGeom>
          <a:noFill/>
          <a:ln/>
        </p:spPr>
        <p:txBody>
          <a:bodyPr wrap="square" lIns="0" tIns="0" rIns="0" bIns="0" rtlCol="0" anchor="ctr"/>
          <a:lstStyle/>
          <a:p>
            <a:pPr indent="0" marL="0">
              <a:buNone/>
            </a:pPr>
            <a:r>
              <a:rPr lang="en-US" sz="1050" b="1" spc="40" kern="0" dirty="0">
                <a:solidFill>
                  <a:srgbClr val="5C7A99"/>
                </a:solidFill>
                <a:latin typeface="Calibri" pitchFamily="34" charset="0"/>
                <a:ea typeface="Calibri" pitchFamily="34" charset="-122"/>
                <a:cs typeface="Calibri" pitchFamily="34" charset="-120"/>
              </a:rPr>
              <a:t>DATA</a:t>
            </a:r>
            <a:endParaRPr lang="en-US" sz="1050" dirty="0"/>
          </a:p>
        </p:txBody>
      </p:sp>
      <p:sp>
        <p:nvSpPr>
          <p:cNvPr id="16" name="Text 13"/>
          <p:cNvSpPr/>
          <p:nvPr/>
        </p:nvSpPr>
        <p:spPr>
          <a:xfrm>
            <a:off x="420624" y="1600200"/>
            <a:ext cx="1609344" cy="548640"/>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CelesTrak GP element sets — free, no sign-up. Committed verbatim at one capture instant.</a:t>
            </a:r>
            <a:endParaRPr lang="en-US" sz="850" dirty="0"/>
          </a:p>
        </p:txBody>
      </p:sp>
      <p:sp>
        <p:nvSpPr>
          <p:cNvPr id="17" name="Text 14"/>
          <p:cNvSpPr/>
          <p:nvPr/>
        </p:nvSpPr>
        <p:spPr>
          <a:xfrm>
            <a:off x="2139696" y="1225296"/>
            <a:ext cx="228600" cy="1024128"/>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18" name="Shape 15"/>
          <p:cNvSpPr/>
          <p:nvPr/>
        </p:nvSpPr>
        <p:spPr>
          <a:xfrm>
            <a:off x="2368296" y="1225296"/>
            <a:ext cx="1828800" cy="1024128"/>
          </a:xfrm>
          <a:prstGeom prst="roundRect">
            <a:avLst>
              <a:gd name="adj" fmla="val 2679"/>
            </a:avLst>
          </a:prstGeom>
          <a:solidFill>
            <a:srgbClr val="FFFFFF"/>
          </a:solidFill>
          <a:ln w="9525">
            <a:solidFill>
              <a:srgbClr val="D4DAE2"/>
            </a:solidFill>
            <a:prstDash val="solid"/>
          </a:ln>
        </p:spPr>
      </p:sp>
      <p:sp>
        <p:nvSpPr>
          <p:cNvPr id="19" name="Shape 16"/>
          <p:cNvSpPr/>
          <p:nvPr/>
        </p:nvSpPr>
        <p:spPr>
          <a:xfrm>
            <a:off x="2478024" y="1325880"/>
            <a:ext cx="219456" cy="219456"/>
          </a:xfrm>
          <a:prstGeom prst="ellipse">
            <a:avLst/>
          </a:prstGeom>
          <a:solidFill>
            <a:srgbClr val="3D73A8"/>
          </a:solidFill>
          <a:ln/>
        </p:spPr>
      </p:sp>
      <p:sp>
        <p:nvSpPr>
          <p:cNvPr id="20" name="Text 17"/>
          <p:cNvSpPr/>
          <p:nvPr/>
        </p:nvSpPr>
        <p:spPr>
          <a:xfrm>
            <a:off x="2478024" y="1325880"/>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21" name="Text 18"/>
          <p:cNvSpPr/>
          <p:nvPr/>
        </p:nvSpPr>
        <p:spPr>
          <a:xfrm>
            <a:off x="2770632" y="1325880"/>
            <a:ext cx="1316736" cy="219456"/>
          </a:xfrm>
          <a:prstGeom prst="rect">
            <a:avLst/>
          </a:prstGeom>
          <a:noFill/>
          <a:ln/>
        </p:spPr>
        <p:txBody>
          <a:bodyPr wrap="square" lIns="0" tIns="0" rIns="0" bIns="0" rtlCol="0" anchor="ctr"/>
          <a:lstStyle/>
          <a:p>
            <a:pPr indent="0" marL="0">
              <a:buNone/>
            </a:pPr>
            <a:r>
              <a:rPr lang="en-US" sz="1050" b="1" spc="40" kern="0" dirty="0">
                <a:solidFill>
                  <a:srgbClr val="3D73A8"/>
                </a:solidFill>
                <a:latin typeface="Calibri" pitchFamily="34" charset="0"/>
                <a:ea typeface="Calibri" pitchFamily="34" charset="-122"/>
                <a:cs typeface="Calibri" pitchFamily="34" charset="-120"/>
              </a:rPr>
              <a:t>PARSE</a:t>
            </a:r>
            <a:endParaRPr lang="en-US" sz="1050" dirty="0"/>
          </a:p>
        </p:txBody>
      </p:sp>
      <p:sp>
        <p:nvSpPr>
          <p:cNvPr id="22" name="Text 19"/>
          <p:cNvSpPr/>
          <p:nvPr/>
        </p:nvSpPr>
        <p:spPr>
          <a:xfrm>
            <a:off x="2478024" y="1600200"/>
            <a:ext cx="1609344" cy="548640"/>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satellite.js turns each element set into an SGP4 satrec. TypeScript types from here on.</a:t>
            </a:r>
            <a:endParaRPr lang="en-US" sz="850" dirty="0"/>
          </a:p>
        </p:txBody>
      </p:sp>
      <p:sp>
        <p:nvSpPr>
          <p:cNvPr id="23" name="Text 20"/>
          <p:cNvSpPr/>
          <p:nvPr/>
        </p:nvSpPr>
        <p:spPr>
          <a:xfrm>
            <a:off x="4197096" y="1225296"/>
            <a:ext cx="228600" cy="1024128"/>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24" name="Shape 21"/>
          <p:cNvSpPr/>
          <p:nvPr/>
        </p:nvSpPr>
        <p:spPr>
          <a:xfrm>
            <a:off x="4425696" y="1225296"/>
            <a:ext cx="1828800" cy="1024128"/>
          </a:xfrm>
          <a:prstGeom prst="roundRect">
            <a:avLst>
              <a:gd name="adj" fmla="val 2679"/>
            </a:avLst>
          </a:prstGeom>
          <a:solidFill>
            <a:srgbClr val="FFFFFF"/>
          </a:solidFill>
          <a:ln w="9525">
            <a:solidFill>
              <a:srgbClr val="D4DAE2"/>
            </a:solidFill>
            <a:prstDash val="solid"/>
          </a:ln>
        </p:spPr>
      </p:sp>
      <p:sp>
        <p:nvSpPr>
          <p:cNvPr id="25" name="Shape 22"/>
          <p:cNvSpPr/>
          <p:nvPr/>
        </p:nvSpPr>
        <p:spPr>
          <a:xfrm>
            <a:off x="4535424" y="1325880"/>
            <a:ext cx="219456" cy="219456"/>
          </a:xfrm>
          <a:prstGeom prst="ellipse">
            <a:avLst/>
          </a:prstGeom>
          <a:solidFill>
            <a:srgbClr val="0070C0"/>
          </a:solidFill>
          <a:ln/>
        </p:spPr>
      </p:sp>
      <p:sp>
        <p:nvSpPr>
          <p:cNvPr id="26" name="Text 23"/>
          <p:cNvSpPr/>
          <p:nvPr/>
        </p:nvSpPr>
        <p:spPr>
          <a:xfrm>
            <a:off x="4535424" y="1325880"/>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7" name="Text 24"/>
          <p:cNvSpPr/>
          <p:nvPr/>
        </p:nvSpPr>
        <p:spPr>
          <a:xfrm>
            <a:off x="4828032" y="1325880"/>
            <a:ext cx="1316736" cy="219456"/>
          </a:xfrm>
          <a:prstGeom prst="rect">
            <a:avLst/>
          </a:prstGeom>
          <a:noFill/>
          <a:ln/>
        </p:spPr>
        <p:txBody>
          <a:bodyPr wrap="square" lIns="0" tIns="0" rIns="0" bIns="0" rtlCol="0" anchor="ctr"/>
          <a:lstStyle/>
          <a:p>
            <a:pPr indent="0" marL="0">
              <a:buNone/>
            </a:pPr>
            <a:r>
              <a:rPr lang="en-US" sz="1050" b="1" spc="40" kern="0" dirty="0">
                <a:solidFill>
                  <a:srgbClr val="0070C0"/>
                </a:solidFill>
                <a:latin typeface="Calibri" pitchFamily="34" charset="0"/>
                <a:ea typeface="Calibri" pitchFamily="34" charset="-122"/>
                <a:cs typeface="Calibri" pitchFamily="34" charset="-120"/>
              </a:rPr>
              <a:t>SCREEN</a:t>
            </a:r>
            <a:endParaRPr lang="en-US" sz="1050" dirty="0"/>
          </a:p>
        </p:txBody>
      </p:sp>
      <p:sp>
        <p:nvSpPr>
          <p:cNvPr id="28" name="Text 25"/>
          <p:cNvSpPr/>
          <p:nvPr/>
        </p:nvSpPr>
        <p:spPr>
          <a:xfrm>
            <a:off x="4535424" y="1600200"/>
            <a:ext cx="1609344" cy="548640"/>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Web Worker, off the main thread: perigee–apogee filter, 60 s sweep, bisection to exact TCA.</a:t>
            </a:r>
            <a:endParaRPr lang="en-US" sz="850" dirty="0"/>
          </a:p>
        </p:txBody>
      </p:sp>
      <p:sp>
        <p:nvSpPr>
          <p:cNvPr id="29" name="Text 26"/>
          <p:cNvSpPr/>
          <p:nvPr/>
        </p:nvSpPr>
        <p:spPr>
          <a:xfrm>
            <a:off x="6254496" y="1225296"/>
            <a:ext cx="228600" cy="1024128"/>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30" name="Shape 27"/>
          <p:cNvSpPr/>
          <p:nvPr/>
        </p:nvSpPr>
        <p:spPr>
          <a:xfrm>
            <a:off x="6483096" y="1225296"/>
            <a:ext cx="1828800" cy="1024128"/>
          </a:xfrm>
          <a:prstGeom prst="roundRect">
            <a:avLst>
              <a:gd name="adj" fmla="val 2679"/>
            </a:avLst>
          </a:prstGeom>
          <a:solidFill>
            <a:srgbClr val="FFFFFF"/>
          </a:solidFill>
          <a:ln w="9525">
            <a:solidFill>
              <a:srgbClr val="D4DAE2"/>
            </a:solidFill>
            <a:prstDash val="solid"/>
          </a:ln>
        </p:spPr>
      </p:sp>
      <p:sp>
        <p:nvSpPr>
          <p:cNvPr id="31" name="Shape 28"/>
          <p:cNvSpPr/>
          <p:nvPr/>
        </p:nvSpPr>
        <p:spPr>
          <a:xfrm>
            <a:off x="6592824" y="1325880"/>
            <a:ext cx="219456" cy="219456"/>
          </a:xfrm>
          <a:prstGeom prst="ellipse">
            <a:avLst/>
          </a:prstGeom>
          <a:solidFill>
            <a:srgbClr val="B25E00"/>
          </a:solidFill>
          <a:ln/>
        </p:spPr>
      </p:sp>
      <p:sp>
        <p:nvSpPr>
          <p:cNvPr id="32" name="Text 29"/>
          <p:cNvSpPr/>
          <p:nvPr/>
        </p:nvSpPr>
        <p:spPr>
          <a:xfrm>
            <a:off x="6592824" y="1325880"/>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3" name="Text 30"/>
          <p:cNvSpPr/>
          <p:nvPr/>
        </p:nvSpPr>
        <p:spPr>
          <a:xfrm>
            <a:off x="6885432" y="1325880"/>
            <a:ext cx="1316736" cy="219456"/>
          </a:xfrm>
          <a:prstGeom prst="rect">
            <a:avLst/>
          </a:prstGeom>
          <a:noFill/>
          <a:ln/>
        </p:spPr>
        <p:txBody>
          <a:bodyPr wrap="square" lIns="0" tIns="0" rIns="0" bIns="0" rtlCol="0" anchor="ctr"/>
          <a:lstStyle/>
          <a:p>
            <a:pPr indent="0" marL="0">
              <a:buNone/>
            </a:pPr>
            <a:r>
              <a:rPr lang="en-US" sz="1050" b="1" spc="40" kern="0" dirty="0">
                <a:solidFill>
                  <a:srgbClr val="B25E00"/>
                </a:solidFill>
                <a:latin typeface="Calibri" pitchFamily="34" charset="0"/>
                <a:ea typeface="Calibri" pitchFamily="34" charset="-122"/>
                <a:cs typeface="Calibri" pitchFamily="34" charset="-120"/>
              </a:rPr>
              <a:t>RANK</a:t>
            </a:r>
            <a:endParaRPr lang="en-US" sz="1050" dirty="0"/>
          </a:p>
        </p:txBody>
      </p:sp>
      <p:sp>
        <p:nvSpPr>
          <p:cNvPr id="34" name="Text 31"/>
          <p:cNvSpPr/>
          <p:nvPr/>
        </p:nvSpPr>
        <p:spPr>
          <a:xfrm>
            <a:off x="6592824" y="1600200"/>
            <a:ext cx="1609344" cy="548640"/>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Foster collision probability, severity band, 0–100 score, and the counterfactual behind it.</a:t>
            </a:r>
            <a:endParaRPr lang="en-US" sz="850" dirty="0"/>
          </a:p>
        </p:txBody>
      </p:sp>
      <p:sp>
        <p:nvSpPr>
          <p:cNvPr id="35" name="Text 32"/>
          <p:cNvSpPr/>
          <p:nvPr/>
        </p:nvSpPr>
        <p:spPr>
          <a:xfrm>
            <a:off x="8311896" y="1225296"/>
            <a:ext cx="228600" cy="1024128"/>
          </a:xfrm>
          <a:prstGeom prst="rect">
            <a:avLst/>
          </a:prstGeom>
          <a:noFill/>
          <a:ln/>
        </p:spPr>
        <p:txBody>
          <a:bodyPr wrap="square" lIns="0" tIns="0" rIns="0" bIns="0" rtlCol="0" anchor="ctr"/>
          <a:lstStyle/>
          <a:p>
            <a:pPr algn="ctr" indent="0" marL="0">
              <a:buNone/>
            </a:pPr>
            <a:r>
              <a:rPr lang="en-US" sz="1000" dirty="0">
                <a:solidFill>
                  <a:srgbClr val="A8B2BE"/>
                </a:solidFill>
                <a:latin typeface="Calibri" pitchFamily="34" charset="0"/>
                <a:ea typeface="Calibri" pitchFamily="34" charset="-122"/>
                <a:cs typeface="Calibri" pitchFamily="34" charset="-120"/>
              </a:rPr>
              <a:t>▶</a:t>
            </a:r>
            <a:endParaRPr lang="en-US" sz="1000" dirty="0"/>
          </a:p>
        </p:txBody>
      </p:sp>
      <p:sp>
        <p:nvSpPr>
          <p:cNvPr id="36" name="Shape 33"/>
          <p:cNvSpPr/>
          <p:nvPr/>
        </p:nvSpPr>
        <p:spPr>
          <a:xfrm>
            <a:off x="8540496" y="1225296"/>
            <a:ext cx="1828800" cy="1024128"/>
          </a:xfrm>
          <a:prstGeom prst="roundRect">
            <a:avLst>
              <a:gd name="adj" fmla="val 2679"/>
            </a:avLst>
          </a:prstGeom>
          <a:solidFill>
            <a:srgbClr val="FFFFFF"/>
          </a:solidFill>
          <a:ln w="9525">
            <a:solidFill>
              <a:srgbClr val="D4DAE2"/>
            </a:solidFill>
            <a:prstDash val="solid"/>
          </a:ln>
        </p:spPr>
      </p:sp>
      <p:sp>
        <p:nvSpPr>
          <p:cNvPr id="37" name="Shape 34"/>
          <p:cNvSpPr/>
          <p:nvPr/>
        </p:nvSpPr>
        <p:spPr>
          <a:xfrm>
            <a:off x="8650224" y="1325880"/>
            <a:ext cx="219456" cy="219456"/>
          </a:xfrm>
          <a:prstGeom prst="ellipse">
            <a:avLst/>
          </a:prstGeom>
          <a:solidFill>
            <a:srgbClr val="1E7A4C"/>
          </a:solidFill>
          <a:ln/>
        </p:spPr>
      </p:sp>
      <p:sp>
        <p:nvSpPr>
          <p:cNvPr id="38" name="Text 35"/>
          <p:cNvSpPr/>
          <p:nvPr/>
        </p:nvSpPr>
        <p:spPr>
          <a:xfrm>
            <a:off x="8650224" y="1325880"/>
            <a:ext cx="21945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9" name="Text 36"/>
          <p:cNvSpPr/>
          <p:nvPr/>
        </p:nvSpPr>
        <p:spPr>
          <a:xfrm>
            <a:off x="8942832" y="1325880"/>
            <a:ext cx="1316736" cy="219456"/>
          </a:xfrm>
          <a:prstGeom prst="rect">
            <a:avLst/>
          </a:prstGeom>
          <a:noFill/>
          <a:ln/>
        </p:spPr>
        <p:txBody>
          <a:bodyPr wrap="square" lIns="0" tIns="0" rIns="0" bIns="0" rtlCol="0" anchor="ctr"/>
          <a:lstStyle/>
          <a:p>
            <a:pPr indent="0" marL="0">
              <a:buNone/>
            </a:pPr>
            <a:r>
              <a:rPr lang="en-US" sz="1050" b="1" spc="40" kern="0" dirty="0">
                <a:solidFill>
                  <a:srgbClr val="1E7A4C"/>
                </a:solidFill>
                <a:latin typeface="Calibri" pitchFamily="34" charset="0"/>
                <a:ea typeface="Calibri" pitchFamily="34" charset="-122"/>
                <a:cs typeface="Calibri" pitchFamily="34" charset="-120"/>
              </a:rPr>
              <a:t>DELIVER</a:t>
            </a:r>
            <a:endParaRPr lang="en-US" sz="1050" dirty="0"/>
          </a:p>
        </p:txBody>
      </p:sp>
      <p:sp>
        <p:nvSpPr>
          <p:cNvPr id="40" name="Text 37"/>
          <p:cNvSpPr/>
          <p:nvPr/>
        </p:nvSpPr>
        <p:spPr>
          <a:xfrm>
            <a:off x="8650224" y="1600200"/>
            <a:ext cx="1609344" cy="548640"/>
          </a:xfrm>
          <a:prstGeom prst="rect">
            <a:avLst/>
          </a:prstGeom>
          <a:noFill/>
          <a:ln/>
        </p:spPr>
        <p:txBody>
          <a:bodyPr wrap="square" lIns="0" tIns="0" rIns="0" bIns="0" rtlCol="0" anchor="t"/>
          <a:lstStyle/>
          <a:p>
            <a:pPr indent="0" marL="0">
              <a:lnSpc>
                <a:spcPts val="1050"/>
              </a:lnSpc>
              <a:buNone/>
            </a:pPr>
            <a:r>
              <a:rPr lang="en-US" sz="850" dirty="0">
                <a:solidFill>
                  <a:srgbClr val="333333"/>
                </a:solidFill>
                <a:latin typeface="Calibri" pitchFamily="34" charset="0"/>
                <a:ea typeface="Calibri" pitchFamily="34" charset="-122"/>
                <a:cs typeface="Calibri" pitchFamily="34" charset="-120"/>
              </a:rPr>
              <a:t>React 18 · Vite · Tailwind. Static files, or one 1.7 MB offline HTML. CDM and CSV out.</a:t>
            </a:r>
            <a:endParaRPr lang="en-US" sz="850" dirty="0"/>
          </a:p>
        </p:txBody>
      </p:sp>
      <p:sp>
        <p:nvSpPr>
          <p:cNvPr id="41" name="Text 38"/>
          <p:cNvSpPr/>
          <p:nvPr/>
        </p:nvSpPr>
        <p:spPr>
          <a:xfrm>
            <a:off x="310896" y="2286000"/>
            <a:ext cx="10058400" cy="219456"/>
          </a:xfrm>
          <a:prstGeom prst="rect">
            <a:avLst/>
          </a:prstGeom>
          <a:noFill/>
          <a:ln/>
        </p:spPr>
        <p:txBody>
          <a:bodyPr wrap="square" lIns="0" tIns="0" rIns="0" bIns="0" rtlCol="0" anchor="ctr"/>
          <a:lstStyle/>
          <a:p>
            <a:pPr indent="0" marL="0">
              <a:buNone/>
            </a:pPr>
            <a:r>
              <a:rPr lang="en-US" sz="950" i="1" dirty="0">
                <a:solidFill>
                  <a:srgbClr val="5A6673"/>
                </a:solidFill>
                <a:latin typeface="Calibri" pitchFamily="34" charset="0"/>
                <a:ea typeface="Calibri" pitchFamily="34" charset="-122"/>
                <a:cs typeface="Calibri" pitchFamily="34" charset="-120"/>
              </a:rPr>
              <a:t>Every stage runs in the browser tab. No server anywhere in this diagram — nothing to provision, secure or pay for, and it works with the network unplugged.</a:t>
            </a:r>
            <a:endParaRPr lang="en-US" sz="950" dirty="0"/>
          </a:p>
        </p:txBody>
      </p:sp>
      <p:sp>
        <p:nvSpPr>
          <p:cNvPr id="42" name="Text 39"/>
          <p:cNvSpPr/>
          <p:nvPr/>
        </p:nvSpPr>
        <p:spPr>
          <a:xfrm>
            <a:off x="310896" y="2542032"/>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43" name="Text 40"/>
          <p:cNvSpPr/>
          <p:nvPr/>
        </p:nvSpPr>
        <p:spPr>
          <a:xfrm>
            <a:off x="621792" y="2542032"/>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Methodology and process for implementation</a:t>
            </a:r>
            <a:endParaRPr lang="en-US" sz="1650" dirty="0"/>
          </a:p>
        </p:txBody>
      </p:sp>
      <p:sp>
        <p:nvSpPr>
          <p:cNvPr id="44" name="Text 41"/>
          <p:cNvSpPr/>
          <p:nvPr/>
        </p:nvSpPr>
        <p:spPr>
          <a:xfrm>
            <a:off x="310896" y="2962656"/>
            <a:ext cx="1133856" cy="457200"/>
          </a:xfrm>
          <a:prstGeom prst="rect">
            <a:avLst/>
          </a:prstGeom>
          <a:noFill/>
          <a:ln/>
        </p:spPr>
        <p:txBody>
          <a:bodyPr wrap="square" lIns="0" tIns="0" rIns="0" bIns="0" rtlCol="0" anchor="ctr"/>
          <a:lstStyle/>
          <a:p>
            <a:pPr algn="r" indent="0" marL="0">
              <a:buNone/>
            </a:pPr>
            <a:r>
              <a:rPr lang="en-US" sz="1450" b="1" dirty="0">
                <a:solidFill>
                  <a:srgbClr val="2A4A6B"/>
                </a:solidFill>
                <a:latin typeface="Arial" pitchFamily="34" charset="0"/>
                <a:ea typeface="Arial" pitchFamily="34" charset="-122"/>
                <a:cs typeface="Arial" pitchFamily="34" charset="-120"/>
              </a:rPr>
              <a:t>368,511</a:t>
            </a:r>
            <a:endParaRPr lang="en-US" sz="1450" dirty="0"/>
          </a:p>
        </p:txBody>
      </p:sp>
      <p:sp>
        <p:nvSpPr>
          <p:cNvPr id="45" name="Text 42"/>
          <p:cNvSpPr/>
          <p:nvPr/>
        </p:nvSpPr>
        <p:spPr>
          <a:xfrm>
            <a:off x="1554480" y="2980944"/>
            <a:ext cx="2084832" cy="201168"/>
          </a:xfrm>
          <a:prstGeom prst="rect">
            <a:avLst/>
          </a:prstGeom>
          <a:noFill/>
          <a:ln/>
        </p:spPr>
        <p:txBody>
          <a:bodyPr wrap="square" lIns="0" tIns="0" rIns="0" bIns="0" rtlCol="0" anchor="ctr"/>
          <a:lstStyle/>
          <a:p>
            <a:pPr indent="0" marL="0">
              <a:buNone/>
            </a:pPr>
            <a:r>
              <a:rPr lang="en-US" sz="900" b="1" spc="60" kern="0" dirty="0">
                <a:solidFill>
                  <a:srgbClr val="2A4A6B"/>
                </a:solidFill>
                <a:latin typeface="Calibri" pitchFamily="34" charset="0"/>
                <a:ea typeface="Calibri" pitchFamily="34" charset="-122"/>
                <a:cs typeface="Calibri" pitchFamily="34" charset="-120"/>
              </a:rPr>
              <a:t>ALL PAIRS</a:t>
            </a:r>
            <a:endParaRPr lang="en-US" sz="900" dirty="0"/>
          </a:p>
        </p:txBody>
      </p:sp>
      <p:sp>
        <p:nvSpPr>
          <p:cNvPr id="46" name="Text 43"/>
          <p:cNvSpPr/>
          <p:nvPr/>
        </p:nvSpPr>
        <p:spPr>
          <a:xfrm>
            <a:off x="1554480" y="3182112"/>
            <a:ext cx="2121408" cy="219456"/>
          </a:xfrm>
          <a:prstGeom prst="rect">
            <a:avLst/>
          </a:prstGeom>
          <a:noFill/>
          <a:ln/>
        </p:spPr>
        <p:txBody>
          <a:bodyPr wrap="square" lIns="0" tIns="0" rIns="0" bIns="0" rtlCol="0" anchor="ctr"/>
          <a:lstStyle/>
          <a:p>
            <a:pPr indent="0" marL="0">
              <a:buNone/>
            </a:pPr>
            <a:r>
              <a:rPr lang="en-US" sz="850" dirty="0">
                <a:solidFill>
                  <a:srgbClr val="5A6673"/>
                </a:solidFill>
                <a:latin typeface="Calibri" pitchFamily="34" charset="0"/>
                <a:ea typeface="Calibri" pitchFamily="34" charset="-122"/>
                <a:cs typeface="Calibri" pitchFamily="34" charset="-120"/>
              </a:rPr>
              <a:t>859 objects, 72-hour horizon</a:t>
            </a:r>
            <a:endParaRPr lang="en-US" sz="850" dirty="0"/>
          </a:p>
        </p:txBody>
      </p:sp>
      <p:sp>
        <p:nvSpPr>
          <p:cNvPr id="47" name="Shape 44"/>
          <p:cNvSpPr/>
          <p:nvPr/>
        </p:nvSpPr>
        <p:spPr>
          <a:xfrm>
            <a:off x="3712464" y="3090672"/>
            <a:ext cx="3584448" cy="201168"/>
          </a:xfrm>
          <a:prstGeom prst="rect">
            <a:avLst/>
          </a:prstGeom>
          <a:solidFill>
            <a:srgbClr val="EEF2F7"/>
          </a:solidFill>
          <a:ln/>
        </p:spPr>
      </p:sp>
      <p:sp>
        <p:nvSpPr>
          <p:cNvPr id="48" name="Shape 45"/>
          <p:cNvSpPr/>
          <p:nvPr/>
        </p:nvSpPr>
        <p:spPr>
          <a:xfrm>
            <a:off x="3712464" y="3090672"/>
            <a:ext cx="3584448" cy="201168"/>
          </a:xfrm>
          <a:prstGeom prst="rect">
            <a:avLst/>
          </a:prstGeom>
          <a:solidFill>
            <a:srgbClr val="9FB3C8"/>
          </a:solidFill>
          <a:ln/>
        </p:spPr>
      </p:sp>
      <p:sp>
        <p:nvSpPr>
          <p:cNvPr id="49" name="Text 46"/>
          <p:cNvSpPr/>
          <p:nvPr/>
        </p:nvSpPr>
        <p:spPr>
          <a:xfrm>
            <a:off x="7370064" y="2962656"/>
            <a:ext cx="603504" cy="457200"/>
          </a:xfrm>
          <a:prstGeom prst="rect">
            <a:avLst/>
          </a:prstGeom>
          <a:noFill/>
          <a:ln/>
        </p:spPr>
        <p:txBody>
          <a:bodyPr wrap="square" lIns="0" tIns="0" rIns="0" bIns="0" rtlCol="0" anchor="ctr"/>
          <a:lstStyle/>
          <a:p>
            <a:pPr indent="0" marL="0">
              <a:buNone/>
            </a:pPr>
            <a:r>
              <a:rPr lang="en-US" sz="950" dirty="0">
                <a:solidFill>
                  <a:srgbClr val="5A6673"/>
                </a:solidFill>
                <a:latin typeface="Arial" pitchFamily="34" charset="0"/>
                <a:ea typeface="Arial" pitchFamily="34" charset="-122"/>
                <a:cs typeface="Arial" pitchFamily="34" charset="-120"/>
              </a:rPr>
              <a:t>100.000%</a:t>
            </a:r>
            <a:endParaRPr lang="en-US" sz="950" dirty="0"/>
          </a:p>
        </p:txBody>
      </p:sp>
      <p:sp>
        <p:nvSpPr>
          <p:cNvPr id="50" name="Text 47"/>
          <p:cNvSpPr/>
          <p:nvPr/>
        </p:nvSpPr>
        <p:spPr>
          <a:xfrm>
            <a:off x="310896" y="3529584"/>
            <a:ext cx="1133856" cy="457200"/>
          </a:xfrm>
          <a:prstGeom prst="rect">
            <a:avLst/>
          </a:prstGeom>
          <a:noFill/>
          <a:ln/>
        </p:spPr>
        <p:txBody>
          <a:bodyPr wrap="square" lIns="0" tIns="0" rIns="0" bIns="0" rtlCol="0" anchor="ctr"/>
          <a:lstStyle/>
          <a:p>
            <a:pPr algn="r" indent="0" marL="0">
              <a:buNone/>
            </a:pPr>
            <a:r>
              <a:rPr lang="en-US" sz="1450" b="1" dirty="0">
                <a:solidFill>
                  <a:srgbClr val="2A4A6B"/>
                </a:solidFill>
                <a:latin typeface="Arial" pitchFamily="34" charset="0"/>
                <a:ea typeface="Arial" pitchFamily="34" charset="-122"/>
                <a:cs typeface="Arial" pitchFamily="34" charset="-120"/>
              </a:rPr>
              <a:t>368,491</a:t>
            </a:r>
            <a:endParaRPr lang="en-US" sz="1450" dirty="0"/>
          </a:p>
        </p:txBody>
      </p:sp>
      <p:sp>
        <p:nvSpPr>
          <p:cNvPr id="51" name="Text 48"/>
          <p:cNvSpPr/>
          <p:nvPr/>
        </p:nvSpPr>
        <p:spPr>
          <a:xfrm>
            <a:off x="1554480" y="3547872"/>
            <a:ext cx="2084832" cy="201168"/>
          </a:xfrm>
          <a:prstGeom prst="rect">
            <a:avLst/>
          </a:prstGeom>
          <a:noFill/>
          <a:ln/>
        </p:spPr>
        <p:txBody>
          <a:bodyPr wrap="square" lIns="0" tIns="0" rIns="0" bIns="0" rtlCol="0" anchor="ctr"/>
          <a:lstStyle/>
          <a:p>
            <a:pPr indent="0" marL="0">
              <a:buNone/>
            </a:pPr>
            <a:r>
              <a:rPr lang="en-US" sz="900" b="1" spc="60" kern="0" dirty="0">
                <a:solidFill>
                  <a:srgbClr val="2A4A6B"/>
                </a:solidFill>
                <a:latin typeface="Calibri" pitchFamily="34" charset="0"/>
                <a:ea typeface="Calibri" pitchFamily="34" charset="-122"/>
                <a:cs typeface="Calibri" pitchFamily="34" charset="-120"/>
              </a:rPr>
              <a:t>PERIGEE–APOGEE FILTER</a:t>
            </a:r>
            <a:endParaRPr lang="en-US" sz="900" dirty="0"/>
          </a:p>
        </p:txBody>
      </p:sp>
      <p:sp>
        <p:nvSpPr>
          <p:cNvPr id="52" name="Text 49"/>
          <p:cNvSpPr/>
          <p:nvPr/>
        </p:nvSpPr>
        <p:spPr>
          <a:xfrm>
            <a:off x="1554480" y="3749040"/>
            <a:ext cx="2121408" cy="219456"/>
          </a:xfrm>
          <a:prstGeom prst="rect">
            <a:avLst/>
          </a:prstGeom>
          <a:noFill/>
          <a:ln/>
        </p:spPr>
        <p:txBody>
          <a:bodyPr wrap="square" lIns="0" tIns="0" rIns="0" bIns="0" rtlCol="0" anchor="ctr"/>
          <a:lstStyle/>
          <a:p>
            <a:pPr indent="0" marL="0">
              <a:buNone/>
            </a:pPr>
            <a:r>
              <a:rPr lang="en-US" sz="850" dirty="0">
                <a:solidFill>
                  <a:srgbClr val="5A6673"/>
                </a:solidFill>
                <a:latin typeface="Calibri" pitchFamily="34" charset="0"/>
                <a:ea typeface="Calibri" pitchFamily="34" charset="-122"/>
                <a:cs typeface="Calibri" pitchFamily="34" charset="-120"/>
              </a:rPr>
              <a:t>Orbits that can never intersect</a:t>
            </a:r>
            <a:endParaRPr lang="en-US" sz="850" dirty="0"/>
          </a:p>
        </p:txBody>
      </p:sp>
      <p:sp>
        <p:nvSpPr>
          <p:cNvPr id="53" name="Shape 50"/>
          <p:cNvSpPr/>
          <p:nvPr/>
        </p:nvSpPr>
        <p:spPr>
          <a:xfrm>
            <a:off x="3712464" y="3657600"/>
            <a:ext cx="3584448" cy="201168"/>
          </a:xfrm>
          <a:prstGeom prst="rect">
            <a:avLst/>
          </a:prstGeom>
          <a:solidFill>
            <a:srgbClr val="EEF2F7"/>
          </a:solidFill>
          <a:ln/>
        </p:spPr>
      </p:sp>
      <p:sp>
        <p:nvSpPr>
          <p:cNvPr id="54" name="Shape 51"/>
          <p:cNvSpPr/>
          <p:nvPr/>
        </p:nvSpPr>
        <p:spPr>
          <a:xfrm>
            <a:off x="3712464" y="3657600"/>
            <a:ext cx="3584413" cy="201168"/>
          </a:xfrm>
          <a:prstGeom prst="rect">
            <a:avLst/>
          </a:prstGeom>
          <a:solidFill>
            <a:srgbClr val="6E93B8"/>
          </a:solidFill>
          <a:ln/>
        </p:spPr>
      </p:sp>
      <p:sp>
        <p:nvSpPr>
          <p:cNvPr id="55" name="Text 52"/>
          <p:cNvSpPr/>
          <p:nvPr/>
        </p:nvSpPr>
        <p:spPr>
          <a:xfrm>
            <a:off x="7370064" y="3529584"/>
            <a:ext cx="603504" cy="457200"/>
          </a:xfrm>
          <a:prstGeom prst="rect">
            <a:avLst/>
          </a:prstGeom>
          <a:noFill/>
          <a:ln/>
        </p:spPr>
        <p:txBody>
          <a:bodyPr wrap="square" lIns="0" tIns="0" rIns="0" bIns="0" rtlCol="0" anchor="ctr"/>
          <a:lstStyle/>
          <a:p>
            <a:pPr indent="0" marL="0">
              <a:buNone/>
            </a:pPr>
            <a:r>
              <a:rPr lang="en-US" sz="950" dirty="0">
                <a:solidFill>
                  <a:srgbClr val="5A6673"/>
                </a:solidFill>
                <a:latin typeface="Arial" pitchFamily="34" charset="0"/>
                <a:ea typeface="Arial" pitchFamily="34" charset="-122"/>
                <a:cs typeface="Arial" pitchFamily="34" charset="-120"/>
              </a:rPr>
              <a:t>99.995%</a:t>
            </a:r>
            <a:endParaRPr lang="en-US" sz="950" dirty="0"/>
          </a:p>
        </p:txBody>
      </p:sp>
      <p:sp>
        <p:nvSpPr>
          <p:cNvPr id="56" name="Text 53"/>
          <p:cNvSpPr/>
          <p:nvPr/>
        </p:nvSpPr>
        <p:spPr>
          <a:xfrm>
            <a:off x="310896" y="4096512"/>
            <a:ext cx="1133856" cy="457200"/>
          </a:xfrm>
          <a:prstGeom prst="rect">
            <a:avLst/>
          </a:prstGeom>
          <a:noFill/>
          <a:ln/>
        </p:spPr>
        <p:txBody>
          <a:bodyPr wrap="square" lIns="0" tIns="0" rIns="0" bIns="0" rtlCol="0" anchor="ctr"/>
          <a:lstStyle/>
          <a:p>
            <a:pPr algn="r" indent="0" marL="0">
              <a:buNone/>
            </a:pPr>
            <a:r>
              <a:rPr lang="en-US" sz="1450" b="1" dirty="0">
                <a:solidFill>
                  <a:srgbClr val="2A4A6B"/>
                </a:solidFill>
                <a:latin typeface="Arial" pitchFamily="34" charset="0"/>
                <a:ea typeface="Arial" pitchFamily="34" charset="-122"/>
                <a:cs typeface="Arial" pitchFamily="34" charset="-120"/>
              </a:rPr>
              <a:t>253,010</a:t>
            </a:r>
            <a:endParaRPr lang="en-US" sz="1450" dirty="0"/>
          </a:p>
        </p:txBody>
      </p:sp>
      <p:sp>
        <p:nvSpPr>
          <p:cNvPr id="57" name="Text 54"/>
          <p:cNvSpPr/>
          <p:nvPr/>
        </p:nvSpPr>
        <p:spPr>
          <a:xfrm>
            <a:off x="1554480" y="4114800"/>
            <a:ext cx="2084832" cy="201168"/>
          </a:xfrm>
          <a:prstGeom prst="rect">
            <a:avLst/>
          </a:prstGeom>
          <a:noFill/>
          <a:ln/>
        </p:spPr>
        <p:txBody>
          <a:bodyPr wrap="square" lIns="0" tIns="0" rIns="0" bIns="0" rtlCol="0" anchor="ctr"/>
          <a:lstStyle/>
          <a:p>
            <a:pPr indent="0" marL="0">
              <a:buNone/>
            </a:pPr>
            <a:r>
              <a:rPr lang="en-US" sz="900" b="1" spc="60" kern="0" dirty="0">
                <a:solidFill>
                  <a:srgbClr val="2A4A6B"/>
                </a:solidFill>
                <a:latin typeface="Calibri" pitchFamily="34" charset="0"/>
                <a:ea typeface="Calibri" pitchFamily="34" charset="-122"/>
                <a:cs typeface="Calibri" pitchFamily="34" charset="-120"/>
              </a:rPr>
              <a:t>COARSE SWEEP</a:t>
            </a:r>
            <a:endParaRPr lang="en-US" sz="900" dirty="0"/>
          </a:p>
        </p:txBody>
      </p:sp>
      <p:sp>
        <p:nvSpPr>
          <p:cNvPr id="58" name="Text 55"/>
          <p:cNvSpPr/>
          <p:nvPr/>
        </p:nvSpPr>
        <p:spPr>
          <a:xfrm>
            <a:off x="1554480" y="4315968"/>
            <a:ext cx="2121408" cy="219456"/>
          </a:xfrm>
          <a:prstGeom prst="rect">
            <a:avLst/>
          </a:prstGeom>
          <a:noFill/>
          <a:ln/>
        </p:spPr>
        <p:txBody>
          <a:bodyPr wrap="square" lIns="0" tIns="0" rIns="0" bIns="0" rtlCol="0" anchor="ctr"/>
          <a:lstStyle/>
          <a:p>
            <a:pPr indent="0" marL="0">
              <a:buNone/>
            </a:pPr>
            <a:r>
              <a:rPr lang="en-US" sz="850" dirty="0">
                <a:solidFill>
                  <a:srgbClr val="5A6673"/>
                </a:solidFill>
                <a:latin typeface="Calibri" pitchFamily="34" charset="0"/>
                <a:ea typeface="Calibri" pitchFamily="34" charset="-122"/>
                <a:cs typeface="Calibri" pitchFamily="34" charset="-120"/>
              </a:rPr>
              <a:t>60 s steps, 450 km gate</a:t>
            </a:r>
            <a:endParaRPr lang="en-US" sz="850" dirty="0"/>
          </a:p>
        </p:txBody>
      </p:sp>
      <p:sp>
        <p:nvSpPr>
          <p:cNvPr id="59" name="Shape 56"/>
          <p:cNvSpPr/>
          <p:nvPr/>
        </p:nvSpPr>
        <p:spPr>
          <a:xfrm>
            <a:off x="3712464" y="4224528"/>
            <a:ext cx="3584448" cy="201168"/>
          </a:xfrm>
          <a:prstGeom prst="rect">
            <a:avLst/>
          </a:prstGeom>
          <a:solidFill>
            <a:srgbClr val="EEF2F7"/>
          </a:solidFill>
          <a:ln/>
        </p:spPr>
      </p:sp>
      <p:sp>
        <p:nvSpPr>
          <p:cNvPr id="60" name="Shape 57"/>
          <p:cNvSpPr/>
          <p:nvPr/>
        </p:nvSpPr>
        <p:spPr>
          <a:xfrm>
            <a:off x="3712464" y="4224528"/>
            <a:ext cx="3339466" cy="201168"/>
          </a:xfrm>
          <a:prstGeom prst="rect">
            <a:avLst/>
          </a:prstGeom>
          <a:solidFill>
            <a:srgbClr val="3D73A8"/>
          </a:solidFill>
          <a:ln/>
        </p:spPr>
      </p:sp>
      <p:sp>
        <p:nvSpPr>
          <p:cNvPr id="61" name="Text 58"/>
          <p:cNvSpPr/>
          <p:nvPr/>
        </p:nvSpPr>
        <p:spPr>
          <a:xfrm>
            <a:off x="7370064" y="4096512"/>
            <a:ext cx="603504" cy="457200"/>
          </a:xfrm>
          <a:prstGeom prst="rect">
            <a:avLst/>
          </a:prstGeom>
          <a:noFill/>
          <a:ln/>
        </p:spPr>
        <p:txBody>
          <a:bodyPr wrap="square" lIns="0" tIns="0" rIns="0" bIns="0" rtlCol="0" anchor="ctr"/>
          <a:lstStyle/>
          <a:p>
            <a:pPr indent="0" marL="0">
              <a:buNone/>
            </a:pPr>
            <a:r>
              <a:rPr lang="en-US" sz="950" dirty="0">
                <a:solidFill>
                  <a:srgbClr val="5A6673"/>
                </a:solidFill>
                <a:latin typeface="Arial" pitchFamily="34" charset="0"/>
                <a:ea typeface="Arial" pitchFamily="34" charset="-122"/>
                <a:cs typeface="Arial" pitchFamily="34" charset="-120"/>
              </a:rPr>
              <a:t>68.7%</a:t>
            </a:r>
            <a:endParaRPr lang="en-US" sz="950" dirty="0"/>
          </a:p>
        </p:txBody>
      </p:sp>
      <p:sp>
        <p:nvSpPr>
          <p:cNvPr id="62" name="Text 59"/>
          <p:cNvSpPr/>
          <p:nvPr/>
        </p:nvSpPr>
        <p:spPr>
          <a:xfrm>
            <a:off x="310896" y="4663440"/>
            <a:ext cx="1133856" cy="457200"/>
          </a:xfrm>
          <a:prstGeom prst="rect">
            <a:avLst/>
          </a:prstGeom>
          <a:noFill/>
          <a:ln/>
        </p:spPr>
        <p:txBody>
          <a:bodyPr wrap="square" lIns="0" tIns="0" rIns="0" bIns="0" rtlCol="0" anchor="ctr"/>
          <a:lstStyle/>
          <a:p>
            <a:pPr algn="r" indent="0" marL="0">
              <a:buNone/>
            </a:pPr>
            <a:r>
              <a:rPr lang="en-US" sz="1450" b="1" dirty="0">
                <a:solidFill>
                  <a:srgbClr val="1F497D"/>
                </a:solidFill>
                <a:latin typeface="Arial" pitchFamily="34" charset="0"/>
                <a:ea typeface="Arial" pitchFamily="34" charset="-122"/>
                <a:cs typeface="Arial" pitchFamily="34" charset="-120"/>
              </a:rPr>
              <a:t>3,032</a:t>
            </a:r>
            <a:endParaRPr lang="en-US" sz="1450" dirty="0"/>
          </a:p>
        </p:txBody>
      </p:sp>
      <p:sp>
        <p:nvSpPr>
          <p:cNvPr id="63" name="Text 60"/>
          <p:cNvSpPr/>
          <p:nvPr/>
        </p:nvSpPr>
        <p:spPr>
          <a:xfrm>
            <a:off x="1554480" y="4681728"/>
            <a:ext cx="2084832" cy="201168"/>
          </a:xfrm>
          <a:prstGeom prst="rect">
            <a:avLst/>
          </a:prstGeom>
          <a:noFill/>
          <a:ln/>
        </p:spPr>
        <p:txBody>
          <a:bodyPr wrap="square" lIns="0" tIns="0" rIns="0" bIns="0" rtlCol="0" anchor="ctr"/>
          <a:lstStyle/>
          <a:p>
            <a:pPr indent="0" marL="0">
              <a:buNone/>
            </a:pPr>
            <a:r>
              <a:rPr lang="en-US" sz="900" b="1" spc="60" kern="0" dirty="0">
                <a:solidFill>
                  <a:srgbClr val="1F497D"/>
                </a:solidFill>
                <a:latin typeface="Calibri" pitchFamily="34" charset="0"/>
                <a:ea typeface="Calibri" pitchFamily="34" charset="-122"/>
                <a:cs typeface="Calibri" pitchFamily="34" charset="-120"/>
              </a:rPr>
              <a:t>CONFIRMED EVENTS</a:t>
            </a:r>
            <a:endParaRPr lang="en-US" sz="900" dirty="0"/>
          </a:p>
        </p:txBody>
      </p:sp>
      <p:sp>
        <p:nvSpPr>
          <p:cNvPr id="64" name="Text 61"/>
          <p:cNvSpPr/>
          <p:nvPr/>
        </p:nvSpPr>
        <p:spPr>
          <a:xfrm>
            <a:off x="1554480" y="4882896"/>
            <a:ext cx="2121408" cy="219456"/>
          </a:xfrm>
          <a:prstGeom prst="rect">
            <a:avLst/>
          </a:prstGeom>
          <a:noFill/>
          <a:ln/>
        </p:spPr>
        <p:txBody>
          <a:bodyPr wrap="square" lIns="0" tIns="0" rIns="0" bIns="0" rtlCol="0" anchor="ctr"/>
          <a:lstStyle/>
          <a:p>
            <a:pPr indent="0" marL="0">
              <a:buNone/>
            </a:pPr>
            <a:r>
              <a:rPr lang="en-US" sz="850" dirty="0">
                <a:solidFill>
                  <a:srgbClr val="5A6673"/>
                </a:solidFill>
                <a:latin typeface="Calibri" pitchFamily="34" charset="0"/>
                <a:ea typeface="Calibri" pitchFamily="34" charset="-122"/>
                <a:cs typeface="Calibri" pitchFamily="34" charset="-120"/>
              </a:rPr>
              <a:t>Refined to exact TCA by bisection</a:t>
            </a:r>
            <a:endParaRPr lang="en-US" sz="850" dirty="0"/>
          </a:p>
        </p:txBody>
      </p:sp>
      <p:sp>
        <p:nvSpPr>
          <p:cNvPr id="65" name="Shape 62"/>
          <p:cNvSpPr/>
          <p:nvPr/>
        </p:nvSpPr>
        <p:spPr>
          <a:xfrm>
            <a:off x="3712464" y="4791456"/>
            <a:ext cx="3584448" cy="201168"/>
          </a:xfrm>
          <a:prstGeom prst="rect">
            <a:avLst/>
          </a:prstGeom>
          <a:solidFill>
            <a:srgbClr val="EEF2F7"/>
          </a:solidFill>
          <a:ln/>
        </p:spPr>
      </p:sp>
      <p:sp>
        <p:nvSpPr>
          <p:cNvPr id="66" name="Shape 63"/>
          <p:cNvSpPr/>
          <p:nvPr/>
        </p:nvSpPr>
        <p:spPr>
          <a:xfrm>
            <a:off x="3712464" y="4791456"/>
            <a:ext cx="457200" cy="201168"/>
          </a:xfrm>
          <a:prstGeom prst="rect">
            <a:avLst/>
          </a:prstGeom>
          <a:solidFill>
            <a:srgbClr val="1F497D"/>
          </a:solidFill>
          <a:ln/>
        </p:spPr>
      </p:sp>
      <p:sp>
        <p:nvSpPr>
          <p:cNvPr id="67" name="Text 64"/>
          <p:cNvSpPr/>
          <p:nvPr/>
        </p:nvSpPr>
        <p:spPr>
          <a:xfrm>
            <a:off x="7370064" y="4663440"/>
            <a:ext cx="603504" cy="457200"/>
          </a:xfrm>
          <a:prstGeom prst="rect">
            <a:avLst/>
          </a:prstGeom>
          <a:noFill/>
          <a:ln/>
        </p:spPr>
        <p:txBody>
          <a:bodyPr wrap="square" lIns="0" tIns="0" rIns="0" bIns="0" rtlCol="0" anchor="ctr"/>
          <a:lstStyle/>
          <a:p>
            <a:pPr indent="0" marL="0">
              <a:buNone/>
            </a:pPr>
            <a:r>
              <a:rPr lang="en-US" sz="950" b="1" dirty="0">
                <a:solidFill>
                  <a:srgbClr val="1F497D"/>
                </a:solidFill>
                <a:latin typeface="Arial" pitchFamily="34" charset="0"/>
                <a:ea typeface="Arial" pitchFamily="34" charset="-122"/>
                <a:cs typeface="Arial" pitchFamily="34" charset="-120"/>
              </a:rPr>
              <a:t>0.82%</a:t>
            </a:r>
            <a:endParaRPr lang="en-US" sz="950" dirty="0"/>
          </a:p>
        </p:txBody>
      </p:sp>
      <p:sp>
        <p:nvSpPr>
          <p:cNvPr id="68" name="Text 65"/>
          <p:cNvSpPr/>
          <p:nvPr/>
        </p:nvSpPr>
        <p:spPr>
          <a:xfrm>
            <a:off x="310896" y="5266944"/>
            <a:ext cx="7680960" cy="274320"/>
          </a:xfrm>
          <a:prstGeom prst="rect">
            <a:avLst/>
          </a:prstGeom>
          <a:noFill/>
          <a:ln/>
        </p:spPr>
        <p:txBody>
          <a:bodyPr wrap="square" lIns="0" tIns="0" rIns="0" bIns="0" rtlCol="0" anchor="ctr"/>
          <a:lstStyle/>
          <a:p>
            <a:pPr indent="0" marL="0">
              <a:buNone/>
            </a:pPr>
            <a:r>
              <a:rPr lang="en-US" sz="900" i="1" dirty="0">
                <a:solidFill>
                  <a:srgbClr val="5A6673"/>
                </a:solidFill>
                <a:latin typeface="Calibri" pitchFamily="34" charset="0"/>
                <a:ea typeface="Calibri" pitchFamily="34" charset="-122"/>
                <a:cs typeface="Calibri" pitchFamily="34" charset="-120"/>
              </a:rPr>
              <a:t>121× reduction, and the first filter removes only 20 pairs — bar length ∝ log₁₀(count); every stage figure is measured by the run, not asserted</a:t>
            </a:r>
            <a:endParaRPr lang="en-US" sz="900" dirty="0"/>
          </a:p>
        </p:txBody>
      </p:sp>
      <p:sp>
        <p:nvSpPr>
          <p:cNvPr id="69" name="Shape 66"/>
          <p:cNvSpPr/>
          <p:nvPr/>
        </p:nvSpPr>
        <p:spPr>
          <a:xfrm>
            <a:off x="8101584" y="2962656"/>
            <a:ext cx="2286000" cy="2377440"/>
          </a:xfrm>
          <a:prstGeom prst="roundRect">
            <a:avLst>
              <a:gd name="adj" fmla="val 1200"/>
            </a:avLst>
          </a:prstGeom>
          <a:solidFill>
            <a:srgbClr val="FFFFFF"/>
          </a:solidFill>
          <a:ln w="9525">
            <a:solidFill>
              <a:srgbClr val="D4DAE2"/>
            </a:solidFill>
            <a:prstDash val="solid"/>
          </a:ln>
        </p:spPr>
      </p:sp>
      <p:sp>
        <p:nvSpPr>
          <p:cNvPr id="70" name="Text 67"/>
          <p:cNvSpPr/>
          <p:nvPr/>
        </p:nvSpPr>
        <p:spPr>
          <a:xfrm>
            <a:off x="8284464" y="3090672"/>
            <a:ext cx="1920240" cy="182880"/>
          </a:xfrm>
          <a:prstGeom prst="rect">
            <a:avLst/>
          </a:prstGeom>
          <a:noFill/>
          <a:ln/>
        </p:spPr>
        <p:txBody>
          <a:bodyPr wrap="square" lIns="0" tIns="0" rIns="0" bIns="0" rtlCol="0" anchor="ctr"/>
          <a:lstStyle/>
          <a:p>
            <a:pPr indent="0" marL="0">
              <a:buNone/>
            </a:pPr>
            <a:r>
              <a:rPr lang="en-US" sz="850" b="1" spc="90" kern="0" dirty="0">
                <a:solidFill>
                  <a:srgbClr val="1E7A4C"/>
                </a:solidFill>
                <a:latin typeface="Calibri" pitchFamily="34" charset="0"/>
                <a:ea typeface="Calibri" pitchFamily="34" charset="-122"/>
                <a:cs typeface="Calibri" pitchFamily="34" charset="-120"/>
              </a:rPr>
              <a:t>VERIFIED, NOT CLAIMED</a:t>
            </a:r>
            <a:endParaRPr lang="en-US" sz="850" dirty="0"/>
          </a:p>
        </p:txBody>
      </p:sp>
      <p:sp>
        <p:nvSpPr>
          <p:cNvPr id="71" name="Text 68"/>
          <p:cNvSpPr/>
          <p:nvPr/>
        </p:nvSpPr>
        <p:spPr>
          <a:xfrm>
            <a:off x="8284464" y="3310128"/>
            <a:ext cx="1956816" cy="310896"/>
          </a:xfrm>
          <a:prstGeom prst="rect">
            <a:avLst/>
          </a:prstGeom>
          <a:noFill/>
          <a:ln/>
        </p:spPr>
        <p:txBody>
          <a:bodyPr wrap="square" lIns="0" tIns="0" rIns="0" bIns="0" rtlCol="0" anchor="ctr"/>
          <a:lstStyle/>
          <a:p>
            <a:pPr indent="0" marL="0">
              <a:buNone/>
            </a:pPr>
            <a:r>
              <a:rPr lang="en-US" sz="2100" b="1" dirty="0">
                <a:solidFill>
                  <a:srgbClr val="1F497D"/>
                </a:solidFill>
                <a:latin typeface="Arial" pitchFamily="34" charset="0"/>
                <a:ea typeface="Arial" pitchFamily="34" charset="-122"/>
                <a:cs typeface="Arial" pitchFamily="34" charset="-120"/>
              </a:rPr>
              <a:t>3,710,880</a:t>
            </a:r>
            <a:pPr indent="0" marL="0">
              <a:buNone/>
            </a:pPr>
            <a:endParaRPr lang="en-US" sz="2100" dirty="0"/>
          </a:p>
        </p:txBody>
      </p:sp>
      <p:sp>
        <p:nvSpPr>
          <p:cNvPr id="72" name="Text 69"/>
          <p:cNvSpPr/>
          <p:nvPr/>
        </p:nvSpPr>
        <p:spPr>
          <a:xfrm>
            <a:off x="8284464" y="3602736"/>
            <a:ext cx="1956816" cy="347472"/>
          </a:xfrm>
          <a:prstGeom prst="rect">
            <a:avLst/>
          </a:prstGeom>
          <a:noFill/>
          <a:ln/>
        </p:spPr>
        <p:txBody>
          <a:bodyPr wrap="square" lIns="0" tIns="0" rIns="0" bIns="0" rtlCol="0" anchor="ctr"/>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SGP4 propagations per run (~15 s)</a:t>
            </a:r>
            <a:endParaRPr lang="en-US" sz="950" dirty="0"/>
          </a:p>
        </p:txBody>
      </p:sp>
      <p:sp>
        <p:nvSpPr>
          <p:cNvPr id="73" name="Text 70"/>
          <p:cNvSpPr/>
          <p:nvPr/>
        </p:nvSpPr>
        <p:spPr>
          <a:xfrm>
            <a:off x="8284464" y="3968496"/>
            <a:ext cx="1956816" cy="310896"/>
          </a:xfrm>
          <a:prstGeom prst="rect">
            <a:avLst/>
          </a:prstGeom>
          <a:noFill/>
          <a:ln/>
        </p:spPr>
        <p:txBody>
          <a:bodyPr wrap="square" lIns="0" tIns="0" rIns="0" bIns="0" rtlCol="0" anchor="ctr"/>
          <a:lstStyle/>
          <a:p>
            <a:pPr indent="0" marL="0">
              <a:buNone/>
            </a:pPr>
            <a:r>
              <a:rPr lang="en-US" sz="2100" b="1" dirty="0">
                <a:solidFill>
                  <a:srgbClr val="1E7A4C"/>
                </a:solidFill>
                <a:latin typeface="Arial" pitchFamily="34" charset="0"/>
                <a:ea typeface="Arial" pitchFamily="34" charset="-122"/>
                <a:cs typeface="Arial" pitchFamily="34" charset="-120"/>
              </a:rPr>
              <a:t>1.14×10⁻¹³</a:t>
            </a:r>
            <a:pPr indent="0" marL="0">
              <a:buNone/>
            </a:pPr>
            <a:r>
              <a:rPr lang="en-US" sz="1000" dirty="0">
                <a:solidFill>
                  <a:srgbClr val="5A6673"/>
                </a:solidFill>
                <a:latin typeface="Arial" pitchFamily="34" charset="0"/>
                <a:ea typeface="Arial" pitchFamily="34" charset="-122"/>
                <a:cs typeface="Arial" pitchFamily="34" charset="-120"/>
              </a:rPr>
              <a:t> km</a:t>
            </a:r>
            <a:endParaRPr lang="en-US" sz="2100" dirty="0"/>
          </a:p>
        </p:txBody>
      </p:sp>
      <p:sp>
        <p:nvSpPr>
          <p:cNvPr id="74" name="Text 71"/>
          <p:cNvSpPr/>
          <p:nvPr/>
        </p:nvSpPr>
        <p:spPr>
          <a:xfrm>
            <a:off x="8284464" y="4261104"/>
            <a:ext cx="1956816" cy="347472"/>
          </a:xfrm>
          <a:prstGeom prst="rect">
            <a:avLst/>
          </a:prstGeom>
          <a:noFill/>
          <a:ln/>
        </p:spPr>
        <p:txBody>
          <a:bodyPr wrap="square" lIns="0" tIns="0" rIns="0" bIns="0" rtlCol="0" anchor="ctr"/>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Cascade vs brute-force all-pairs agreement</a:t>
            </a:r>
            <a:endParaRPr lang="en-US" sz="950" dirty="0"/>
          </a:p>
        </p:txBody>
      </p:sp>
      <p:sp>
        <p:nvSpPr>
          <p:cNvPr id="75" name="Text 72"/>
          <p:cNvSpPr/>
          <p:nvPr/>
        </p:nvSpPr>
        <p:spPr>
          <a:xfrm>
            <a:off x="8284464" y="4626864"/>
            <a:ext cx="1956816" cy="310896"/>
          </a:xfrm>
          <a:prstGeom prst="rect">
            <a:avLst/>
          </a:prstGeom>
          <a:noFill/>
          <a:ln/>
        </p:spPr>
        <p:txBody>
          <a:bodyPr wrap="square" lIns="0" tIns="0" rIns="0" bIns="0" rtlCol="0" anchor="ctr"/>
          <a:lstStyle/>
          <a:p>
            <a:pPr indent="0" marL="0">
              <a:buNone/>
            </a:pPr>
            <a:r>
              <a:rPr lang="en-US" sz="2100" b="1" dirty="0">
                <a:solidFill>
                  <a:srgbClr val="1F497D"/>
                </a:solidFill>
                <a:latin typeface="Arial" pitchFamily="34" charset="0"/>
                <a:ea typeface="Arial" pitchFamily="34" charset="-122"/>
                <a:cs typeface="Arial" pitchFamily="34" charset="-120"/>
              </a:rPr>
              <a:t>≈1.73</a:t>
            </a:r>
            <a:pPr indent="0" marL="0">
              <a:buNone/>
            </a:pPr>
            <a:endParaRPr lang="en-US" sz="2100" dirty="0"/>
          </a:p>
        </p:txBody>
      </p:sp>
      <p:sp>
        <p:nvSpPr>
          <p:cNvPr id="76" name="Text 73"/>
          <p:cNvSpPr/>
          <p:nvPr/>
        </p:nvSpPr>
        <p:spPr>
          <a:xfrm>
            <a:off x="8284464" y="4919472"/>
            <a:ext cx="1956816" cy="347472"/>
          </a:xfrm>
          <a:prstGeom prst="rect">
            <a:avLst/>
          </a:prstGeom>
          <a:noFill/>
          <a:ln/>
        </p:spPr>
        <p:txBody>
          <a:bodyPr wrap="square" lIns="0" tIns="0" rIns="0" bIns="0" rtlCol="0" anchor="ctr"/>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Scaling exponent, 1.70–1.74 across runs (2.0 = all-pairs)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19456" y="146304"/>
            <a:ext cx="1060704" cy="566928"/>
          </a:xfrm>
          <a:prstGeom prst="ellipse">
            <a:avLst/>
          </a:prstGeom>
          <a:solidFill>
            <a:srgbClr val="FFFFFF"/>
          </a:solidFill>
          <a:ln w="12700">
            <a:solidFill>
              <a:srgbClr val="B4A3C8"/>
            </a:solidFill>
            <a:prstDash val="solid"/>
          </a:ln>
        </p:spPr>
      </p:sp>
      <p:sp>
        <p:nvSpPr>
          <p:cNvPr id="3" name="Text 1"/>
          <p:cNvSpPr/>
          <p:nvPr/>
        </p:nvSpPr>
        <p:spPr>
          <a:xfrm>
            <a:off x="219456" y="146304"/>
            <a:ext cx="1060704" cy="566928"/>
          </a:xfrm>
          <a:prstGeom prst="rect">
            <a:avLst/>
          </a:prstGeom>
          <a:noFill/>
          <a:ln/>
        </p:spPr>
        <p:txBody>
          <a:bodyPr wrap="square" lIns="0" tIns="0" rIns="0" bIns="0" rtlCol="0" anchor="ctr"/>
          <a:lstStyle/>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Team</a:t>
            </a:r>
            <a:endParaRPr lang="en-US" sz="1050" dirty="0"/>
          </a:p>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Name</a:t>
            </a:r>
            <a:endParaRPr lang="en-US" sz="1050" dirty="0"/>
          </a:p>
        </p:txBody>
      </p:sp>
      <p:sp>
        <p:nvSpPr>
          <p:cNvPr id="4" name="Text 2"/>
          <p:cNvSpPr/>
          <p:nvPr/>
        </p:nvSpPr>
        <p:spPr>
          <a:xfrm>
            <a:off x="1389888" y="146304"/>
            <a:ext cx="7059168" cy="585216"/>
          </a:xfrm>
          <a:prstGeom prst="rect">
            <a:avLst/>
          </a:prstGeom>
          <a:noFill/>
          <a:ln/>
        </p:spPr>
        <p:txBody>
          <a:bodyPr wrap="square" lIns="0" tIns="0" rIns="0" bIns="0" rtlCol="0" anchor="ctr"/>
          <a:lstStyle/>
          <a:p>
            <a:pPr algn="ctr" indent="0" marL="0">
              <a:buNone/>
            </a:pPr>
            <a:r>
              <a:rPr lang="en-US" sz="2700" b="1" dirty="0">
                <a:solidFill>
                  <a:srgbClr val="111111"/>
                </a:solidFill>
                <a:latin typeface="Calibri" pitchFamily="34" charset="0"/>
                <a:ea typeface="Calibri" pitchFamily="34" charset="-122"/>
                <a:cs typeface="Calibri" pitchFamily="34" charset="-120"/>
              </a:rPr>
              <a:t>FEASIBILITY AND VIABILITY</a:t>
            </a:r>
            <a:endParaRPr lang="en-US" sz="2700" dirty="0"/>
          </a:p>
        </p:txBody>
      </p:sp>
      <p:pic>
        <p:nvPicPr>
          <p:cNvPr id="5" name="Image 0" descr="preencoded.png">    </p:cNvPr>
          <p:cNvPicPr>
            <a:picLocks noChangeAspect="1"/>
          </p:cNvPicPr>
          <p:nvPr/>
        </p:nvPicPr>
        <p:blipFill>
          <a:blip r:embed="rId1"/>
          <a:stretch>
            <a:fillRect/>
          </a:stretch>
        </p:blipFill>
        <p:spPr>
          <a:xfrm>
            <a:off x="8796528" y="137160"/>
            <a:ext cx="517434" cy="566928"/>
          </a:xfrm>
          <a:prstGeom prst="rect">
            <a:avLst/>
          </a:prstGeom>
        </p:spPr>
      </p:pic>
      <p:sp>
        <p:nvSpPr>
          <p:cNvPr id="6" name="Text 3"/>
          <p:cNvSpPr/>
          <p:nvPr/>
        </p:nvSpPr>
        <p:spPr>
          <a:xfrm>
            <a:off x="9400032" y="146304"/>
            <a:ext cx="1115568" cy="548640"/>
          </a:xfrm>
          <a:prstGeom prst="rect">
            <a:avLst/>
          </a:prstGeom>
          <a:noFill/>
          <a:ln/>
        </p:spPr>
        <p:txBody>
          <a:bodyPr wrap="square" lIns="0" tIns="0" rIns="0" bIns="0" rtlCol="0" anchor="ctr"/>
          <a:lstStyle/>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SMART INDIA</a:t>
            </a:r>
            <a:endParaRPr lang="en-US" sz="950" dirty="0"/>
          </a:p>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HACKATHON 2026</a:t>
            </a:r>
            <a:endParaRPr lang="en-US" sz="950" dirty="0"/>
          </a:p>
        </p:txBody>
      </p:sp>
      <p:sp>
        <p:nvSpPr>
          <p:cNvPr id="7" name="Shape 4"/>
          <p:cNvSpPr/>
          <p:nvPr/>
        </p:nvSpPr>
        <p:spPr>
          <a:xfrm>
            <a:off x="0" y="5708599"/>
            <a:ext cx="10692994" cy="310896"/>
          </a:xfrm>
          <a:prstGeom prst="rect">
            <a:avLst/>
          </a:prstGeom>
          <a:solidFill>
            <a:srgbClr val="0070C0"/>
          </a:solidFill>
          <a:ln/>
        </p:spPr>
      </p:sp>
      <p:sp>
        <p:nvSpPr>
          <p:cNvPr id="8" name="Text 5"/>
          <p:cNvSpPr/>
          <p:nvPr/>
        </p:nvSpPr>
        <p:spPr>
          <a:xfrm>
            <a:off x="3200400" y="5708599"/>
            <a:ext cx="429768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@SIH Idea submission- Template</a:t>
            </a:r>
            <a:endParaRPr lang="en-US" sz="1050" dirty="0"/>
          </a:p>
        </p:txBody>
      </p:sp>
      <p:sp>
        <p:nvSpPr>
          <p:cNvPr id="9" name="Text 6"/>
          <p:cNvSpPr/>
          <p:nvPr/>
        </p:nvSpPr>
        <p:spPr>
          <a:xfrm>
            <a:off x="9915754" y="5708599"/>
            <a:ext cx="457200"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0" name="Text 7"/>
          <p:cNvSpPr/>
          <p:nvPr/>
        </p:nvSpPr>
        <p:spPr>
          <a:xfrm>
            <a:off x="310896" y="896112"/>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11" name="Text 8"/>
          <p:cNvSpPr/>
          <p:nvPr/>
        </p:nvSpPr>
        <p:spPr>
          <a:xfrm>
            <a:off x="621792" y="896112"/>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Analysis of the feasibility of the idea</a:t>
            </a:r>
            <a:endParaRPr lang="en-US" sz="1650" dirty="0"/>
          </a:p>
        </p:txBody>
      </p:sp>
      <p:sp>
        <p:nvSpPr>
          <p:cNvPr id="12" name="Shape 9"/>
          <p:cNvSpPr/>
          <p:nvPr/>
        </p:nvSpPr>
        <p:spPr>
          <a:xfrm>
            <a:off x="310896" y="1280160"/>
            <a:ext cx="2450592" cy="1170432"/>
          </a:xfrm>
          <a:prstGeom prst="roundRect">
            <a:avLst>
              <a:gd name="adj" fmla="val 2344"/>
            </a:avLst>
          </a:prstGeom>
          <a:solidFill>
            <a:srgbClr val="FFFFFF"/>
          </a:solidFill>
          <a:ln w="9525">
            <a:solidFill>
              <a:srgbClr val="D4DAE2"/>
            </a:solidFill>
            <a:prstDash val="solid"/>
          </a:ln>
        </p:spPr>
      </p:sp>
      <p:sp>
        <p:nvSpPr>
          <p:cNvPr id="13" name="Text 10"/>
          <p:cNvSpPr/>
          <p:nvPr/>
        </p:nvSpPr>
        <p:spPr>
          <a:xfrm>
            <a:off x="438912" y="1371600"/>
            <a:ext cx="219456" cy="219456"/>
          </a:xfrm>
          <a:prstGeom prst="rect">
            <a:avLst/>
          </a:prstGeom>
          <a:noFill/>
          <a:ln/>
        </p:spPr>
        <p:txBody>
          <a:bodyPr wrap="square" lIns="0" tIns="0" rIns="0" bIns="0" rtlCol="0" anchor="ctr"/>
          <a:lstStyle/>
          <a:p>
            <a:pPr indent="0" marL="0">
              <a:buNone/>
            </a:pPr>
            <a:r>
              <a:rPr lang="en-US" sz="1300" b="1" dirty="0">
                <a:solidFill>
                  <a:srgbClr val="1E7A4C"/>
                </a:solidFill>
                <a:latin typeface="Calibri" pitchFamily="34" charset="0"/>
                <a:ea typeface="Calibri" pitchFamily="34" charset="-122"/>
                <a:cs typeface="Calibri" pitchFamily="34" charset="-120"/>
              </a:rPr>
              <a:t>✓</a:t>
            </a:r>
            <a:endParaRPr lang="en-US" sz="1300" dirty="0"/>
          </a:p>
        </p:txBody>
      </p:sp>
      <p:sp>
        <p:nvSpPr>
          <p:cNvPr id="14" name="Text 11"/>
          <p:cNvSpPr/>
          <p:nvPr/>
        </p:nvSpPr>
        <p:spPr>
          <a:xfrm>
            <a:off x="694944" y="1371600"/>
            <a:ext cx="1920240" cy="219456"/>
          </a:xfrm>
          <a:prstGeom prst="rect">
            <a:avLst/>
          </a:prstGeom>
          <a:noFill/>
          <a:ln/>
        </p:spPr>
        <p:txBody>
          <a:bodyPr wrap="square" lIns="0" tIns="0" rIns="0" bIns="0"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Already built</a:t>
            </a:r>
            <a:endParaRPr lang="en-US" sz="1100" dirty="0"/>
          </a:p>
        </p:txBody>
      </p:sp>
      <p:sp>
        <p:nvSpPr>
          <p:cNvPr id="15" name="Text 12"/>
          <p:cNvSpPr/>
          <p:nvPr/>
        </p:nvSpPr>
        <p:spPr>
          <a:xfrm>
            <a:off x="438912" y="1627632"/>
            <a:ext cx="2231136" cy="768096"/>
          </a:xfrm>
          <a:prstGeom prst="rect">
            <a:avLst/>
          </a:prstGeom>
          <a:noFill/>
          <a:ln/>
        </p:spPr>
        <p:txBody>
          <a:bodyPr wrap="square" lIns="0" tIns="0" rIns="0" bIns="0" rtlCol="0" anchor="t"/>
          <a:lstStyle/>
          <a:p>
            <a:pPr indent="0" marL="0">
              <a:lnSpc>
                <a:spcPts val="1100"/>
              </a:lnSpc>
              <a:buNone/>
            </a:pPr>
            <a:r>
              <a:rPr lang="en-US" sz="900" dirty="0">
                <a:solidFill>
                  <a:srgbClr val="333333"/>
                </a:solidFill>
                <a:latin typeface="Calibri" pitchFamily="34" charset="0"/>
                <a:ea typeface="Calibri" pitchFamily="34" charset="-122"/>
                <a:cs typeface="Calibri" pitchFamily="34" charset="-120"/>
              </a:rPr>
              <a:t>Not a concept. A working console with a real screening engine, running today — every number in this deck came out of it, not out of a plan.</a:t>
            </a:r>
            <a:endParaRPr lang="en-US" sz="900" dirty="0"/>
          </a:p>
        </p:txBody>
      </p:sp>
      <p:sp>
        <p:nvSpPr>
          <p:cNvPr id="16" name="Shape 13"/>
          <p:cNvSpPr/>
          <p:nvPr/>
        </p:nvSpPr>
        <p:spPr>
          <a:xfrm>
            <a:off x="2916936" y="1280160"/>
            <a:ext cx="2450592" cy="1170432"/>
          </a:xfrm>
          <a:prstGeom prst="roundRect">
            <a:avLst>
              <a:gd name="adj" fmla="val 2344"/>
            </a:avLst>
          </a:prstGeom>
          <a:solidFill>
            <a:srgbClr val="FFFFFF"/>
          </a:solidFill>
          <a:ln w="9525">
            <a:solidFill>
              <a:srgbClr val="D4DAE2"/>
            </a:solidFill>
            <a:prstDash val="solid"/>
          </a:ln>
        </p:spPr>
      </p:sp>
      <p:sp>
        <p:nvSpPr>
          <p:cNvPr id="17" name="Text 14"/>
          <p:cNvSpPr/>
          <p:nvPr/>
        </p:nvSpPr>
        <p:spPr>
          <a:xfrm>
            <a:off x="3044952" y="1371600"/>
            <a:ext cx="219456" cy="219456"/>
          </a:xfrm>
          <a:prstGeom prst="rect">
            <a:avLst/>
          </a:prstGeom>
          <a:noFill/>
          <a:ln/>
        </p:spPr>
        <p:txBody>
          <a:bodyPr wrap="square" lIns="0" tIns="0" rIns="0" bIns="0" rtlCol="0" anchor="ctr"/>
          <a:lstStyle/>
          <a:p>
            <a:pPr indent="0" marL="0">
              <a:buNone/>
            </a:pPr>
            <a:r>
              <a:rPr lang="en-US" sz="1300" b="1" dirty="0">
                <a:solidFill>
                  <a:srgbClr val="1E7A4C"/>
                </a:solidFill>
                <a:latin typeface="Calibri" pitchFamily="34" charset="0"/>
                <a:ea typeface="Calibri" pitchFamily="34" charset="-122"/>
                <a:cs typeface="Calibri" pitchFamily="34" charset="-120"/>
              </a:rPr>
              <a:t>✓</a:t>
            </a:r>
            <a:endParaRPr lang="en-US" sz="1300" dirty="0"/>
          </a:p>
        </p:txBody>
      </p:sp>
      <p:sp>
        <p:nvSpPr>
          <p:cNvPr id="18" name="Text 15"/>
          <p:cNvSpPr/>
          <p:nvPr/>
        </p:nvSpPr>
        <p:spPr>
          <a:xfrm>
            <a:off x="3300984" y="1371600"/>
            <a:ext cx="1920240" cy="219456"/>
          </a:xfrm>
          <a:prstGeom prst="rect">
            <a:avLst/>
          </a:prstGeom>
          <a:noFill/>
          <a:ln/>
        </p:spPr>
        <p:txBody>
          <a:bodyPr wrap="square" lIns="0" tIns="0" rIns="0" bIns="0"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Zero data cost</a:t>
            </a:r>
            <a:endParaRPr lang="en-US" sz="1100" dirty="0"/>
          </a:p>
        </p:txBody>
      </p:sp>
      <p:sp>
        <p:nvSpPr>
          <p:cNvPr id="19" name="Text 16"/>
          <p:cNvSpPr/>
          <p:nvPr/>
        </p:nvSpPr>
        <p:spPr>
          <a:xfrm>
            <a:off x="3044952" y="1627632"/>
            <a:ext cx="2231136" cy="768096"/>
          </a:xfrm>
          <a:prstGeom prst="rect">
            <a:avLst/>
          </a:prstGeom>
          <a:noFill/>
          <a:ln/>
        </p:spPr>
        <p:txBody>
          <a:bodyPr wrap="square" lIns="0" tIns="0" rIns="0" bIns="0" rtlCol="0" anchor="t"/>
          <a:lstStyle/>
          <a:p>
            <a:pPr indent="0" marL="0">
              <a:lnSpc>
                <a:spcPts val="1100"/>
              </a:lnSpc>
              <a:buNone/>
            </a:pPr>
            <a:r>
              <a:rPr lang="en-US" sz="900" dirty="0">
                <a:solidFill>
                  <a:srgbClr val="333333"/>
                </a:solidFill>
                <a:latin typeface="Calibri" pitchFamily="34" charset="0"/>
                <a:ea typeface="Calibri" pitchFamily="34" charset="-122"/>
                <a:cs typeface="Calibri" pitchFamily="34" charset="-120"/>
              </a:rPr>
              <a:t>CelesTrak publishes element sets free, no sign-up. A licensed catalogue is the usual blocker on this theme; there is nothing here to procure.</a:t>
            </a:r>
            <a:endParaRPr lang="en-US" sz="900" dirty="0"/>
          </a:p>
        </p:txBody>
      </p:sp>
      <p:sp>
        <p:nvSpPr>
          <p:cNvPr id="20" name="Shape 17"/>
          <p:cNvSpPr/>
          <p:nvPr/>
        </p:nvSpPr>
        <p:spPr>
          <a:xfrm>
            <a:off x="5522976" y="1280160"/>
            <a:ext cx="2450592" cy="1170432"/>
          </a:xfrm>
          <a:prstGeom prst="roundRect">
            <a:avLst>
              <a:gd name="adj" fmla="val 2344"/>
            </a:avLst>
          </a:prstGeom>
          <a:solidFill>
            <a:srgbClr val="FFFFFF"/>
          </a:solidFill>
          <a:ln w="9525">
            <a:solidFill>
              <a:srgbClr val="D4DAE2"/>
            </a:solidFill>
            <a:prstDash val="solid"/>
          </a:ln>
        </p:spPr>
      </p:sp>
      <p:sp>
        <p:nvSpPr>
          <p:cNvPr id="21" name="Text 18"/>
          <p:cNvSpPr/>
          <p:nvPr/>
        </p:nvSpPr>
        <p:spPr>
          <a:xfrm>
            <a:off x="5650992" y="1371600"/>
            <a:ext cx="219456" cy="219456"/>
          </a:xfrm>
          <a:prstGeom prst="rect">
            <a:avLst/>
          </a:prstGeom>
          <a:noFill/>
          <a:ln/>
        </p:spPr>
        <p:txBody>
          <a:bodyPr wrap="square" lIns="0" tIns="0" rIns="0" bIns="0" rtlCol="0" anchor="ctr"/>
          <a:lstStyle/>
          <a:p>
            <a:pPr indent="0" marL="0">
              <a:buNone/>
            </a:pPr>
            <a:r>
              <a:rPr lang="en-US" sz="1300" b="1" dirty="0">
                <a:solidFill>
                  <a:srgbClr val="1E7A4C"/>
                </a:solidFill>
                <a:latin typeface="Calibri" pitchFamily="34" charset="0"/>
                <a:ea typeface="Calibri" pitchFamily="34" charset="-122"/>
                <a:cs typeface="Calibri" pitchFamily="34" charset="-120"/>
              </a:rPr>
              <a:t>✓</a:t>
            </a:r>
            <a:endParaRPr lang="en-US" sz="1300" dirty="0"/>
          </a:p>
        </p:txBody>
      </p:sp>
      <p:sp>
        <p:nvSpPr>
          <p:cNvPr id="22" name="Text 19"/>
          <p:cNvSpPr/>
          <p:nvPr/>
        </p:nvSpPr>
        <p:spPr>
          <a:xfrm>
            <a:off x="5907024" y="1371600"/>
            <a:ext cx="1920240" cy="219456"/>
          </a:xfrm>
          <a:prstGeom prst="rect">
            <a:avLst/>
          </a:prstGeom>
          <a:noFill/>
          <a:ln/>
        </p:spPr>
        <p:txBody>
          <a:bodyPr wrap="square" lIns="0" tIns="0" rIns="0" bIns="0"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Zero infrastructure</a:t>
            </a:r>
            <a:endParaRPr lang="en-US" sz="1100" dirty="0"/>
          </a:p>
        </p:txBody>
      </p:sp>
      <p:sp>
        <p:nvSpPr>
          <p:cNvPr id="23" name="Text 20"/>
          <p:cNvSpPr/>
          <p:nvPr/>
        </p:nvSpPr>
        <p:spPr>
          <a:xfrm>
            <a:off x="5650992" y="1627632"/>
            <a:ext cx="2231136" cy="768096"/>
          </a:xfrm>
          <a:prstGeom prst="rect">
            <a:avLst/>
          </a:prstGeom>
          <a:noFill/>
          <a:ln/>
        </p:spPr>
        <p:txBody>
          <a:bodyPr wrap="square" lIns="0" tIns="0" rIns="0" bIns="0" rtlCol="0" anchor="t"/>
          <a:lstStyle/>
          <a:p>
            <a:pPr indent="0" marL="0">
              <a:lnSpc>
                <a:spcPts val="1100"/>
              </a:lnSpc>
              <a:buNone/>
            </a:pPr>
            <a:r>
              <a:rPr lang="en-US" sz="900" dirty="0">
                <a:solidFill>
                  <a:srgbClr val="333333"/>
                </a:solidFill>
                <a:latin typeface="Calibri" pitchFamily="34" charset="0"/>
                <a:ea typeface="Calibri" pitchFamily="34" charset="-122"/>
                <a:cs typeface="Calibri" pitchFamily="34" charset="-120"/>
              </a:rPr>
              <a:t>No backend, no database, no server, no API key. Free static hosting, or one 1.7 MB file that runs offline from a USB stick.</a:t>
            </a:r>
            <a:endParaRPr lang="en-US" sz="900" dirty="0"/>
          </a:p>
        </p:txBody>
      </p:sp>
      <p:sp>
        <p:nvSpPr>
          <p:cNvPr id="24" name="Shape 21"/>
          <p:cNvSpPr/>
          <p:nvPr/>
        </p:nvSpPr>
        <p:spPr>
          <a:xfrm>
            <a:off x="8129016" y="1280160"/>
            <a:ext cx="2450592" cy="1170432"/>
          </a:xfrm>
          <a:prstGeom prst="roundRect">
            <a:avLst>
              <a:gd name="adj" fmla="val 2344"/>
            </a:avLst>
          </a:prstGeom>
          <a:solidFill>
            <a:srgbClr val="FFFFFF"/>
          </a:solidFill>
          <a:ln w="9525">
            <a:solidFill>
              <a:srgbClr val="D4DAE2"/>
            </a:solidFill>
            <a:prstDash val="solid"/>
          </a:ln>
        </p:spPr>
      </p:sp>
      <p:sp>
        <p:nvSpPr>
          <p:cNvPr id="25" name="Text 22"/>
          <p:cNvSpPr/>
          <p:nvPr/>
        </p:nvSpPr>
        <p:spPr>
          <a:xfrm>
            <a:off x="8257032" y="1371600"/>
            <a:ext cx="219456" cy="219456"/>
          </a:xfrm>
          <a:prstGeom prst="rect">
            <a:avLst/>
          </a:prstGeom>
          <a:noFill/>
          <a:ln/>
        </p:spPr>
        <p:txBody>
          <a:bodyPr wrap="square" lIns="0" tIns="0" rIns="0" bIns="0" rtlCol="0" anchor="ctr"/>
          <a:lstStyle/>
          <a:p>
            <a:pPr indent="0" marL="0">
              <a:buNone/>
            </a:pPr>
            <a:r>
              <a:rPr lang="en-US" sz="1300" b="1" dirty="0">
                <a:solidFill>
                  <a:srgbClr val="1E7A4C"/>
                </a:solidFill>
                <a:latin typeface="Calibri" pitchFamily="34" charset="0"/>
                <a:ea typeface="Calibri" pitchFamily="34" charset="-122"/>
                <a:cs typeface="Calibri" pitchFamily="34" charset="-120"/>
              </a:rPr>
              <a:t>✓</a:t>
            </a:r>
            <a:endParaRPr lang="en-US" sz="1300" dirty="0"/>
          </a:p>
        </p:txBody>
      </p:sp>
      <p:sp>
        <p:nvSpPr>
          <p:cNvPr id="26" name="Text 23"/>
          <p:cNvSpPr/>
          <p:nvPr/>
        </p:nvSpPr>
        <p:spPr>
          <a:xfrm>
            <a:off x="8513064" y="1371600"/>
            <a:ext cx="1920240" cy="219456"/>
          </a:xfrm>
          <a:prstGeom prst="rect">
            <a:avLst/>
          </a:prstGeom>
          <a:noFill/>
          <a:ln/>
        </p:spPr>
        <p:txBody>
          <a:bodyPr wrap="square" lIns="0" tIns="0" rIns="0" bIns="0"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Open and checkable</a:t>
            </a:r>
            <a:endParaRPr lang="en-US" sz="1100" dirty="0"/>
          </a:p>
        </p:txBody>
      </p:sp>
      <p:sp>
        <p:nvSpPr>
          <p:cNvPr id="27" name="Text 24"/>
          <p:cNvSpPr/>
          <p:nvPr/>
        </p:nvSpPr>
        <p:spPr>
          <a:xfrm>
            <a:off x="8257032" y="1627632"/>
            <a:ext cx="2231136" cy="768096"/>
          </a:xfrm>
          <a:prstGeom prst="rect">
            <a:avLst/>
          </a:prstGeom>
          <a:noFill/>
          <a:ln/>
        </p:spPr>
        <p:txBody>
          <a:bodyPr wrap="square" lIns="0" tIns="0" rIns="0" bIns="0" rtlCol="0" anchor="t"/>
          <a:lstStyle/>
          <a:p>
            <a:pPr indent="0" marL="0">
              <a:lnSpc>
                <a:spcPts val="1100"/>
              </a:lnSpc>
              <a:buNone/>
            </a:pPr>
            <a:r>
              <a:rPr lang="en-US" sz="900" dirty="0">
                <a:solidFill>
                  <a:srgbClr val="333333"/>
                </a:solidFill>
                <a:latin typeface="Calibri" pitchFamily="34" charset="0"/>
                <a:ea typeface="Calibri" pitchFamily="34" charset="-122"/>
                <a:cs typeface="Calibri" pitchFamily="34" charset="-120"/>
              </a:rPr>
              <a:t>MIT licence; engine, snapshot and results all in the repository. 62 known-answer tests, including a brute-force cross-check of the cascade.</a:t>
            </a:r>
            <a:endParaRPr lang="en-US" sz="900" dirty="0"/>
          </a:p>
        </p:txBody>
      </p:sp>
      <p:sp>
        <p:nvSpPr>
          <p:cNvPr id="28" name="Text 25"/>
          <p:cNvSpPr/>
          <p:nvPr/>
        </p:nvSpPr>
        <p:spPr>
          <a:xfrm>
            <a:off x="310896" y="2505456"/>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29" name="Text 26"/>
          <p:cNvSpPr/>
          <p:nvPr/>
        </p:nvSpPr>
        <p:spPr>
          <a:xfrm>
            <a:off x="621792" y="2505456"/>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Potential challenges and risks  ·  Strategies for overcoming these challenges</a:t>
            </a:r>
            <a:endParaRPr lang="en-US" sz="1650" dirty="0"/>
          </a:p>
        </p:txBody>
      </p:sp>
      <p:sp>
        <p:nvSpPr>
          <p:cNvPr id="30" name="Text 27"/>
          <p:cNvSpPr/>
          <p:nvPr/>
        </p:nvSpPr>
        <p:spPr>
          <a:xfrm>
            <a:off x="310896" y="2907792"/>
            <a:ext cx="2286000" cy="182880"/>
          </a:xfrm>
          <a:prstGeom prst="rect">
            <a:avLst/>
          </a:prstGeom>
          <a:noFill/>
          <a:ln/>
        </p:spPr>
        <p:txBody>
          <a:bodyPr wrap="square" lIns="0" tIns="0" rIns="0" bIns="0" rtlCol="0" anchor="ctr"/>
          <a:lstStyle/>
          <a:p>
            <a:pPr indent="0" marL="0">
              <a:buNone/>
            </a:pPr>
            <a:r>
              <a:rPr lang="en-US" sz="850" b="1" spc="90" kern="0" dirty="0">
                <a:solidFill>
                  <a:srgbClr val="1F497D"/>
                </a:solidFill>
                <a:latin typeface="Calibri" pitchFamily="34" charset="0"/>
                <a:ea typeface="Calibri" pitchFamily="34" charset="-122"/>
                <a:cs typeface="Calibri" pitchFamily="34" charset="-120"/>
              </a:rPr>
              <a:t>RISK</a:t>
            </a:r>
            <a:endParaRPr lang="en-US" sz="850" dirty="0"/>
          </a:p>
        </p:txBody>
      </p:sp>
      <p:sp>
        <p:nvSpPr>
          <p:cNvPr id="31" name="Text 28"/>
          <p:cNvSpPr/>
          <p:nvPr/>
        </p:nvSpPr>
        <p:spPr>
          <a:xfrm>
            <a:off x="2706624" y="2907792"/>
            <a:ext cx="3108960" cy="182880"/>
          </a:xfrm>
          <a:prstGeom prst="rect">
            <a:avLst/>
          </a:prstGeom>
          <a:noFill/>
          <a:ln/>
        </p:spPr>
        <p:txBody>
          <a:bodyPr wrap="square" lIns="0" tIns="0" rIns="0" bIns="0" rtlCol="0" anchor="ctr"/>
          <a:lstStyle/>
          <a:p>
            <a:pPr indent="0" marL="0">
              <a:buNone/>
            </a:pPr>
            <a:r>
              <a:rPr lang="en-US" sz="850" b="1" spc="90" kern="0" dirty="0">
                <a:solidFill>
                  <a:srgbClr val="1F497D"/>
                </a:solidFill>
                <a:latin typeface="Calibri" pitchFamily="34" charset="0"/>
                <a:ea typeface="Calibri" pitchFamily="34" charset="-122"/>
                <a:cs typeface="Calibri" pitchFamily="34" charset="-120"/>
              </a:rPr>
              <a:t>WHY IT MATTERS</a:t>
            </a:r>
            <a:endParaRPr lang="en-US" sz="850" dirty="0"/>
          </a:p>
        </p:txBody>
      </p:sp>
      <p:sp>
        <p:nvSpPr>
          <p:cNvPr id="32" name="Text 29"/>
          <p:cNvSpPr/>
          <p:nvPr/>
        </p:nvSpPr>
        <p:spPr>
          <a:xfrm>
            <a:off x="5925312" y="2907792"/>
            <a:ext cx="4700016" cy="182880"/>
          </a:xfrm>
          <a:prstGeom prst="rect">
            <a:avLst/>
          </a:prstGeom>
          <a:noFill/>
          <a:ln/>
        </p:spPr>
        <p:txBody>
          <a:bodyPr wrap="square" lIns="0" tIns="0" rIns="0" bIns="0" rtlCol="0" anchor="ctr"/>
          <a:lstStyle/>
          <a:p>
            <a:pPr indent="0" marL="0">
              <a:buNone/>
            </a:pPr>
            <a:r>
              <a:rPr lang="en-US" sz="850" b="1" spc="90" kern="0" dirty="0">
                <a:solidFill>
                  <a:srgbClr val="1F497D"/>
                </a:solidFill>
                <a:latin typeface="Calibri" pitchFamily="34" charset="0"/>
                <a:ea typeface="Calibri" pitchFamily="34" charset="-122"/>
                <a:cs typeface="Calibri" pitchFamily="34" charset="-120"/>
              </a:rPr>
              <a:t>MITIGATION — ALREADY IN THE PROTOTYPE</a:t>
            </a:r>
            <a:endParaRPr lang="en-US" sz="850" dirty="0"/>
          </a:p>
        </p:txBody>
      </p:sp>
      <p:sp>
        <p:nvSpPr>
          <p:cNvPr id="33" name="Shape 30"/>
          <p:cNvSpPr/>
          <p:nvPr/>
        </p:nvSpPr>
        <p:spPr>
          <a:xfrm>
            <a:off x="310896" y="3127248"/>
            <a:ext cx="10058400" cy="0"/>
          </a:xfrm>
          <a:prstGeom prst="line">
            <a:avLst/>
          </a:prstGeom>
          <a:noFill/>
          <a:ln w="12700">
            <a:solidFill>
              <a:srgbClr val="D4DAE2"/>
            </a:solidFill>
            <a:prstDash val="solid"/>
          </a:ln>
        </p:spPr>
      </p:sp>
      <p:sp>
        <p:nvSpPr>
          <p:cNvPr id="34" name="Text 31"/>
          <p:cNvSpPr/>
          <p:nvPr/>
        </p:nvSpPr>
        <p:spPr>
          <a:xfrm>
            <a:off x="310896" y="3236976"/>
            <a:ext cx="2286000" cy="731520"/>
          </a:xfrm>
          <a:prstGeom prst="rect">
            <a:avLst/>
          </a:prstGeom>
          <a:noFill/>
          <a:ln/>
        </p:spPr>
        <p:txBody>
          <a:bodyPr wrap="square" lIns="0" tIns="0" rIns="0" bIns="0" rtlCol="0" anchor="t"/>
          <a:lstStyle/>
          <a:p>
            <a:pPr indent="0" marL="0">
              <a:lnSpc>
                <a:spcPts val="1150"/>
              </a:lnSpc>
              <a:buNone/>
            </a:pPr>
            <a:r>
              <a:rPr lang="en-US" sz="950" b="1" dirty="0">
                <a:solidFill>
                  <a:srgbClr val="111111"/>
                </a:solidFill>
                <a:latin typeface="Calibri" pitchFamily="34" charset="0"/>
                <a:ea typeface="Calibri" pitchFamily="34" charset="-122"/>
                <a:cs typeface="Calibri" pitchFamily="34" charset="-120"/>
              </a:rPr>
              <a:t>TLEs carry no covariance</a:t>
            </a:r>
            <a:endParaRPr lang="en-US" sz="950" dirty="0"/>
          </a:p>
        </p:txBody>
      </p:sp>
      <p:sp>
        <p:nvSpPr>
          <p:cNvPr id="35" name="Text 32"/>
          <p:cNvSpPr/>
          <p:nvPr/>
        </p:nvSpPr>
        <p:spPr>
          <a:xfrm>
            <a:off x="2706624" y="3236976"/>
            <a:ext cx="3108960" cy="73152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The 1σ uncertainty behind collision probability has to be assumed, and the ranking rests on it.</a:t>
            </a:r>
            <a:endParaRPr lang="en-US" sz="950" dirty="0"/>
          </a:p>
        </p:txBody>
      </p:sp>
      <p:sp>
        <p:nvSpPr>
          <p:cNvPr id="36" name="Text 33"/>
          <p:cNvSpPr/>
          <p:nvPr/>
        </p:nvSpPr>
        <p:spPr>
          <a:xfrm>
            <a:off x="5925312" y="3236976"/>
            <a:ext cx="4700016" cy="73152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Disclosed at every point of use and exposed as a control you can sweep. Exported CDMs declare COVARIANCE_METHOD = DEFAULT. A measured path — successive TLE differencing — is implemented and recovers a known perturbation to 1.00×.</a:t>
            </a:r>
            <a:endParaRPr lang="en-US" sz="950" dirty="0"/>
          </a:p>
        </p:txBody>
      </p:sp>
      <p:sp>
        <p:nvSpPr>
          <p:cNvPr id="37" name="Shape 34"/>
          <p:cNvSpPr/>
          <p:nvPr/>
        </p:nvSpPr>
        <p:spPr>
          <a:xfrm>
            <a:off x="310896" y="3968496"/>
            <a:ext cx="10058400" cy="0"/>
          </a:xfrm>
          <a:prstGeom prst="line">
            <a:avLst/>
          </a:prstGeom>
          <a:noFill/>
          <a:ln w="9525">
            <a:solidFill>
              <a:srgbClr val="EAEEF3"/>
            </a:solidFill>
            <a:prstDash val="solid"/>
          </a:ln>
        </p:spPr>
      </p:sp>
      <p:sp>
        <p:nvSpPr>
          <p:cNvPr id="38" name="Text 35"/>
          <p:cNvSpPr/>
          <p:nvPr/>
        </p:nvSpPr>
        <p:spPr>
          <a:xfrm>
            <a:off x="310896" y="4023360"/>
            <a:ext cx="2286000" cy="731520"/>
          </a:xfrm>
          <a:prstGeom prst="rect">
            <a:avLst/>
          </a:prstGeom>
          <a:noFill/>
          <a:ln/>
        </p:spPr>
        <p:txBody>
          <a:bodyPr wrap="square" lIns="0" tIns="0" rIns="0" bIns="0" rtlCol="0" anchor="t"/>
          <a:lstStyle/>
          <a:p>
            <a:pPr indent="0" marL="0">
              <a:lnSpc>
                <a:spcPts val="1150"/>
              </a:lnSpc>
              <a:buNone/>
            </a:pPr>
            <a:r>
              <a:rPr lang="en-US" sz="950" b="1" dirty="0">
                <a:solidFill>
                  <a:srgbClr val="111111"/>
                </a:solidFill>
                <a:latin typeface="Calibri" pitchFamily="34" charset="0"/>
                <a:ea typeface="Calibri" pitchFamily="34" charset="-122"/>
                <a:cs typeface="Calibri" pitchFamily="34" charset="-120"/>
              </a:rPr>
              <a:t>Screening a full 30,000-object catalogue</a:t>
            </a:r>
            <a:endParaRPr lang="en-US" sz="950" dirty="0"/>
          </a:p>
        </p:txBody>
      </p:sp>
      <p:sp>
        <p:nvSpPr>
          <p:cNvPr id="39" name="Text 36"/>
          <p:cNvSpPr/>
          <p:nvPr/>
        </p:nvSpPr>
        <p:spPr>
          <a:xfrm>
            <a:off x="2706624" y="4023360"/>
            <a:ext cx="3108960" cy="73152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All-pairs cost grows quadratically; a naive screen would not finish.</a:t>
            </a:r>
            <a:endParaRPr lang="en-US" sz="950" dirty="0"/>
          </a:p>
        </p:txBody>
      </p:sp>
      <p:sp>
        <p:nvSpPr>
          <p:cNvPr id="40" name="Text 37"/>
          <p:cNvSpPr/>
          <p:nvPr/>
        </p:nvSpPr>
        <p:spPr>
          <a:xfrm>
            <a:off x="5925312" y="4023360"/>
            <a:ext cx="4700016" cy="73152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Cascade measured at exponent ≈1.73 — 1.70–1.74 across runs, since it is fitted to elapsed times — so sub-quadratic. Next step is spatial binning per time step instead of a pair loop.</a:t>
            </a:r>
            <a:endParaRPr lang="en-US" sz="950" dirty="0"/>
          </a:p>
        </p:txBody>
      </p:sp>
      <p:sp>
        <p:nvSpPr>
          <p:cNvPr id="41" name="Shape 38"/>
          <p:cNvSpPr/>
          <p:nvPr/>
        </p:nvSpPr>
        <p:spPr>
          <a:xfrm>
            <a:off x="310896" y="4754880"/>
            <a:ext cx="10058400" cy="0"/>
          </a:xfrm>
          <a:prstGeom prst="line">
            <a:avLst/>
          </a:prstGeom>
          <a:noFill/>
          <a:ln w="9525">
            <a:solidFill>
              <a:srgbClr val="EAEEF3"/>
            </a:solidFill>
            <a:prstDash val="solid"/>
          </a:ln>
        </p:spPr>
      </p:sp>
      <p:sp>
        <p:nvSpPr>
          <p:cNvPr id="42" name="Text 39"/>
          <p:cNvSpPr/>
          <p:nvPr/>
        </p:nvSpPr>
        <p:spPr>
          <a:xfrm>
            <a:off x="310896" y="4809744"/>
            <a:ext cx="2286000" cy="731520"/>
          </a:xfrm>
          <a:prstGeom prst="rect">
            <a:avLst/>
          </a:prstGeom>
          <a:noFill/>
          <a:ln/>
        </p:spPr>
        <p:txBody>
          <a:bodyPr wrap="square" lIns="0" tIns="0" rIns="0" bIns="0" rtlCol="0" anchor="t"/>
          <a:lstStyle/>
          <a:p>
            <a:pPr indent="0" marL="0">
              <a:lnSpc>
                <a:spcPts val="1150"/>
              </a:lnSpc>
              <a:buNone/>
            </a:pPr>
            <a:r>
              <a:rPr lang="en-US" sz="950" b="1" dirty="0">
                <a:solidFill>
                  <a:srgbClr val="111111"/>
                </a:solidFill>
                <a:latin typeface="Calibri" pitchFamily="34" charset="0"/>
                <a:ea typeface="Calibri" pitchFamily="34" charset="-122"/>
                <a:cs typeface="Calibri" pitchFamily="34" charset="-120"/>
              </a:rPr>
              <a:t>SGP4 drifts away from its epoch</a:t>
            </a:r>
            <a:endParaRPr lang="en-US" sz="950" dirty="0"/>
          </a:p>
        </p:txBody>
      </p:sp>
      <p:sp>
        <p:nvSpPr>
          <p:cNvPr id="43" name="Text 40"/>
          <p:cNvSpPr/>
          <p:nvPr/>
        </p:nvSpPr>
        <p:spPr>
          <a:xfrm>
            <a:off x="2706624" y="4809744"/>
            <a:ext cx="3108960" cy="73152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Element sets are only trustworthy near the time they were fitted.</a:t>
            </a:r>
            <a:endParaRPr lang="en-US" sz="950" dirty="0"/>
          </a:p>
        </p:txBody>
      </p:sp>
      <p:sp>
        <p:nvSpPr>
          <p:cNvPr id="44" name="Text 41"/>
          <p:cNvSpPr/>
          <p:nvPr/>
        </p:nvSpPr>
        <p:spPr>
          <a:xfrm>
            <a:off x="5925312" y="4809744"/>
            <a:ext cx="4700016" cy="73152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Element-set age is shown per object, feeds the uncertainty model, and the console clock is anchored to the snapshot instant rather than the wall clock.</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219456" y="146304"/>
            <a:ext cx="1060704" cy="566928"/>
          </a:xfrm>
          <a:prstGeom prst="ellipse">
            <a:avLst/>
          </a:prstGeom>
          <a:solidFill>
            <a:srgbClr val="FFFFFF"/>
          </a:solidFill>
          <a:ln w="12700">
            <a:solidFill>
              <a:srgbClr val="B4A3C8"/>
            </a:solidFill>
            <a:prstDash val="solid"/>
          </a:ln>
        </p:spPr>
      </p:sp>
      <p:sp>
        <p:nvSpPr>
          <p:cNvPr id="3" name="Text 1"/>
          <p:cNvSpPr/>
          <p:nvPr/>
        </p:nvSpPr>
        <p:spPr>
          <a:xfrm>
            <a:off x="219456" y="146304"/>
            <a:ext cx="1060704" cy="566928"/>
          </a:xfrm>
          <a:prstGeom prst="rect">
            <a:avLst/>
          </a:prstGeom>
          <a:noFill/>
          <a:ln/>
        </p:spPr>
        <p:txBody>
          <a:bodyPr wrap="square" lIns="0" tIns="0" rIns="0" bIns="0" rtlCol="0" anchor="ctr"/>
          <a:lstStyle/>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Team</a:t>
            </a:r>
            <a:endParaRPr lang="en-US" sz="1050" dirty="0"/>
          </a:p>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Name</a:t>
            </a:r>
            <a:endParaRPr lang="en-US" sz="1050" dirty="0"/>
          </a:p>
        </p:txBody>
      </p:sp>
      <p:sp>
        <p:nvSpPr>
          <p:cNvPr id="4" name="Text 2"/>
          <p:cNvSpPr/>
          <p:nvPr/>
        </p:nvSpPr>
        <p:spPr>
          <a:xfrm>
            <a:off x="1389888" y="146304"/>
            <a:ext cx="7059168" cy="585216"/>
          </a:xfrm>
          <a:prstGeom prst="rect">
            <a:avLst/>
          </a:prstGeom>
          <a:noFill/>
          <a:ln/>
        </p:spPr>
        <p:txBody>
          <a:bodyPr wrap="square" lIns="0" tIns="0" rIns="0" bIns="0" rtlCol="0" anchor="ctr"/>
          <a:lstStyle/>
          <a:p>
            <a:pPr algn="ctr" indent="0" marL="0">
              <a:buNone/>
            </a:pPr>
            <a:r>
              <a:rPr lang="en-US" sz="2700" b="1" dirty="0">
                <a:solidFill>
                  <a:srgbClr val="111111"/>
                </a:solidFill>
                <a:latin typeface="Calibri" pitchFamily="34" charset="0"/>
                <a:ea typeface="Calibri" pitchFamily="34" charset="-122"/>
                <a:cs typeface="Calibri" pitchFamily="34" charset="-120"/>
              </a:rPr>
              <a:t>IMPACT AND BENEFITS</a:t>
            </a:r>
            <a:endParaRPr lang="en-US" sz="2700" dirty="0"/>
          </a:p>
        </p:txBody>
      </p:sp>
      <p:pic>
        <p:nvPicPr>
          <p:cNvPr id="5" name="Image 0" descr="preencoded.png">    </p:cNvPr>
          <p:cNvPicPr>
            <a:picLocks noChangeAspect="1"/>
          </p:cNvPicPr>
          <p:nvPr/>
        </p:nvPicPr>
        <p:blipFill>
          <a:blip r:embed="rId1"/>
          <a:stretch>
            <a:fillRect/>
          </a:stretch>
        </p:blipFill>
        <p:spPr>
          <a:xfrm>
            <a:off x="8796528" y="137160"/>
            <a:ext cx="517434" cy="566928"/>
          </a:xfrm>
          <a:prstGeom prst="rect">
            <a:avLst/>
          </a:prstGeom>
        </p:spPr>
      </p:pic>
      <p:sp>
        <p:nvSpPr>
          <p:cNvPr id="6" name="Text 3"/>
          <p:cNvSpPr/>
          <p:nvPr/>
        </p:nvSpPr>
        <p:spPr>
          <a:xfrm>
            <a:off x="9400032" y="146304"/>
            <a:ext cx="1115568" cy="548640"/>
          </a:xfrm>
          <a:prstGeom prst="rect">
            <a:avLst/>
          </a:prstGeom>
          <a:noFill/>
          <a:ln/>
        </p:spPr>
        <p:txBody>
          <a:bodyPr wrap="square" lIns="0" tIns="0" rIns="0" bIns="0" rtlCol="0" anchor="ctr"/>
          <a:lstStyle/>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SMART INDIA</a:t>
            </a:r>
            <a:endParaRPr lang="en-US" sz="950" dirty="0"/>
          </a:p>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HACKATHON 2026</a:t>
            </a:r>
            <a:endParaRPr lang="en-US" sz="950" dirty="0"/>
          </a:p>
        </p:txBody>
      </p:sp>
      <p:sp>
        <p:nvSpPr>
          <p:cNvPr id="7" name="Shape 4"/>
          <p:cNvSpPr/>
          <p:nvPr/>
        </p:nvSpPr>
        <p:spPr>
          <a:xfrm>
            <a:off x="0" y="5708599"/>
            <a:ext cx="10692994" cy="310896"/>
          </a:xfrm>
          <a:prstGeom prst="rect">
            <a:avLst/>
          </a:prstGeom>
          <a:solidFill>
            <a:srgbClr val="0070C0"/>
          </a:solidFill>
          <a:ln/>
        </p:spPr>
      </p:sp>
      <p:sp>
        <p:nvSpPr>
          <p:cNvPr id="8" name="Text 5"/>
          <p:cNvSpPr/>
          <p:nvPr/>
        </p:nvSpPr>
        <p:spPr>
          <a:xfrm>
            <a:off x="3200400" y="5708599"/>
            <a:ext cx="429768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@SIH Idea submission- Template</a:t>
            </a:r>
            <a:endParaRPr lang="en-US" sz="1050" dirty="0"/>
          </a:p>
        </p:txBody>
      </p:sp>
      <p:sp>
        <p:nvSpPr>
          <p:cNvPr id="9" name="Text 6"/>
          <p:cNvSpPr/>
          <p:nvPr/>
        </p:nvSpPr>
        <p:spPr>
          <a:xfrm>
            <a:off x="9915754" y="5708599"/>
            <a:ext cx="457200"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0" name="Text 7"/>
          <p:cNvSpPr/>
          <p:nvPr/>
        </p:nvSpPr>
        <p:spPr>
          <a:xfrm>
            <a:off x="310896" y="896112"/>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11" name="Text 8"/>
          <p:cNvSpPr/>
          <p:nvPr/>
        </p:nvSpPr>
        <p:spPr>
          <a:xfrm>
            <a:off x="621792" y="896112"/>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Potential impact on the target audience</a:t>
            </a:r>
            <a:endParaRPr lang="en-US" sz="1650" dirty="0"/>
          </a:p>
        </p:txBody>
      </p:sp>
      <p:sp>
        <p:nvSpPr>
          <p:cNvPr id="12" name="Shape 9"/>
          <p:cNvSpPr/>
          <p:nvPr/>
        </p:nvSpPr>
        <p:spPr>
          <a:xfrm>
            <a:off x="310896" y="1298448"/>
            <a:ext cx="10058400" cy="1097280"/>
          </a:xfrm>
          <a:prstGeom prst="roundRect">
            <a:avLst>
              <a:gd name="adj" fmla="val 2500"/>
            </a:avLst>
          </a:prstGeom>
          <a:solidFill>
            <a:srgbClr val="FFFFFF"/>
          </a:solidFill>
          <a:ln w="9525">
            <a:solidFill>
              <a:srgbClr val="D4DAE2"/>
            </a:solidFill>
            <a:prstDash val="solid"/>
          </a:ln>
        </p:spPr>
      </p:sp>
      <p:sp>
        <p:nvSpPr>
          <p:cNvPr id="13" name="Text 10"/>
          <p:cNvSpPr/>
          <p:nvPr/>
        </p:nvSpPr>
        <p:spPr>
          <a:xfrm>
            <a:off x="457200" y="1426464"/>
            <a:ext cx="566928" cy="219456"/>
          </a:xfrm>
          <a:prstGeom prst="rect">
            <a:avLst/>
          </a:prstGeom>
          <a:solidFill>
            <a:srgbClr val="B25E0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HIGH</a:t>
            </a:r>
            <a:endParaRPr lang="en-US" sz="950" dirty="0"/>
          </a:p>
        </p:txBody>
      </p:sp>
      <p:sp>
        <p:nvSpPr>
          <p:cNvPr id="14" name="Text 11"/>
          <p:cNvSpPr/>
          <p:nvPr/>
        </p:nvSpPr>
        <p:spPr>
          <a:xfrm>
            <a:off x="1133856" y="1389888"/>
            <a:ext cx="4297680" cy="292608"/>
          </a:xfrm>
          <a:prstGeom prst="rect">
            <a:avLst/>
          </a:prstGeom>
          <a:noFill/>
          <a:ln/>
        </p:spPr>
        <p:txBody>
          <a:bodyPr wrap="square" lIns="0" tIns="0" rIns="0" bIns="0" rtlCol="0" anchor="ctr"/>
          <a:lstStyle/>
          <a:p>
            <a:pPr indent="0" marL="0">
              <a:buNone/>
            </a:pPr>
            <a:r>
              <a:rPr lang="en-US" sz="1550" b="1" dirty="0">
                <a:solidFill>
                  <a:srgbClr val="111111"/>
                </a:solidFill>
                <a:latin typeface="Calibri" pitchFamily="34" charset="0"/>
                <a:ea typeface="Calibri" pitchFamily="34" charset="-122"/>
                <a:cs typeface="Calibri" pitchFamily="34" charset="-120"/>
              </a:rPr>
              <a:t>CARTOSAT-2C  ×  COSMOS 2251 DEB</a:t>
            </a:r>
            <a:endParaRPr lang="en-US" sz="1550" dirty="0"/>
          </a:p>
        </p:txBody>
      </p:sp>
      <p:sp>
        <p:nvSpPr>
          <p:cNvPr id="15" name="Text 12"/>
          <p:cNvSpPr/>
          <p:nvPr/>
        </p:nvSpPr>
        <p:spPr>
          <a:xfrm>
            <a:off x="1133856" y="1737360"/>
            <a:ext cx="4572000" cy="512064"/>
          </a:xfrm>
          <a:prstGeom prst="rect">
            <a:avLst/>
          </a:prstGeom>
          <a:noFill/>
          <a:ln/>
        </p:spPr>
        <p:txBody>
          <a:bodyPr wrap="square" lIns="0" tIns="0" rIns="0" bIns="0" rtlCol="0" anchor="ctr"/>
          <a:lstStyle/>
          <a:p>
            <a:pPr indent="0" marL="0">
              <a:lnSpc>
                <a:spcPts val="1200"/>
              </a:lnSpc>
              <a:buNone/>
            </a:pPr>
            <a:r>
              <a:rPr lang="en-US" sz="1000" dirty="0">
                <a:solidFill>
                  <a:srgbClr val="333333"/>
                </a:solidFill>
                <a:latin typeface="Calibri" pitchFamily="34" charset="0"/>
                <a:ea typeface="Calibri" pitchFamily="34" charset="-122"/>
                <a:cs typeface="Calibri" pitchFamily="34" charset="-120"/>
              </a:rPr>
              <a:t>An ISRO earth-observation satellite against a fragment of the 2009 Iridium 33 / Cosmos 2251 collision — found by our engine in a 72-hour screening run.</a:t>
            </a:r>
            <a:endParaRPr lang="en-US" sz="1000" dirty="0"/>
          </a:p>
        </p:txBody>
      </p:sp>
      <p:sp>
        <p:nvSpPr>
          <p:cNvPr id="16" name="Text 13"/>
          <p:cNvSpPr/>
          <p:nvPr/>
        </p:nvSpPr>
        <p:spPr>
          <a:xfrm>
            <a:off x="5888736" y="1426464"/>
            <a:ext cx="1097280" cy="292608"/>
          </a:xfrm>
          <a:prstGeom prst="rect">
            <a:avLst/>
          </a:prstGeom>
          <a:noFill/>
          <a:ln/>
        </p:spPr>
        <p:txBody>
          <a:bodyPr wrap="square" lIns="0" tIns="0" rIns="0" bIns="0" rtlCol="0" anchor="ctr"/>
          <a:lstStyle/>
          <a:p>
            <a:pPr indent="0" marL="0">
              <a:buNone/>
            </a:pPr>
            <a:r>
              <a:rPr lang="en-US" sz="1400" b="1" dirty="0">
                <a:solidFill>
                  <a:srgbClr val="1F497D"/>
                </a:solidFill>
                <a:latin typeface="Arial" pitchFamily="34" charset="0"/>
                <a:ea typeface="Arial" pitchFamily="34" charset="-122"/>
                <a:cs typeface="Arial" pitchFamily="34" charset="-120"/>
              </a:rPr>
              <a:t>1.911 km</a:t>
            </a:r>
            <a:endParaRPr lang="en-US" sz="1400" dirty="0"/>
          </a:p>
        </p:txBody>
      </p:sp>
      <p:sp>
        <p:nvSpPr>
          <p:cNvPr id="17" name="Text 14"/>
          <p:cNvSpPr/>
          <p:nvPr/>
        </p:nvSpPr>
        <p:spPr>
          <a:xfrm>
            <a:off x="5888736" y="1737360"/>
            <a:ext cx="1097280" cy="384048"/>
          </a:xfrm>
          <a:prstGeom prst="rect">
            <a:avLst/>
          </a:prstGeom>
          <a:noFill/>
          <a:ln/>
        </p:spPr>
        <p:txBody>
          <a:bodyPr wrap="square" lIns="0" tIns="0" rIns="0" bIns="0" rtlCol="0" anchor="ctr"/>
          <a:lstStyle/>
          <a:p>
            <a:pPr indent="0" marL="0">
              <a:lnSpc>
                <a:spcPts val="1050"/>
              </a:lnSpc>
              <a:buNone/>
            </a:pPr>
            <a:r>
              <a:rPr lang="en-US" sz="900" dirty="0">
                <a:solidFill>
                  <a:srgbClr val="5A6673"/>
                </a:solidFill>
                <a:latin typeface="Calibri" pitchFamily="34" charset="0"/>
                <a:ea typeface="Calibri" pitchFamily="34" charset="-122"/>
                <a:cs typeface="Calibri" pitchFamily="34" charset="-120"/>
              </a:rPr>
              <a:t>Miss distance</a:t>
            </a:r>
            <a:endParaRPr lang="en-US" sz="900" dirty="0"/>
          </a:p>
        </p:txBody>
      </p:sp>
      <p:sp>
        <p:nvSpPr>
          <p:cNvPr id="18" name="Text 15"/>
          <p:cNvSpPr/>
          <p:nvPr/>
        </p:nvSpPr>
        <p:spPr>
          <a:xfrm>
            <a:off x="7022592" y="1426464"/>
            <a:ext cx="1097280" cy="292608"/>
          </a:xfrm>
          <a:prstGeom prst="rect">
            <a:avLst/>
          </a:prstGeom>
          <a:noFill/>
          <a:ln/>
        </p:spPr>
        <p:txBody>
          <a:bodyPr wrap="square" lIns="0" tIns="0" rIns="0" bIns="0" rtlCol="0" anchor="ctr"/>
          <a:lstStyle/>
          <a:p>
            <a:pPr indent="0" marL="0">
              <a:buNone/>
            </a:pPr>
            <a:r>
              <a:rPr lang="en-US" sz="1400" b="1" dirty="0">
                <a:solidFill>
                  <a:srgbClr val="1F497D"/>
                </a:solidFill>
                <a:latin typeface="Arial" pitchFamily="34" charset="0"/>
                <a:ea typeface="Arial" pitchFamily="34" charset="-122"/>
                <a:cs typeface="Arial" pitchFamily="34" charset="-120"/>
              </a:rPr>
              <a:t>4.834 km/s</a:t>
            </a:r>
            <a:endParaRPr lang="en-US" sz="1400" dirty="0"/>
          </a:p>
        </p:txBody>
      </p:sp>
      <p:sp>
        <p:nvSpPr>
          <p:cNvPr id="19" name="Text 16"/>
          <p:cNvSpPr/>
          <p:nvPr/>
        </p:nvSpPr>
        <p:spPr>
          <a:xfrm>
            <a:off x="7022592" y="1737360"/>
            <a:ext cx="1097280" cy="384048"/>
          </a:xfrm>
          <a:prstGeom prst="rect">
            <a:avLst/>
          </a:prstGeom>
          <a:noFill/>
          <a:ln/>
        </p:spPr>
        <p:txBody>
          <a:bodyPr wrap="square" lIns="0" tIns="0" rIns="0" bIns="0" rtlCol="0" anchor="ctr"/>
          <a:lstStyle/>
          <a:p>
            <a:pPr indent="0" marL="0">
              <a:lnSpc>
                <a:spcPts val="1050"/>
              </a:lnSpc>
              <a:buNone/>
            </a:pPr>
            <a:r>
              <a:rPr lang="en-US" sz="900" dirty="0">
                <a:solidFill>
                  <a:srgbClr val="5A6673"/>
                </a:solidFill>
                <a:latin typeface="Calibri" pitchFamily="34" charset="0"/>
                <a:ea typeface="Calibri" pitchFamily="34" charset="-122"/>
                <a:cs typeface="Calibri" pitchFamily="34" charset="-120"/>
              </a:rPr>
              <a:t>Closing speed</a:t>
            </a:r>
            <a:endParaRPr lang="en-US" sz="900" dirty="0"/>
          </a:p>
        </p:txBody>
      </p:sp>
      <p:sp>
        <p:nvSpPr>
          <p:cNvPr id="20" name="Text 17"/>
          <p:cNvSpPr/>
          <p:nvPr/>
        </p:nvSpPr>
        <p:spPr>
          <a:xfrm>
            <a:off x="8156448" y="1426464"/>
            <a:ext cx="1097280" cy="292608"/>
          </a:xfrm>
          <a:prstGeom prst="rect">
            <a:avLst/>
          </a:prstGeom>
          <a:noFill/>
          <a:ln/>
        </p:spPr>
        <p:txBody>
          <a:bodyPr wrap="square" lIns="0" tIns="0" rIns="0" bIns="0" rtlCol="0" anchor="ctr"/>
          <a:lstStyle/>
          <a:p>
            <a:pPr indent="0" marL="0">
              <a:buNone/>
            </a:pPr>
            <a:r>
              <a:rPr lang="en-US" sz="1400" b="1" dirty="0">
                <a:solidFill>
                  <a:srgbClr val="B25E00"/>
                </a:solidFill>
                <a:latin typeface="Arial" pitchFamily="34" charset="0"/>
                <a:ea typeface="Arial" pitchFamily="34" charset="-122"/>
                <a:cs typeface="Arial" pitchFamily="34" charset="-120"/>
              </a:rPr>
              <a:t>4.9×10⁻⁴</a:t>
            </a:r>
            <a:endParaRPr lang="en-US" sz="1400" dirty="0"/>
          </a:p>
        </p:txBody>
      </p:sp>
      <p:sp>
        <p:nvSpPr>
          <p:cNvPr id="21" name="Text 18"/>
          <p:cNvSpPr/>
          <p:nvPr/>
        </p:nvSpPr>
        <p:spPr>
          <a:xfrm>
            <a:off x="8156448" y="1737360"/>
            <a:ext cx="1097280" cy="384048"/>
          </a:xfrm>
          <a:prstGeom prst="rect">
            <a:avLst/>
          </a:prstGeom>
          <a:noFill/>
          <a:ln/>
        </p:spPr>
        <p:txBody>
          <a:bodyPr wrap="square" lIns="0" tIns="0" rIns="0" bIns="0" rtlCol="0" anchor="ctr"/>
          <a:lstStyle/>
          <a:p>
            <a:pPr indent="0" marL="0">
              <a:lnSpc>
                <a:spcPts val="1050"/>
              </a:lnSpc>
              <a:buNone/>
            </a:pPr>
            <a:r>
              <a:rPr lang="en-US" sz="900" dirty="0">
                <a:solidFill>
                  <a:srgbClr val="5A6673"/>
                </a:solidFill>
                <a:latin typeface="Calibri" pitchFamily="34" charset="0"/>
                <a:ea typeface="Calibri" pitchFamily="34" charset="-122"/>
                <a:cs typeface="Calibri" pitchFamily="34" charset="-120"/>
              </a:rPr>
              <a:t>Collision probability</a:t>
            </a:r>
            <a:endParaRPr lang="en-US" sz="900" dirty="0"/>
          </a:p>
        </p:txBody>
      </p:sp>
      <p:sp>
        <p:nvSpPr>
          <p:cNvPr id="22" name="Text 19"/>
          <p:cNvSpPr/>
          <p:nvPr/>
        </p:nvSpPr>
        <p:spPr>
          <a:xfrm>
            <a:off x="9290304" y="1426464"/>
            <a:ext cx="1097280" cy="292608"/>
          </a:xfrm>
          <a:prstGeom prst="rect">
            <a:avLst/>
          </a:prstGeom>
          <a:noFill/>
          <a:ln/>
        </p:spPr>
        <p:txBody>
          <a:bodyPr wrap="square" lIns="0" tIns="0" rIns="0" bIns="0" rtlCol="0" anchor="ctr"/>
          <a:lstStyle/>
          <a:p>
            <a:pPr indent="0" marL="0">
              <a:buNone/>
            </a:pPr>
            <a:r>
              <a:rPr lang="en-US" sz="1400" b="1" dirty="0">
                <a:solidFill>
                  <a:srgbClr val="1E7A4C"/>
                </a:solidFill>
                <a:latin typeface="Arial" pitchFamily="34" charset="0"/>
                <a:ea typeface="Arial" pitchFamily="34" charset="-122"/>
                <a:cs typeface="Arial" pitchFamily="34" charset="-120"/>
              </a:rPr>
              <a:t>3.16 km</a:t>
            </a:r>
            <a:endParaRPr lang="en-US" sz="1400" dirty="0"/>
          </a:p>
        </p:txBody>
      </p:sp>
      <p:sp>
        <p:nvSpPr>
          <p:cNvPr id="23" name="Text 20"/>
          <p:cNvSpPr/>
          <p:nvPr/>
        </p:nvSpPr>
        <p:spPr>
          <a:xfrm>
            <a:off x="9290304" y="1737360"/>
            <a:ext cx="1097280" cy="384048"/>
          </a:xfrm>
          <a:prstGeom prst="rect">
            <a:avLst/>
          </a:prstGeom>
          <a:noFill/>
          <a:ln/>
        </p:spPr>
        <p:txBody>
          <a:bodyPr wrap="square" lIns="0" tIns="0" rIns="0" bIns="0" rtlCol="0" anchor="ctr"/>
          <a:lstStyle/>
          <a:p>
            <a:pPr indent="0" marL="0">
              <a:lnSpc>
                <a:spcPts val="1050"/>
              </a:lnSpc>
              <a:buNone/>
            </a:pPr>
            <a:r>
              <a:rPr lang="en-US" sz="900" dirty="0">
                <a:solidFill>
                  <a:srgbClr val="5A6673"/>
                </a:solidFill>
                <a:latin typeface="Calibri" pitchFamily="34" charset="0"/>
                <a:ea typeface="Calibri" pitchFamily="34" charset="-122"/>
                <a:cs typeface="Calibri" pitchFamily="34" charset="-120"/>
              </a:rPr>
              <a:t>Would drop it a band</a:t>
            </a:r>
            <a:endParaRPr lang="en-US" sz="900" dirty="0"/>
          </a:p>
        </p:txBody>
      </p:sp>
      <p:sp>
        <p:nvSpPr>
          <p:cNvPr id="24" name="Shape 21"/>
          <p:cNvSpPr/>
          <p:nvPr/>
        </p:nvSpPr>
        <p:spPr>
          <a:xfrm>
            <a:off x="310896" y="2523744"/>
            <a:ext cx="3255264" cy="969264"/>
          </a:xfrm>
          <a:prstGeom prst="roundRect">
            <a:avLst>
              <a:gd name="adj" fmla="val 2830"/>
            </a:avLst>
          </a:prstGeom>
          <a:solidFill>
            <a:srgbClr val="F2F6FA"/>
          </a:solidFill>
          <a:ln w="9525">
            <a:solidFill>
              <a:srgbClr val="D4DAE2"/>
            </a:solidFill>
            <a:prstDash val="solid"/>
          </a:ln>
        </p:spPr>
      </p:sp>
      <p:sp>
        <p:nvSpPr>
          <p:cNvPr id="25" name="Text 22"/>
          <p:cNvSpPr/>
          <p:nvPr/>
        </p:nvSpPr>
        <p:spPr>
          <a:xfrm>
            <a:off x="457200" y="2633472"/>
            <a:ext cx="2962656" cy="237744"/>
          </a:xfrm>
          <a:prstGeom prst="rect">
            <a:avLst/>
          </a:prstGeom>
          <a:noFill/>
          <a:ln/>
        </p:spPr>
        <p:txBody>
          <a:bodyPr wrap="square" lIns="0" tIns="0" rIns="0" bIns="0" rtlCol="0" anchor="ctr"/>
          <a:lstStyle/>
          <a:p>
            <a:pPr indent="0" marL="0">
              <a:buNone/>
            </a:pPr>
            <a:r>
              <a:rPr lang="en-US" sz="1100" b="1" dirty="0">
                <a:solidFill>
                  <a:srgbClr val="1F497D"/>
                </a:solidFill>
                <a:latin typeface="Calibri" pitchFamily="34" charset="0"/>
                <a:ea typeface="Calibri" pitchFamily="34" charset="-122"/>
                <a:cs typeface="Calibri" pitchFamily="34" charset="-120"/>
              </a:rPr>
              <a:t>ISRO / IS4OM</a:t>
            </a:r>
            <a:endParaRPr lang="en-US" sz="1100" dirty="0"/>
          </a:p>
        </p:txBody>
      </p:sp>
      <p:sp>
        <p:nvSpPr>
          <p:cNvPr id="26" name="Text 23"/>
          <p:cNvSpPr/>
          <p:nvPr/>
        </p:nvSpPr>
        <p:spPr>
          <a:xfrm>
            <a:off x="457200" y="2889504"/>
            <a:ext cx="2999232" cy="530352"/>
          </a:xfrm>
          <a:prstGeom prst="rect">
            <a:avLst/>
          </a:prstGeom>
          <a:noFill/>
          <a:ln/>
        </p:spPr>
        <p:txBody>
          <a:bodyPr wrap="square" lIns="0" tIns="0" rIns="0" bIns="0" rtlCol="0" anchor="ctr"/>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A triage layer over the 53,000 alerts already arriving each year — and a second opinion that states its own uncertainty.</a:t>
            </a:r>
            <a:endParaRPr lang="en-US" sz="950" dirty="0"/>
          </a:p>
        </p:txBody>
      </p:sp>
      <p:sp>
        <p:nvSpPr>
          <p:cNvPr id="27" name="Shape 24"/>
          <p:cNvSpPr/>
          <p:nvPr/>
        </p:nvSpPr>
        <p:spPr>
          <a:xfrm>
            <a:off x="3712464" y="2523744"/>
            <a:ext cx="3255264" cy="969264"/>
          </a:xfrm>
          <a:prstGeom prst="roundRect">
            <a:avLst>
              <a:gd name="adj" fmla="val 2830"/>
            </a:avLst>
          </a:prstGeom>
          <a:solidFill>
            <a:srgbClr val="F2F6FA"/>
          </a:solidFill>
          <a:ln w="9525">
            <a:solidFill>
              <a:srgbClr val="D4DAE2"/>
            </a:solidFill>
            <a:prstDash val="solid"/>
          </a:ln>
        </p:spPr>
      </p:sp>
      <p:sp>
        <p:nvSpPr>
          <p:cNvPr id="28" name="Text 25"/>
          <p:cNvSpPr/>
          <p:nvPr/>
        </p:nvSpPr>
        <p:spPr>
          <a:xfrm>
            <a:off x="3858768" y="2633472"/>
            <a:ext cx="2962656" cy="237744"/>
          </a:xfrm>
          <a:prstGeom prst="rect">
            <a:avLst/>
          </a:prstGeom>
          <a:noFill/>
          <a:ln/>
        </p:spPr>
        <p:txBody>
          <a:bodyPr wrap="square" lIns="0" tIns="0" rIns="0" bIns="0" rtlCol="0" anchor="ctr"/>
          <a:lstStyle/>
          <a:p>
            <a:pPr indent="0" marL="0">
              <a:buNone/>
            </a:pPr>
            <a:r>
              <a:rPr lang="en-US" sz="1100" b="1" dirty="0">
                <a:solidFill>
                  <a:srgbClr val="1F497D"/>
                </a:solidFill>
                <a:latin typeface="Calibri" pitchFamily="34" charset="0"/>
                <a:ea typeface="Calibri" pitchFamily="34" charset="-122"/>
                <a:cs typeface="Calibri" pitchFamily="34" charset="-120"/>
              </a:rPr>
              <a:t>Universities &amp; cubesat teams</a:t>
            </a:r>
            <a:endParaRPr lang="en-US" sz="1100" dirty="0"/>
          </a:p>
        </p:txBody>
      </p:sp>
      <p:sp>
        <p:nvSpPr>
          <p:cNvPr id="29" name="Text 26"/>
          <p:cNvSpPr/>
          <p:nvPr/>
        </p:nvSpPr>
        <p:spPr>
          <a:xfrm>
            <a:off x="3858768" y="2889504"/>
            <a:ext cx="2999232" cy="530352"/>
          </a:xfrm>
          <a:prstGeom prst="rect">
            <a:avLst/>
          </a:prstGeom>
          <a:noFill/>
          <a:ln/>
        </p:spPr>
        <p:txBody>
          <a:bodyPr wrap="square" lIns="0" tIns="0" rIns="0" bIns="0" rtlCol="0" anchor="ctr"/>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The same pipeline as a large operator, with no licence, no analyst and no procurement. This is the access gap PS-04 names.</a:t>
            </a:r>
            <a:endParaRPr lang="en-US" sz="950" dirty="0"/>
          </a:p>
        </p:txBody>
      </p:sp>
      <p:sp>
        <p:nvSpPr>
          <p:cNvPr id="30" name="Shape 27"/>
          <p:cNvSpPr/>
          <p:nvPr/>
        </p:nvSpPr>
        <p:spPr>
          <a:xfrm>
            <a:off x="7114032" y="2523744"/>
            <a:ext cx="3255264" cy="969264"/>
          </a:xfrm>
          <a:prstGeom prst="roundRect">
            <a:avLst>
              <a:gd name="adj" fmla="val 2830"/>
            </a:avLst>
          </a:prstGeom>
          <a:solidFill>
            <a:srgbClr val="F2F6FA"/>
          </a:solidFill>
          <a:ln w="9525">
            <a:solidFill>
              <a:srgbClr val="D4DAE2"/>
            </a:solidFill>
            <a:prstDash val="solid"/>
          </a:ln>
        </p:spPr>
      </p:sp>
      <p:sp>
        <p:nvSpPr>
          <p:cNvPr id="31" name="Text 28"/>
          <p:cNvSpPr/>
          <p:nvPr/>
        </p:nvSpPr>
        <p:spPr>
          <a:xfrm>
            <a:off x="7260336" y="2633472"/>
            <a:ext cx="2962656" cy="237744"/>
          </a:xfrm>
          <a:prstGeom prst="rect">
            <a:avLst/>
          </a:prstGeom>
          <a:noFill/>
          <a:ln/>
        </p:spPr>
        <p:txBody>
          <a:bodyPr wrap="square" lIns="0" tIns="0" rIns="0" bIns="0" rtlCol="0" anchor="ctr"/>
          <a:lstStyle/>
          <a:p>
            <a:pPr indent="0" marL="0">
              <a:buNone/>
            </a:pPr>
            <a:r>
              <a:rPr lang="en-US" sz="1100" b="1" dirty="0">
                <a:solidFill>
                  <a:srgbClr val="1F497D"/>
                </a:solidFill>
                <a:latin typeface="Calibri" pitchFamily="34" charset="0"/>
                <a:ea typeface="Calibri" pitchFamily="34" charset="-122"/>
                <a:cs typeface="Calibri" pitchFamily="34" charset="-120"/>
              </a:rPr>
              <a:t>Indian NewSpace startups</a:t>
            </a:r>
            <a:endParaRPr lang="en-US" sz="1100" dirty="0"/>
          </a:p>
        </p:txBody>
      </p:sp>
      <p:sp>
        <p:nvSpPr>
          <p:cNvPr id="32" name="Text 29"/>
          <p:cNvSpPr/>
          <p:nvPr/>
        </p:nvSpPr>
        <p:spPr>
          <a:xfrm>
            <a:off x="7260336" y="2889504"/>
            <a:ext cx="2999232" cy="530352"/>
          </a:xfrm>
          <a:prstGeom prst="rect">
            <a:avLst/>
          </a:prstGeom>
          <a:noFill/>
          <a:ln/>
        </p:spPr>
        <p:txBody>
          <a:bodyPr wrap="square" lIns="0" tIns="0" rIns="0" bIns="0" rtlCol="0" anchor="ctr"/>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20 of India’s 22 active LEO satellites face elevated collision risk. A first-launch operator can screen before and after deployment.</a:t>
            </a:r>
            <a:endParaRPr lang="en-US" sz="950" dirty="0"/>
          </a:p>
        </p:txBody>
      </p:sp>
      <p:sp>
        <p:nvSpPr>
          <p:cNvPr id="33" name="Text 30"/>
          <p:cNvSpPr/>
          <p:nvPr/>
        </p:nvSpPr>
        <p:spPr>
          <a:xfrm>
            <a:off x="310896" y="3639312"/>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34" name="Text 31"/>
          <p:cNvSpPr/>
          <p:nvPr/>
        </p:nvSpPr>
        <p:spPr>
          <a:xfrm>
            <a:off x="621792" y="3639312"/>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Benefits of the solution (social, economic, environmental)</a:t>
            </a:r>
            <a:endParaRPr lang="en-US" sz="1650" dirty="0"/>
          </a:p>
        </p:txBody>
      </p:sp>
      <p:sp>
        <p:nvSpPr>
          <p:cNvPr id="35" name="Shape 32"/>
          <p:cNvSpPr/>
          <p:nvPr/>
        </p:nvSpPr>
        <p:spPr>
          <a:xfrm>
            <a:off x="310896" y="4087368"/>
            <a:ext cx="91440" cy="91440"/>
          </a:xfrm>
          <a:prstGeom prst="rect">
            <a:avLst/>
          </a:prstGeom>
          <a:solidFill>
            <a:srgbClr val="1E7A4C"/>
          </a:solidFill>
          <a:ln/>
        </p:spPr>
      </p:sp>
      <p:sp>
        <p:nvSpPr>
          <p:cNvPr id="36" name="Text 33"/>
          <p:cNvSpPr/>
          <p:nvPr/>
        </p:nvSpPr>
        <p:spPr>
          <a:xfrm>
            <a:off x="493776" y="4023360"/>
            <a:ext cx="2286000" cy="219456"/>
          </a:xfrm>
          <a:prstGeom prst="rect">
            <a:avLst/>
          </a:prstGeom>
          <a:noFill/>
          <a:ln/>
        </p:spPr>
        <p:txBody>
          <a:bodyPr wrap="square" lIns="0" tIns="0" rIns="0" bIns="0" rtlCol="0" anchor="ctr"/>
          <a:lstStyle/>
          <a:p>
            <a:pPr indent="0" marL="0">
              <a:buNone/>
            </a:pPr>
            <a:r>
              <a:rPr lang="en-US" sz="950" b="1" spc="80" kern="0" dirty="0">
                <a:solidFill>
                  <a:srgbClr val="1E7A4C"/>
                </a:solidFill>
                <a:latin typeface="Calibri" pitchFamily="34" charset="0"/>
                <a:ea typeface="Calibri" pitchFamily="34" charset="-122"/>
                <a:cs typeface="Calibri" pitchFamily="34" charset="-120"/>
              </a:rPr>
              <a:t>SOCIAL</a:t>
            </a:r>
            <a:endParaRPr lang="en-US" sz="950" dirty="0"/>
          </a:p>
        </p:txBody>
      </p:sp>
      <p:sp>
        <p:nvSpPr>
          <p:cNvPr id="37" name="Text 34"/>
          <p:cNvSpPr/>
          <p:nvPr/>
        </p:nvSpPr>
        <p:spPr>
          <a:xfrm>
            <a:off x="310896" y="4261104"/>
            <a:ext cx="2450592" cy="109728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Protects the satellites behind weather warning, disaster response, crop monitoring and navigation. A lost earth-observation satellite is a lost public service.</a:t>
            </a:r>
            <a:endParaRPr lang="en-US" sz="950" dirty="0"/>
          </a:p>
        </p:txBody>
      </p:sp>
      <p:sp>
        <p:nvSpPr>
          <p:cNvPr id="38" name="Shape 35"/>
          <p:cNvSpPr/>
          <p:nvPr/>
        </p:nvSpPr>
        <p:spPr>
          <a:xfrm>
            <a:off x="2916936" y="4087368"/>
            <a:ext cx="91440" cy="91440"/>
          </a:xfrm>
          <a:prstGeom prst="rect">
            <a:avLst/>
          </a:prstGeom>
          <a:solidFill>
            <a:srgbClr val="1F497D"/>
          </a:solidFill>
          <a:ln/>
        </p:spPr>
      </p:sp>
      <p:sp>
        <p:nvSpPr>
          <p:cNvPr id="39" name="Text 36"/>
          <p:cNvSpPr/>
          <p:nvPr/>
        </p:nvSpPr>
        <p:spPr>
          <a:xfrm>
            <a:off x="3099816" y="4023360"/>
            <a:ext cx="2286000" cy="219456"/>
          </a:xfrm>
          <a:prstGeom prst="rect">
            <a:avLst/>
          </a:prstGeom>
          <a:noFill/>
          <a:ln/>
        </p:spPr>
        <p:txBody>
          <a:bodyPr wrap="square" lIns="0" tIns="0" rIns="0" bIns="0" rtlCol="0" anchor="ctr"/>
          <a:lstStyle/>
          <a:p>
            <a:pPr indent="0" marL="0">
              <a:buNone/>
            </a:pPr>
            <a:r>
              <a:rPr lang="en-US" sz="950" b="1" spc="80" kern="0" dirty="0">
                <a:solidFill>
                  <a:srgbClr val="1F497D"/>
                </a:solidFill>
                <a:latin typeface="Calibri" pitchFamily="34" charset="0"/>
                <a:ea typeface="Calibri" pitchFamily="34" charset="-122"/>
                <a:cs typeface="Calibri" pitchFamily="34" charset="-120"/>
              </a:rPr>
              <a:t>ECONOMIC</a:t>
            </a:r>
            <a:endParaRPr lang="en-US" sz="950" dirty="0"/>
          </a:p>
        </p:txBody>
      </p:sp>
      <p:sp>
        <p:nvSpPr>
          <p:cNvPr id="40" name="Text 37"/>
          <p:cNvSpPr/>
          <p:nvPr/>
        </p:nvSpPr>
        <p:spPr>
          <a:xfrm>
            <a:off x="2916936" y="4261104"/>
            <a:ext cx="2450592" cy="109728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Commercial conjunction services are priced for large operators. Free public data plus an open engine removes both the licence and the analyst from the cost.</a:t>
            </a:r>
            <a:endParaRPr lang="en-US" sz="950" dirty="0"/>
          </a:p>
        </p:txBody>
      </p:sp>
      <p:sp>
        <p:nvSpPr>
          <p:cNvPr id="41" name="Shape 38"/>
          <p:cNvSpPr/>
          <p:nvPr/>
        </p:nvSpPr>
        <p:spPr>
          <a:xfrm>
            <a:off x="5522976" y="4087368"/>
            <a:ext cx="91440" cy="91440"/>
          </a:xfrm>
          <a:prstGeom prst="rect">
            <a:avLst/>
          </a:prstGeom>
          <a:solidFill>
            <a:srgbClr val="0070C0"/>
          </a:solidFill>
          <a:ln/>
        </p:spPr>
      </p:sp>
      <p:sp>
        <p:nvSpPr>
          <p:cNvPr id="42" name="Text 39"/>
          <p:cNvSpPr/>
          <p:nvPr/>
        </p:nvSpPr>
        <p:spPr>
          <a:xfrm>
            <a:off x="5705856" y="4023360"/>
            <a:ext cx="2286000" cy="219456"/>
          </a:xfrm>
          <a:prstGeom prst="rect">
            <a:avLst/>
          </a:prstGeom>
          <a:noFill/>
          <a:ln/>
        </p:spPr>
        <p:txBody>
          <a:bodyPr wrap="square" lIns="0" tIns="0" rIns="0" bIns="0" rtlCol="0" anchor="ctr"/>
          <a:lstStyle/>
          <a:p>
            <a:pPr indent="0" marL="0">
              <a:buNone/>
            </a:pPr>
            <a:r>
              <a:rPr lang="en-US" sz="950" b="1" spc="80" kern="0" dirty="0">
                <a:solidFill>
                  <a:srgbClr val="0070C0"/>
                </a:solidFill>
                <a:latin typeface="Calibri" pitchFamily="34" charset="0"/>
                <a:ea typeface="Calibri" pitchFamily="34" charset="-122"/>
                <a:cs typeface="Calibri" pitchFamily="34" charset="-120"/>
              </a:rPr>
              <a:t>ENVIRONMENTAL</a:t>
            </a:r>
            <a:endParaRPr lang="en-US" sz="950" dirty="0"/>
          </a:p>
        </p:txBody>
      </p:sp>
      <p:sp>
        <p:nvSpPr>
          <p:cNvPr id="43" name="Text 40"/>
          <p:cNvSpPr/>
          <p:nvPr/>
        </p:nvSpPr>
        <p:spPr>
          <a:xfrm>
            <a:off x="5522976" y="4261104"/>
            <a:ext cx="2450592" cy="109728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Debris outlives the collision: 813 fragments of the 2009 Iridium 33 / Cosmos 2251 crash are still in our snapshot 15 years on. Screening this one event models 19 new trackable fragments and an added collision rate on all 33 assets we assess.</a:t>
            </a:r>
            <a:endParaRPr lang="en-US" sz="950" dirty="0"/>
          </a:p>
        </p:txBody>
      </p:sp>
      <p:sp>
        <p:nvSpPr>
          <p:cNvPr id="44" name="Shape 41"/>
          <p:cNvSpPr/>
          <p:nvPr/>
        </p:nvSpPr>
        <p:spPr>
          <a:xfrm>
            <a:off x="8129016" y="4087368"/>
            <a:ext cx="91440" cy="91440"/>
          </a:xfrm>
          <a:prstGeom prst="rect">
            <a:avLst/>
          </a:prstGeom>
          <a:solidFill>
            <a:srgbClr val="B25E00"/>
          </a:solidFill>
          <a:ln/>
        </p:spPr>
      </p:sp>
      <p:sp>
        <p:nvSpPr>
          <p:cNvPr id="45" name="Text 42"/>
          <p:cNvSpPr/>
          <p:nvPr/>
        </p:nvSpPr>
        <p:spPr>
          <a:xfrm>
            <a:off x="8311896" y="4023360"/>
            <a:ext cx="2286000" cy="219456"/>
          </a:xfrm>
          <a:prstGeom prst="rect">
            <a:avLst/>
          </a:prstGeom>
          <a:noFill/>
          <a:ln/>
        </p:spPr>
        <p:txBody>
          <a:bodyPr wrap="square" lIns="0" tIns="0" rIns="0" bIns="0" rtlCol="0" anchor="ctr"/>
          <a:lstStyle/>
          <a:p>
            <a:pPr indent="0" marL="0">
              <a:buNone/>
            </a:pPr>
            <a:r>
              <a:rPr lang="en-US" sz="950" b="1" spc="80" kern="0" dirty="0">
                <a:solidFill>
                  <a:srgbClr val="B25E00"/>
                </a:solidFill>
                <a:latin typeface="Calibri" pitchFamily="34" charset="0"/>
                <a:ea typeface="Calibri" pitchFamily="34" charset="-122"/>
                <a:cs typeface="Calibri" pitchFamily="34" charset="-120"/>
              </a:rPr>
              <a:t>STRATEGIC</a:t>
            </a:r>
            <a:endParaRPr lang="en-US" sz="950" dirty="0"/>
          </a:p>
        </p:txBody>
      </p:sp>
      <p:sp>
        <p:nvSpPr>
          <p:cNvPr id="46" name="Text 43"/>
          <p:cNvSpPr/>
          <p:nvPr/>
        </p:nvSpPr>
        <p:spPr>
          <a:xfrm>
            <a:off x="8129016" y="4261104"/>
            <a:ext cx="2450592" cy="1097280"/>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Screening you can run yourself, on open data, under an MIT licence, is sovereign capability — no vendor, no export licence, no foreign dependency. It supports India’s Debris Free Space Missions target for 2030.</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19456" y="146304"/>
            <a:ext cx="1060704" cy="566928"/>
          </a:xfrm>
          <a:prstGeom prst="ellipse">
            <a:avLst/>
          </a:prstGeom>
          <a:solidFill>
            <a:srgbClr val="FFFFFF"/>
          </a:solidFill>
          <a:ln w="12700">
            <a:solidFill>
              <a:srgbClr val="B4A3C8"/>
            </a:solidFill>
            <a:prstDash val="solid"/>
          </a:ln>
        </p:spPr>
      </p:sp>
      <p:sp>
        <p:nvSpPr>
          <p:cNvPr id="3" name="Text 1"/>
          <p:cNvSpPr/>
          <p:nvPr/>
        </p:nvSpPr>
        <p:spPr>
          <a:xfrm>
            <a:off x="219456" y="146304"/>
            <a:ext cx="1060704" cy="566928"/>
          </a:xfrm>
          <a:prstGeom prst="rect">
            <a:avLst/>
          </a:prstGeom>
          <a:noFill/>
          <a:ln/>
        </p:spPr>
        <p:txBody>
          <a:bodyPr wrap="square" lIns="0" tIns="0" rIns="0" bIns="0" rtlCol="0" anchor="ctr"/>
          <a:lstStyle/>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Team</a:t>
            </a:r>
            <a:endParaRPr lang="en-US" sz="1050" dirty="0"/>
          </a:p>
          <a:p>
            <a:pPr algn="ctr" indent="0" marL="0">
              <a:lnSpc>
                <a:spcPts val="1200"/>
              </a:lnSpc>
              <a:buNone/>
            </a:pPr>
            <a:r>
              <a:rPr lang="en-US" sz="1050" dirty="0">
                <a:solidFill>
                  <a:srgbClr val="111111"/>
                </a:solidFill>
                <a:latin typeface="Calibri" pitchFamily="34" charset="0"/>
                <a:ea typeface="Calibri" pitchFamily="34" charset="-122"/>
                <a:cs typeface="Calibri" pitchFamily="34" charset="-120"/>
              </a:rPr>
              <a:t>Name</a:t>
            </a:r>
            <a:endParaRPr lang="en-US" sz="1050" dirty="0"/>
          </a:p>
        </p:txBody>
      </p:sp>
      <p:sp>
        <p:nvSpPr>
          <p:cNvPr id="4" name="Text 2"/>
          <p:cNvSpPr/>
          <p:nvPr/>
        </p:nvSpPr>
        <p:spPr>
          <a:xfrm>
            <a:off x="1389888" y="146304"/>
            <a:ext cx="7059168" cy="585216"/>
          </a:xfrm>
          <a:prstGeom prst="rect">
            <a:avLst/>
          </a:prstGeom>
          <a:noFill/>
          <a:ln/>
        </p:spPr>
        <p:txBody>
          <a:bodyPr wrap="square" lIns="0" tIns="0" rIns="0" bIns="0" rtlCol="0" anchor="ctr"/>
          <a:lstStyle/>
          <a:p>
            <a:pPr algn="ctr" indent="0" marL="0">
              <a:buNone/>
            </a:pPr>
            <a:r>
              <a:rPr lang="en-US" sz="2700" b="1" dirty="0">
                <a:solidFill>
                  <a:srgbClr val="111111"/>
                </a:solidFill>
                <a:latin typeface="Calibri" pitchFamily="34" charset="0"/>
                <a:ea typeface="Calibri" pitchFamily="34" charset="-122"/>
                <a:cs typeface="Calibri" pitchFamily="34" charset="-120"/>
              </a:rPr>
              <a:t>RESEARCH AND REFERENCES</a:t>
            </a:r>
            <a:endParaRPr lang="en-US" sz="2700" dirty="0"/>
          </a:p>
        </p:txBody>
      </p:sp>
      <p:pic>
        <p:nvPicPr>
          <p:cNvPr id="5" name="Image 0" descr="preencoded.png">    </p:cNvPr>
          <p:cNvPicPr>
            <a:picLocks noChangeAspect="1"/>
          </p:cNvPicPr>
          <p:nvPr/>
        </p:nvPicPr>
        <p:blipFill>
          <a:blip r:embed="rId1"/>
          <a:stretch>
            <a:fillRect/>
          </a:stretch>
        </p:blipFill>
        <p:spPr>
          <a:xfrm>
            <a:off x="8796528" y="137160"/>
            <a:ext cx="517434" cy="566928"/>
          </a:xfrm>
          <a:prstGeom prst="rect">
            <a:avLst/>
          </a:prstGeom>
        </p:spPr>
      </p:pic>
      <p:sp>
        <p:nvSpPr>
          <p:cNvPr id="6" name="Text 3"/>
          <p:cNvSpPr/>
          <p:nvPr/>
        </p:nvSpPr>
        <p:spPr>
          <a:xfrm>
            <a:off x="9400032" y="146304"/>
            <a:ext cx="1115568" cy="548640"/>
          </a:xfrm>
          <a:prstGeom prst="rect">
            <a:avLst/>
          </a:prstGeom>
          <a:noFill/>
          <a:ln/>
        </p:spPr>
        <p:txBody>
          <a:bodyPr wrap="square" lIns="0" tIns="0" rIns="0" bIns="0" rtlCol="0" anchor="ctr"/>
          <a:lstStyle/>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SMART INDIA</a:t>
            </a:r>
            <a:endParaRPr lang="en-US" sz="950" dirty="0"/>
          </a:p>
          <a:p>
            <a:pPr indent="0" marL="0">
              <a:lnSpc>
                <a:spcPts val="1100"/>
              </a:lnSpc>
              <a:buNone/>
            </a:pPr>
            <a:r>
              <a:rPr lang="en-US" sz="950" b="1" dirty="0">
                <a:solidFill>
                  <a:srgbClr val="3E4A56"/>
                </a:solidFill>
                <a:latin typeface="Calibri" pitchFamily="34" charset="0"/>
                <a:ea typeface="Calibri" pitchFamily="34" charset="-122"/>
                <a:cs typeface="Calibri" pitchFamily="34" charset="-120"/>
              </a:rPr>
              <a:t>HACKATHON 2026</a:t>
            </a:r>
            <a:endParaRPr lang="en-US" sz="950" dirty="0"/>
          </a:p>
        </p:txBody>
      </p:sp>
      <p:sp>
        <p:nvSpPr>
          <p:cNvPr id="7" name="Shape 4"/>
          <p:cNvSpPr/>
          <p:nvPr/>
        </p:nvSpPr>
        <p:spPr>
          <a:xfrm>
            <a:off x="0" y="5708599"/>
            <a:ext cx="10692994" cy="310896"/>
          </a:xfrm>
          <a:prstGeom prst="rect">
            <a:avLst/>
          </a:prstGeom>
          <a:solidFill>
            <a:srgbClr val="0070C0"/>
          </a:solidFill>
          <a:ln/>
        </p:spPr>
      </p:sp>
      <p:sp>
        <p:nvSpPr>
          <p:cNvPr id="8" name="Text 5"/>
          <p:cNvSpPr/>
          <p:nvPr/>
        </p:nvSpPr>
        <p:spPr>
          <a:xfrm>
            <a:off x="3200400" y="5708599"/>
            <a:ext cx="429768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@SIH Idea submission- Template</a:t>
            </a:r>
            <a:endParaRPr lang="en-US" sz="1050" dirty="0"/>
          </a:p>
        </p:txBody>
      </p:sp>
      <p:sp>
        <p:nvSpPr>
          <p:cNvPr id="9" name="Text 6"/>
          <p:cNvSpPr/>
          <p:nvPr/>
        </p:nvSpPr>
        <p:spPr>
          <a:xfrm>
            <a:off x="9915754" y="5708599"/>
            <a:ext cx="457200"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0" name="Text 7"/>
          <p:cNvSpPr/>
          <p:nvPr/>
        </p:nvSpPr>
        <p:spPr>
          <a:xfrm>
            <a:off x="310896" y="896112"/>
            <a:ext cx="292608" cy="292608"/>
          </a:xfrm>
          <a:prstGeom prst="rect">
            <a:avLst/>
          </a:prstGeom>
          <a:noFill/>
          <a:ln/>
        </p:spPr>
        <p:txBody>
          <a:bodyPr wrap="square" lIns="0" tIns="0" rIns="0" bIns="0" rtlCol="0" anchor="ctr"/>
          <a:lstStyle/>
          <a:p>
            <a:pPr indent="0" marL="0">
              <a:buNone/>
            </a:pPr>
            <a:r>
              <a:rPr lang="en-US" sz="1500" dirty="0">
                <a:solidFill>
                  <a:srgbClr val="1F497D"/>
                </a:solidFill>
                <a:latin typeface="Calibri" pitchFamily="34" charset="0"/>
                <a:ea typeface="Calibri" pitchFamily="34" charset="-122"/>
                <a:cs typeface="Calibri" pitchFamily="34" charset="-120"/>
              </a:rPr>
              <a:t>❖</a:t>
            </a:r>
            <a:endParaRPr lang="en-US" sz="1500" dirty="0"/>
          </a:p>
        </p:txBody>
      </p:sp>
      <p:sp>
        <p:nvSpPr>
          <p:cNvPr id="11" name="Text 8"/>
          <p:cNvSpPr/>
          <p:nvPr/>
        </p:nvSpPr>
        <p:spPr>
          <a:xfrm>
            <a:off x="621792" y="896112"/>
            <a:ext cx="9692640" cy="292608"/>
          </a:xfrm>
          <a:prstGeom prst="rect">
            <a:avLst/>
          </a:prstGeom>
          <a:noFill/>
          <a:ln/>
        </p:spPr>
        <p:txBody>
          <a:bodyPr wrap="square" lIns="0" tIns="0" rIns="0" bIns="0" rtlCol="0" anchor="ctr"/>
          <a:lstStyle/>
          <a:p>
            <a:pPr indent="0" marL="0">
              <a:buNone/>
            </a:pPr>
            <a:r>
              <a:rPr lang="en-US" sz="1650" b="1" u="sng" dirty="0">
                <a:solidFill>
                  <a:srgbClr val="1F497D"/>
                </a:solidFill>
                <a:latin typeface="Calibri" pitchFamily="34" charset="0"/>
                <a:ea typeface="Calibri" pitchFamily="34" charset="-122"/>
                <a:cs typeface="Calibri" pitchFamily="34" charset="-120"/>
              </a:rPr>
              <a:t>Details / Links of the reference and research work</a:t>
            </a:r>
            <a:endParaRPr lang="en-US" sz="1650" dirty="0"/>
          </a:p>
        </p:txBody>
      </p:sp>
      <p:sp>
        <p:nvSpPr>
          <p:cNvPr id="12" name="Text 9"/>
          <p:cNvSpPr/>
          <p:nvPr/>
        </p:nvSpPr>
        <p:spPr>
          <a:xfrm>
            <a:off x="310896" y="1298448"/>
            <a:ext cx="5029200" cy="182880"/>
          </a:xfrm>
          <a:prstGeom prst="rect">
            <a:avLst/>
          </a:prstGeom>
          <a:noFill/>
          <a:ln/>
        </p:spPr>
        <p:txBody>
          <a:bodyPr wrap="square" lIns="0" tIns="0" rIns="0" bIns="0" rtlCol="0" anchor="ctr"/>
          <a:lstStyle/>
          <a:p>
            <a:pPr indent="0" marL="0">
              <a:buNone/>
            </a:pPr>
            <a:r>
              <a:rPr lang="en-US" sz="850" b="1" spc="90" kern="0" dirty="0">
                <a:solidFill>
                  <a:srgbClr val="1F497D"/>
                </a:solidFill>
                <a:latin typeface="Calibri" pitchFamily="34" charset="0"/>
                <a:ea typeface="Calibri" pitchFamily="34" charset="-122"/>
                <a:cs typeface="Calibri" pitchFamily="34" charset="-120"/>
              </a:rPr>
              <a:t>MODELS AND STANDARDS IMPLEMENTED IN THE PROTOTYPE</a:t>
            </a:r>
            <a:endParaRPr lang="en-US" sz="850" dirty="0"/>
          </a:p>
        </p:txBody>
      </p:sp>
      <p:sp>
        <p:nvSpPr>
          <p:cNvPr id="13" name="Shape 10"/>
          <p:cNvSpPr/>
          <p:nvPr/>
        </p:nvSpPr>
        <p:spPr>
          <a:xfrm>
            <a:off x="329184" y="1600200"/>
            <a:ext cx="73152" cy="73152"/>
          </a:xfrm>
          <a:prstGeom prst="rect">
            <a:avLst/>
          </a:prstGeom>
          <a:solidFill>
            <a:srgbClr val="0070C0"/>
          </a:solidFill>
          <a:ln/>
        </p:spPr>
      </p:sp>
      <p:sp>
        <p:nvSpPr>
          <p:cNvPr id="14" name="Text 11"/>
          <p:cNvSpPr/>
          <p:nvPr/>
        </p:nvSpPr>
        <p:spPr>
          <a:xfrm>
            <a:off x="512064" y="1536192"/>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SGP4 propagation</a:t>
            </a:r>
            <a:endParaRPr lang="en-US" sz="950" dirty="0"/>
          </a:p>
        </p:txBody>
      </p:sp>
      <p:sp>
        <p:nvSpPr>
          <p:cNvPr id="15" name="Text 12"/>
          <p:cNvSpPr/>
          <p:nvPr/>
        </p:nvSpPr>
        <p:spPr>
          <a:xfrm>
            <a:off x="2267712" y="1536192"/>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Vallado &amp; Crawford, "Revisiting Spacetrack Report #3", AIAA 2006-6753</a:t>
            </a:r>
            <a:endParaRPr lang="en-US" sz="950" dirty="0"/>
          </a:p>
        </p:txBody>
      </p:sp>
      <p:sp>
        <p:nvSpPr>
          <p:cNvPr id="16" name="Shape 13"/>
          <p:cNvSpPr/>
          <p:nvPr/>
        </p:nvSpPr>
        <p:spPr>
          <a:xfrm>
            <a:off x="329184" y="1929384"/>
            <a:ext cx="73152" cy="73152"/>
          </a:xfrm>
          <a:prstGeom prst="rect">
            <a:avLst/>
          </a:prstGeom>
          <a:solidFill>
            <a:srgbClr val="0070C0"/>
          </a:solidFill>
          <a:ln/>
        </p:spPr>
      </p:sp>
      <p:sp>
        <p:nvSpPr>
          <p:cNvPr id="17" name="Text 14"/>
          <p:cNvSpPr/>
          <p:nvPr/>
        </p:nvSpPr>
        <p:spPr>
          <a:xfrm>
            <a:off x="512064" y="1865376"/>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Collision probability</a:t>
            </a:r>
            <a:endParaRPr lang="en-US" sz="950" dirty="0"/>
          </a:p>
        </p:txBody>
      </p:sp>
      <p:sp>
        <p:nvSpPr>
          <p:cNvPr id="18" name="Text 15"/>
          <p:cNvSpPr/>
          <p:nvPr/>
        </p:nvSpPr>
        <p:spPr>
          <a:xfrm>
            <a:off x="2267712" y="1865376"/>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Foster &amp; Estes, NASA JSC-25898, 1992 — the model our Pc uses</a:t>
            </a:r>
            <a:endParaRPr lang="en-US" sz="950" dirty="0"/>
          </a:p>
        </p:txBody>
      </p:sp>
      <p:sp>
        <p:nvSpPr>
          <p:cNvPr id="19" name="Shape 16"/>
          <p:cNvSpPr/>
          <p:nvPr/>
        </p:nvSpPr>
        <p:spPr>
          <a:xfrm>
            <a:off x="329184" y="2258568"/>
            <a:ext cx="73152" cy="73152"/>
          </a:xfrm>
          <a:prstGeom prst="rect">
            <a:avLst/>
          </a:prstGeom>
          <a:solidFill>
            <a:srgbClr val="0070C0"/>
          </a:solidFill>
          <a:ln/>
        </p:spPr>
      </p:sp>
      <p:sp>
        <p:nvSpPr>
          <p:cNvPr id="20" name="Text 17"/>
          <p:cNvSpPr/>
          <p:nvPr/>
        </p:nvSpPr>
        <p:spPr>
          <a:xfrm>
            <a:off x="512064" y="2194560"/>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Conjunction screening</a:t>
            </a:r>
            <a:endParaRPr lang="en-US" sz="950" dirty="0"/>
          </a:p>
        </p:txBody>
      </p:sp>
      <p:sp>
        <p:nvSpPr>
          <p:cNvPr id="21" name="Text 18"/>
          <p:cNvSpPr/>
          <p:nvPr/>
        </p:nvSpPr>
        <p:spPr>
          <a:xfrm>
            <a:off x="2267712" y="2194560"/>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Anilkumar et al., CLAPS — ISRO close-approach software, MCF Hassan</a:t>
            </a:r>
            <a:endParaRPr lang="en-US" sz="950" dirty="0"/>
          </a:p>
        </p:txBody>
      </p:sp>
      <p:sp>
        <p:nvSpPr>
          <p:cNvPr id="22" name="Shape 19"/>
          <p:cNvSpPr/>
          <p:nvPr/>
        </p:nvSpPr>
        <p:spPr>
          <a:xfrm>
            <a:off x="329184" y="2587752"/>
            <a:ext cx="73152" cy="73152"/>
          </a:xfrm>
          <a:prstGeom prst="rect">
            <a:avLst/>
          </a:prstGeom>
          <a:solidFill>
            <a:srgbClr val="0070C0"/>
          </a:solidFill>
          <a:ln/>
        </p:spPr>
      </p:sp>
      <p:sp>
        <p:nvSpPr>
          <p:cNvPr id="23" name="Text 20"/>
          <p:cNvSpPr/>
          <p:nvPr/>
        </p:nvSpPr>
        <p:spPr>
          <a:xfrm>
            <a:off x="512064" y="2523744"/>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Debris generation</a:t>
            </a:r>
            <a:endParaRPr lang="en-US" sz="950" dirty="0"/>
          </a:p>
        </p:txBody>
      </p:sp>
      <p:sp>
        <p:nvSpPr>
          <p:cNvPr id="24" name="Text 21"/>
          <p:cNvSpPr/>
          <p:nvPr/>
        </p:nvSpPr>
        <p:spPr>
          <a:xfrm>
            <a:off x="2267712" y="2523744"/>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Johnson et al., NASA Standard Breakup Model, EVOLVE 4.0, 2001</a:t>
            </a:r>
            <a:endParaRPr lang="en-US" sz="950" dirty="0"/>
          </a:p>
        </p:txBody>
      </p:sp>
      <p:sp>
        <p:nvSpPr>
          <p:cNvPr id="25" name="Shape 22"/>
          <p:cNvSpPr/>
          <p:nvPr/>
        </p:nvSpPr>
        <p:spPr>
          <a:xfrm>
            <a:off x="329184" y="2916936"/>
            <a:ext cx="73152" cy="73152"/>
          </a:xfrm>
          <a:prstGeom prst="rect">
            <a:avLst/>
          </a:prstGeom>
          <a:solidFill>
            <a:srgbClr val="0070C0"/>
          </a:solidFill>
          <a:ln/>
        </p:spPr>
      </p:sp>
      <p:sp>
        <p:nvSpPr>
          <p:cNvPr id="26" name="Text 23"/>
          <p:cNvSpPr/>
          <p:nvPr/>
        </p:nvSpPr>
        <p:spPr>
          <a:xfrm>
            <a:off x="512064" y="2852928"/>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Cascade risk</a:t>
            </a:r>
            <a:endParaRPr lang="en-US" sz="950" dirty="0"/>
          </a:p>
        </p:txBody>
      </p:sp>
      <p:sp>
        <p:nvSpPr>
          <p:cNvPr id="27" name="Text 24"/>
          <p:cNvSpPr/>
          <p:nvPr/>
        </p:nvSpPr>
        <p:spPr>
          <a:xfrm>
            <a:off x="2267712" y="2852928"/>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Kessler &amp; Cour-Palais, J. Geophys. Res. 83(A6), 1978</a:t>
            </a:r>
            <a:endParaRPr lang="en-US" sz="950" dirty="0"/>
          </a:p>
        </p:txBody>
      </p:sp>
      <p:sp>
        <p:nvSpPr>
          <p:cNvPr id="28" name="Shape 25"/>
          <p:cNvSpPr/>
          <p:nvPr/>
        </p:nvSpPr>
        <p:spPr>
          <a:xfrm>
            <a:off x="329184" y="3246120"/>
            <a:ext cx="73152" cy="73152"/>
          </a:xfrm>
          <a:prstGeom prst="rect">
            <a:avLst/>
          </a:prstGeom>
          <a:solidFill>
            <a:srgbClr val="0070C0"/>
          </a:solidFill>
          <a:ln/>
        </p:spPr>
      </p:sp>
      <p:sp>
        <p:nvSpPr>
          <p:cNvPr id="29" name="Text 26"/>
          <p:cNvSpPr/>
          <p:nvPr/>
        </p:nvSpPr>
        <p:spPr>
          <a:xfrm>
            <a:off x="512064" y="3182112"/>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Orbital decay &amp; re-entry</a:t>
            </a:r>
            <a:endParaRPr lang="en-US" sz="950" dirty="0"/>
          </a:p>
        </p:txBody>
      </p:sp>
      <p:sp>
        <p:nvSpPr>
          <p:cNvPr id="30" name="Text 27"/>
          <p:cNvSpPr/>
          <p:nvPr/>
        </p:nvSpPr>
        <p:spPr>
          <a:xfrm>
            <a:off x="2267712" y="3182112"/>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King-Hele drag decay; Sutton–Graves stagnation-point heating</a:t>
            </a:r>
            <a:endParaRPr lang="en-US" sz="950" dirty="0"/>
          </a:p>
        </p:txBody>
      </p:sp>
      <p:sp>
        <p:nvSpPr>
          <p:cNvPr id="31" name="Shape 28"/>
          <p:cNvSpPr/>
          <p:nvPr/>
        </p:nvSpPr>
        <p:spPr>
          <a:xfrm>
            <a:off x="329184" y="3575304"/>
            <a:ext cx="73152" cy="73152"/>
          </a:xfrm>
          <a:prstGeom prst="rect">
            <a:avLst/>
          </a:prstGeom>
          <a:solidFill>
            <a:srgbClr val="0070C0"/>
          </a:solidFill>
          <a:ln/>
        </p:spPr>
      </p:sp>
      <p:sp>
        <p:nvSpPr>
          <p:cNvPr id="32" name="Text 29"/>
          <p:cNvSpPr/>
          <p:nvPr/>
        </p:nvSpPr>
        <p:spPr>
          <a:xfrm>
            <a:off x="512064" y="3511296"/>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Message standard</a:t>
            </a:r>
            <a:endParaRPr lang="en-US" sz="950" dirty="0"/>
          </a:p>
        </p:txBody>
      </p:sp>
      <p:sp>
        <p:nvSpPr>
          <p:cNvPr id="33" name="Text 30"/>
          <p:cNvSpPr/>
          <p:nvPr/>
        </p:nvSpPr>
        <p:spPr>
          <a:xfrm>
            <a:off x="2267712" y="3511296"/>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CCSDS 508.0-B-1, Conjunction Data Message</a:t>
            </a:r>
            <a:endParaRPr lang="en-US" sz="950" dirty="0"/>
          </a:p>
        </p:txBody>
      </p:sp>
      <p:sp>
        <p:nvSpPr>
          <p:cNvPr id="34" name="Shape 31"/>
          <p:cNvSpPr/>
          <p:nvPr/>
        </p:nvSpPr>
        <p:spPr>
          <a:xfrm>
            <a:off x="329184" y="3904488"/>
            <a:ext cx="73152" cy="73152"/>
          </a:xfrm>
          <a:prstGeom prst="rect">
            <a:avLst/>
          </a:prstGeom>
          <a:solidFill>
            <a:srgbClr val="0070C0"/>
          </a:solidFill>
          <a:ln/>
        </p:spPr>
      </p:sp>
      <p:sp>
        <p:nvSpPr>
          <p:cNvPr id="35" name="Text 32"/>
          <p:cNvSpPr/>
          <p:nvPr/>
        </p:nvSpPr>
        <p:spPr>
          <a:xfrm>
            <a:off x="512064" y="3840480"/>
            <a:ext cx="1737360" cy="292608"/>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Uncertainty from TLEs</a:t>
            </a:r>
            <a:endParaRPr lang="en-US" sz="950" dirty="0"/>
          </a:p>
        </p:txBody>
      </p:sp>
      <p:sp>
        <p:nvSpPr>
          <p:cNvPr id="36" name="Text 33"/>
          <p:cNvSpPr/>
          <p:nvPr/>
        </p:nvSpPr>
        <p:spPr>
          <a:xfrm>
            <a:off x="2267712" y="3840480"/>
            <a:ext cx="3218688" cy="292608"/>
          </a:xfrm>
          <a:prstGeom prst="rect">
            <a:avLst/>
          </a:prstGeom>
          <a:noFill/>
          <a:ln/>
        </p:spPr>
        <p:txBody>
          <a:bodyPr wrap="square" lIns="0" tIns="0" rIns="0" bIns="0" rtlCol="0" anchor="t"/>
          <a:lstStyle/>
          <a:p>
            <a:pPr indent="0" marL="0">
              <a:lnSpc>
                <a:spcPts val="1100"/>
              </a:lnSpc>
              <a:buNone/>
            </a:pPr>
            <a:r>
              <a:rPr lang="en-US" sz="950" dirty="0">
                <a:solidFill>
                  <a:srgbClr val="333333"/>
                </a:solidFill>
                <a:latin typeface="Calibri" pitchFamily="34" charset="0"/>
                <a:ea typeface="Calibri" pitchFamily="34" charset="-122"/>
                <a:cs typeface="Calibri" pitchFamily="34" charset="-120"/>
              </a:rPr>
              <a:t>Flohrer et al., TLE orbit error categorisation, AMOS 2008</a:t>
            </a:r>
            <a:endParaRPr lang="en-US" sz="950" dirty="0"/>
          </a:p>
        </p:txBody>
      </p:sp>
      <p:sp>
        <p:nvSpPr>
          <p:cNvPr id="37" name="Text 34"/>
          <p:cNvSpPr/>
          <p:nvPr/>
        </p:nvSpPr>
        <p:spPr>
          <a:xfrm>
            <a:off x="5705856" y="1298448"/>
            <a:ext cx="4663440" cy="182880"/>
          </a:xfrm>
          <a:prstGeom prst="rect">
            <a:avLst/>
          </a:prstGeom>
          <a:noFill/>
          <a:ln/>
        </p:spPr>
        <p:txBody>
          <a:bodyPr wrap="square" lIns="0" tIns="0" rIns="0" bIns="0" rtlCol="0" anchor="ctr"/>
          <a:lstStyle/>
          <a:p>
            <a:pPr indent="0" marL="0">
              <a:buNone/>
            </a:pPr>
            <a:r>
              <a:rPr lang="en-US" sz="850" b="1" spc="90" kern="0" dirty="0">
                <a:solidFill>
                  <a:srgbClr val="1F497D"/>
                </a:solidFill>
                <a:latin typeface="Calibri" pitchFamily="34" charset="0"/>
                <a:ea typeface="Calibri" pitchFamily="34" charset="-122"/>
                <a:cs typeface="Calibri" pitchFamily="34" charset="-120"/>
              </a:rPr>
              <a:t>DATA SOURCES AND INDIAN CONTEXT</a:t>
            </a:r>
            <a:endParaRPr lang="en-US" sz="850" dirty="0"/>
          </a:p>
        </p:txBody>
      </p:sp>
      <p:sp>
        <p:nvSpPr>
          <p:cNvPr id="38" name="Shape 35"/>
          <p:cNvSpPr/>
          <p:nvPr/>
        </p:nvSpPr>
        <p:spPr>
          <a:xfrm>
            <a:off x="5724144" y="1600200"/>
            <a:ext cx="73152" cy="73152"/>
          </a:xfrm>
          <a:prstGeom prst="rect">
            <a:avLst/>
          </a:prstGeom>
          <a:solidFill>
            <a:srgbClr val="1E7A4C"/>
          </a:solidFill>
          <a:ln/>
        </p:spPr>
      </p:sp>
      <p:sp>
        <p:nvSpPr>
          <p:cNvPr id="39" name="Text 36"/>
          <p:cNvSpPr/>
          <p:nvPr/>
        </p:nvSpPr>
        <p:spPr>
          <a:xfrm>
            <a:off x="5907024" y="1536192"/>
            <a:ext cx="2011680" cy="365760"/>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CelesTrak GP catalogue</a:t>
            </a:r>
            <a:endParaRPr lang="en-US" sz="950" dirty="0"/>
          </a:p>
        </p:txBody>
      </p:sp>
      <p:sp>
        <p:nvSpPr>
          <p:cNvPr id="40" name="Text 37"/>
          <p:cNvSpPr/>
          <p:nvPr/>
        </p:nvSpPr>
        <p:spPr>
          <a:xfrm>
            <a:off x="7955280" y="1536192"/>
            <a:ext cx="2414016" cy="365760"/>
          </a:xfrm>
          <a:prstGeom prst="rect">
            <a:avLst/>
          </a:prstGeom>
          <a:noFill/>
          <a:ln/>
        </p:spPr>
        <p:txBody>
          <a:bodyPr wrap="square" lIns="0" tIns="0" rIns="0" bIns="0" rtlCol="0" anchor="t"/>
          <a:lstStyle/>
          <a:p>
            <a:pPr indent="0" marL="0">
              <a:lnSpc>
                <a:spcPts val="1050"/>
              </a:lnSpc>
              <a:buNone/>
            </a:pPr>
            <a:r>
              <a:rPr lang="en-US" sz="900" dirty="0">
                <a:solidFill>
                  <a:srgbClr val="333333"/>
                </a:solidFill>
                <a:latin typeface="Calibri" pitchFamily="34" charset="0"/>
                <a:ea typeface="Calibri" pitchFamily="34" charset="-122"/>
                <a:cs typeface="Calibri" pitchFamily="34" charset="-120"/>
              </a:rPr>
              <a:t>celestrak.org — free, no sign-up. 859 objects across 5 groups.</a:t>
            </a:r>
            <a:endParaRPr lang="en-US" sz="900" dirty="0"/>
          </a:p>
        </p:txBody>
      </p:sp>
      <p:sp>
        <p:nvSpPr>
          <p:cNvPr id="41" name="Shape 38"/>
          <p:cNvSpPr/>
          <p:nvPr/>
        </p:nvSpPr>
        <p:spPr>
          <a:xfrm>
            <a:off x="5724144" y="1984248"/>
            <a:ext cx="73152" cy="73152"/>
          </a:xfrm>
          <a:prstGeom prst="rect">
            <a:avLst/>
          </a:prstGeom>
          <a:solidFill>
            <a:srgbClr val="1E7A4C"/>
          </a:solidFill>
          <a:ln/>
        </p:spPr>
      </p:sp>
      <p:sp>
        <p:nvSpPr>
          <p:cNvPr id="42" name="Text 39"/>
          <p:cNvSpPr/>
          <p:nvPr/>
        </p:nvSpPr>
        <p:spPr>
          <a:xfrm>
            <a:off x="5907024" y="1920240"/>
            <a:ext cx="2011680" cy="365760"/>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ISSAR 2024</a:t>
            </a:r>
            <a:endParaRPr lang="en-US" sz="950" dirty="0"/>
          </a:p>
        </p:txBody>
      </p:sp>
      <p:sp>
        <p:nvSpPr>
          <p:cNvPr id="43" name="Text 40"/>
          <p:cNvSpPr/>
          <p:nvPr/>
        </p:nvSpPr>
        <p:spPr>
          <a:xfrm>
            <a:off x="7955280" y="1920240"/>
            <a:ext cx="2414016" cy="365760"/>
          </a:xfrm>
          <a:prstGeom prst="rect">
            <a:avLst/>
          </a:prstGeom>
          <a:noFill/>
          <a:ln/>
        </p:spPr>
        <p:txBody>
          <a:bodyPr wrap="square" lIns="0" tIns="0" rIns="0" bIns="0" rtlCol="0" anchor="t"/>
          <a:lstStyle/>
          <a:p>
            <a:pPr indent="0" marL="0">
              <a:lnSpc>
                <a:spcPts val="1050"/>
              </a:lnSpc>
              <a:buNone/>
            </a:pPr>
            <a:r>
              <a:rPr lang="en-US" sz="900" dirty="0">
                <a:solidFill>
                  <a:srgbClr val="333333"/>
                </a:solidFill>
                <a:latin typeface="Calibri" pitchFamily="34" charset="0"/>
                <a:ea typeface="Calibri" pitchFamily="34" charset="-122"/>
                <a:cs typeface="Calibri" pitchFamily="34" charset="-120"/>
              </a:rPr>
              <a:t>isro.gov.in/ISSAR_2024.html — 53,000+ alerts, 10 CAMs in 2024</a:t>
            </a:r>
            <a:endParaRPr lang="en-US" sz="900" dirty="0"/>
          </a:p>
        </p:txBody>
      </p:sp>
      <p:sp>
        <p:nvSpPr>
          <p:cNvPr id="44" name="Shape 41"/>
          <p:cNvSpPr/>
          <p:nvPr/>
        </p:nvSpPr>
        <p:spPr>
          <a:xfrm>
            <a:off x="5724144" y="2368296"/>
            <a:ext cx="73152" cy="73152"/>
          </a:xfrm>
          <a:prstGeom prst="rect">
            <a:avLst/>
          </a:prstGeom>
          <a:solidFill>
            <a:srgbClr val="1E7A4C"/>
          </a:solidFill>
          <a:ln/>
        </p:spPr>
      </p:sp>
      <p:sp>
        <p:nvSpPr>
          <p:cNvPr id="45" name="Text 42"/>
          <p:cNvSpPr/>
          <p:nvPr/>
        </p:nvSpPr>
        <p:spPr>
          <a:xfrm>
            <a:off x="5907024" y="2304288"/>
            <a:ext cx="2011680" cy="365760"/>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Lok Sabha reply, Aug 2026</a:t>
            </a:r>
            <a:endParaRPr lang="en-US" sz="950" dirty="0"/>
          </a:p>
        </p:txBody>
      </p:sp>
      <p:sp>
        <p:nvSpPr>
          <p:cNvPr id="46" name="Text 43"/>
          <p:cNvSpPr/>
          <p:nvPr/>
        </p:nvSpPr>
        <p:spPr>
          <a:xfrm>
            <a:off x="7955280" y="2304288"/>
            <a:ext cx="2414016" cy="365760"/>
          </a:xfrm>
          <a:prstGeom prst="rect">
            <a:avLst/>
          </a:prstGeom>
          <a:noFill/>
          <a:ln/>
        </p:spPr>
        <p:txBody>
          <a:bodyPr wrap="square" lIns="0" tIns="0" rIns="0" bIns="0" rtlCol="0" anchor="t"/>
          <a:lstStyle/>
          <a:p>
            <a:pPr indent="0" marL="0">
              <a:lnSpc>
                <a:spcPts val="1050"/>
              </a:lnSpc>
              <a:buNone/>
            </a:pPr>
            <a:r>
              <a:rPr lang="en-US" sz="900" dirty="0">
                <a:solidFill>
                  <a:srgbClr val="333333"/>
                </a:solidFill>
                <a:latin typeface="Calibri" pitchFamily="34" charset="0"/>
                <a:ea typeface="Calibri" pitchFamily="34" charset="-122"/>
                <a:cs typeface="Calibri" pitchFamily="34" charset="-120"/>
              </a:rPr>
              <a:t>20 of 22 active Indian LEO satellites at elevated risk; 20 CAMs flown in 2025</a:t>
            </a:r>
            <a:endParaRPr lang="en-US" sz="900" dirty="0"/>
          </a:p>
        </p:txBody>
      </p:sp>
      <p:sp>
        <p:nvSpPr>
          <p:cNvPr id="47" name="Shape 44"/>
          <p:cNvSpPr/>
          <p:nvPr/>
        </p:nvSpPr>
        <p:spPr>
          <a:xfrm>
            <a:off x="5724144" y="2752344"/>
            <a:ext cx="73152" cy="73152"/>
          </a:xfrm>
          <a:prstGeom prst="rect">
            <a:avLst/>
          </a:prstGeom>
          <a:solidFill>
            <a:srgbClr val="1E7A4C"/>
          </a:solidFill>
          <a:ln/>
        </p:spPr>
      </p:sp>
      <p:sp>
        <p:nvSpPr>
          <p:cNvPr id="48" name="Text 45"/>
          <p:cNvSpPr/>
          <p:nvPr/>
        </p:nvSpPr>
        <p:spPr>
          <a:xfrm>
            <a:off x="5907024" y="2688336"/>
            <a:ext cx="2011680" cy="365760"/>
          </a:xfrm>
          <a:prstGeom prst="rect">
            <a:avLst/>
          </a:prstGeom>
          <a:noFill/>
          <a:ln/>
        </p:spPr>
        <p:txBody>
          <a:bodyPr wrap="square" lIns="0" tIns="0" rIns="0" bIns="0" rtlCol="0" anchor="t"/>
          <a:lstStyle/>
          <a:p>
            <a:pPr indent="0" marL="0">
              <a:lnSpc>
                <a:spcPts val="1100"/>
              </a:lnSpc>
              <a:buNone/>
            </a:pPr>
            <a:r>
              <a:rPr lang="en-US" sz="950" b="1" dirty="0">
                <a:solidFill>
                  <a:srgbClr val="111111"/>
                </a:solidFill>
                <a:latin typeface="Calibri" pitchFamily="34" charset="0"/>
                <a:ea typeface="Calibri" pitchFamily="34" charset="-122"/>
                <a:cs typeface="Calibri" pitchFamily="34" charset="-120"/>
              </a:rPr>
              <a:t>Debris Free Space Missions</a:t>
            </a:r>
            <a:endParaRPr lang="en-US" sz="950" dirty="0"/>
          </a:p>
        </p:txBody>
      </p:sp>
      <p:sp>
        <p:nvSpPr>
          <p:cNvPr id="49" name="Text 46"/>
          <p:cNvSpPr/>
          <p:nvPr/>
        </p:nvSpPr>
        <p:spPr>
          <a:xfrm>
            <a:off x="7955280" y="2688336"/>
            <a:ext cx="2414016" cy="365760"/>
          </a:xfrm>
          <a:prstGeom prst="rect">
            <a:avLst/>
          </a:prstGeom>
          <a:noFill/>
          <a:ln/>
        </p:spPr>
        <p:txBody>
          <a:bodyPr wrap="square" lIns="0" tIns="0" rIns="0" bIns="0" rtlCol="0" anchor="t"/>
          <a:lstStyle/>
          <a:p>
            <a:pPr indent="0" marL="0">
              <a:lnSpc>
                <a:spcPts val="1050"/>
              </a:lnSpc>
              <a:buNone/>
            </a:pPr>
            <a:r>
              <a:rPr lang="en-US" sz="900" dirty="0">
                <a:solidFill>
                  <a:srgbClr val="333333"/>
                </a:solidFill>
                <a:latin typeface="Calibri" pitchFamily="34" charset="0"/>
                <a:ea typeface="Calibri" pitchFamily="34" charset="-122"/>
                <a:cs typeface="Calibri" pitchFamily="34" charset="-120"/>
              </a:rPr>
              <a:t>isro.gov.in/Debris_Free_Space_Missions.html — India’s 2030 target</a:t>
            </a:r>
            <a:endParaRPr lang="en-US" sz="900" dirty="0"/>
          </a:p>
        </p:txBody>
      </p:sp>
      <p:sp>
        <p:nvSpPr>
          <p:cNvPr id="50" name="Shape 47"/>
          <p:cNvSpPr/>
          <p:nvPr/>
        </p:nvSpPr>
        <p:spPr>
          <a:xfrm>
            <a:off x="5705856" y="3163824"/>
            <a:ext cx="4663440" cy="1097280"/>
          </a:xfrm>
          <a:prstGeom prst="roundRect">
            <a:avLst>
              <a:gd name="adj" fmla="val 2500"/>
            </a:avLst>
          </a:prstGeom>
          <a:solidFill>
            <a:srgbClr val="FFFFFF"/>
          </a:solidFill>
          <a:ln w="9525">
            <a:solidFill>
              <a:srgbClr val="D4DAE2"/>
            </a:solidFill>
            <a:prstDash val="solid"/>
          </a:ln>
        </p:spPr>
      </p:sp>
      <p:sp>
        <p:nvSpPr>
          <p:cNvPr id="51" name="Text 48"/>
          <p:cNvSpPr/>
          <p:nvPr/>
        </p:nvSpPr>
        <p:spPr>
          <a:xfrm>
            <a:off x="5907024" y="3291840"/>
            <a:ext cx="4206240" cy="182880"/>
          </a:xfrm>
          <a:prstGeom prst="rect">
            <a:avLst/>
          </a:prstGeom>
          <a:noFill/>
          <a:ln/>
        </p:spPr>
        <p:txBody>
          <a:bodyPr wrap="square" lIns="0" tIns="0" rIns="0" bIns="0" rtlCol="0" anchor="ctr"/>
          <a:lstStyle/>
          <a:p>
            <a:pPr indent="0" marL="0">
              <a:buNone/>
            </a:pPr>
            <a:r>
              <a:rPr lang="en-US" sz="850" b="1" spc="90" kern="0" dirty="0">
                <a:solidFill>
                  <a:srgbClr val="B3261E"/>
                </a:solidFill>
                <a:latin typeface="Calibri" pitchFamily="34" charset="0"/>
                <a:ea typeface="Calibri" pitchFamily="34" charset="-122"/>
                <a:cs typeface="Calibri" pitchFamily="34" charset="-120"/>
              </a:rPr>
              <a:t>WHY THERE IS NO MACHINE-LEARNING MODEL</a:t>
            </a:r>
            <a:endParaRPr lang="en-US" sz="850" dirty="0"/>
          </a:p>
        </p:txBody>
      </p:sp>
      <p:sp>
        <p:nvSpPr>
          <p:cNvPr id="52" name="Text 49"/>
          <p:cNvSpPr/>
          <p:nvPr/>
        </p:nvSpPr>
        <p:spPr>
          <a:xfrm>
            <a:off x="5907024" y="3511296"/>
            <a:ext cx="4261104" cy="676656"/>
          </a:xfrm>
          <a:prstGeom prst="rect">
            <a:avLst/>
          </a:prstGeom>
          <a:noFill/>
          <a:ln/>
        </p:spPr>
        <p:txBody>
          <a:bodyPr wrap="square" lIns="0" tIns="0" rIns="0" bIns="0" rtlCol="0" anchor="t"/>
          <a:lstStyle/>
          <a:p>
            <a:pPr indent="0" marL="0">
              <a:lnSpc>
                <a:spcPts val="1150"/>
              </a:lnSpc>
              <a:buNone/>
            </a:pPr>
            <a:r>
              <a:rPr lang="en-US" sz="950" dirty="0">
                <a:solidFill>
                  <a:srgbClr val="333333"/>
                </a:solidFill>
                <a:latin typeface="Calibri" pitchFamily="34" charset="0"/>
                <a:ea typeface="Calibri" pitchFamily="34" charset="-122"/>
                <a:cs typeface="Calibri" pitchFamily="34" charset="-120"/>
              </a:rPr>
              <a:t>ESA ran this exact competition on 13,154 real conjunction events. The naive baseline — reuse the risk in the most recent CDM — beat almost every model submitted; a later benchmark found roughly 1 model in 5,000 beat it, by 1.4%. We spent that effort on measuring uncertainty instead.</a:t>
            </a:r>
            <a:endParaRPr lang="en-US" sz="950" dirty="0"/>
          </a:p>
        </p:txBody>
      </p:sp>
      <p:sp>
        <p:nvSpPr>
          <p:cNvPr id="53" name="Shape 50"/>
          <p:cNvSpPr/>
          <p:nvPr/>
        </p:nvSpPr>
        <p:spPr>
          <a:xfrm>
            <a:off x="310896" y="4352544"/>
            <a:ext cx="10058400" cy="1115568"/>
          </a:xfrm>
          <a:prstGeom prst="roundRect">
            <a:avLst>
              <a:gd name="adj" fmla="val 2459"/>
            </a:avLst>
          </a:prstGeom>
          <a:solidFill>
            <a:srgbClr val="F2F6FA"/>
          </a:solidFill>
          <a:ln w="9525">
            <a:solidFill>
              <a:srgbClr val="D4DAE2"/>
            </a:solidFill>
            <a:prstDash val="solid"/>
          </a:ln>
        </p:spPr>
      </p:sp>
      <p:sp>
        <p:nvSpPr>
          <p:cNvPr id="54" name="Shape 51"/>
          <p:cNvSpPr/>
          <p:nvPr/>
        </p:nvSpPr>
        <p:spPr>
          <a:xfrm>
            <a:off x="310896" y="4352544"/>
            <a:ext cx="64008" cy="1115568"/>
          </a:xfrm>
          <a:prstGeom prst="rect">
            <a:avLst/>
          </a:prstGeom>
          <a:solidFill>
            <a:srgbClr val="1F497D"/>
          </a:solidFill>
          <a:ln/>
        </p:spPr>
      </p:sp>
      <p:sp>
        <p:nvSpPr>
          <p:cNvPr id="55" name="Text 52"/>
          <p:cNvSpPr/>
          <p:nvPr/>
        </p:nvSpPr>
        <p:spPr>
          <a:xfrm>
            <a:off x="512064" y="4443984"/>
            <a:ext cx="9509760" cy="182880"/>
          </a:xfrm>
          <a:prstGeom prst="rect">
            <a:avLst/>
          </a:prstGeom>
          <a:noFill/>
          <a:ln/>
        </p:spPr>
        <p:txBody>
          <a:bodyPr wrap="square" lIns="0" tIns="0" rIns="0" bIns="0" rtlCol="0" anchor="ctr"/>
          <a:lstStyle/>
          <a:p>
            <a:pPr indent="0" marL="0">
              <a:buNone/>
            </a:pPr>
            <a:r>
              <a:rPr lang="en-US" sz="850" b="1" spc="90" kern="0" dirty="0">
                <a:solidFill>
                  <a:srgbClr val="1F497D"/>
                </a:solidFill>
                <a:latin typeface="Calibri" pitchFamily="34" charset="0"/>
                <a:ea typeface="Calibri" pitchFamily="34" charset="-122"/>
                <a:cs typeface="Calibri" pitchFamily="34" charset="-120"/>
              </a:rPr>
              <a:t>PROTOTYPE, ENGINE AND EVERY FIGURE IN THIS DECK</a:t>
            </a:r>
            <a:endParaRPr lang="en-US" sz="850" dirty="0"/>
          </a:p>
        </p:txBody>
      </p:sp>
      <p:sp>
        <p:nvSpPr>
          <p:cNvPr id="56" name="Text 53"/>
          <p:cNvSpPr/>
          <p:nvPr/>
        </p:nvSpPr>
        <p:spPr>
          <a:xfrm>
            <a:off x="4846320" y="4626864"/>
            <a:ext cx="5394960" cy="256032"/>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MIT licence — engine, snapshot and screening results all in the tree</a:t>
            </a:r>
            <a:endParaRPr lang="en-US" sz="1000" dirty="0"/>
          </a:p>
        </p:txBody>
      </p:sp>
      <p:sp>
        <p:nvSpPr>
          <p:cNvPr id="57" name="Text 54"/>
          <p:cNvSpPr/>
          <p:nvPr/>
        </p:nvSpPr>
        <p:spPr>
          <a:xfrm>
            <a:off x="512064" y="4626864"/>
            <a:ext cx="4297680" cy="256032"/>
          </a:xfrm>
          <a:prstGeom prst="rect">
            <a:avLst/>
          </a:prstGeom>
          <a:noFill/>
          <a:ln/>
        </p:spPr>
        <p:txBody>
          <a:bodyPr wrap="square" lIns="0" tIns="0" rIns="0" bIns="0" rtlCol="0" anchor="ctr"/>
          <a:lstStyle/>
          <a:p>
            <a:pPr indent="0" marL="0">
              <a:buNone/>
            </a:pPr>
            <a:r>
              <a:rPr lang="en-US" sz="1250" b="1" dirty="0">
                <a:solidFill>
                  <a:srgbClr val="0070C0"/>
                </a:solidFill>
                <a:latin typeface="Calibri" pitchFamily="34" charset="0"/>
                <a:ea typeface="Calibri" pitchFamily="34" charset="-122"/>
                <a:cs typeface="Calibri" pitchFamily="34" charset="-120"/>
              </a:rPr>
              <a:t>github.com/agpriyanshu07/SIH-Internal-NITR-2</a:t>
            </a:r>
            <a:endParaRPr lang="en-US" sz="1250" dirty="0"/>
          </a:p>
        </p:txBody>
      </p:sp>
      <p:sp>
        <p:nvSpPr>
          <p:cNvPr id="58" name="Text 55"/>
          <p:cNvSpPr/>
          <p:nvPr/>
        </p:nvSpPr>
        <p:spPr>
          <a:xfrm>
            <a:off x="512064" y="4901184"/>
            <a:ext cx="9692640" cy="237744"/>
          </a:xfrm>
          <a:prstGeom prst="rect">
            <a:avLst/>
          </a:prstGeom>
          <a:noFill/>
          <a:ln/>
        </p:spPr>
        <p:txBody>
          <a:bodyPr wrap="square" lIns="0" tIns="0" rIns="0" bIns="0" rtlCol="0" anchor="ctr"/>
          <a:lstStyle/>
          <a:p>
            <a:pPr indent="0" marL="0">
              <a:buNone/>
            </a:pPr>
            <a:r>
              <a:rPr lang="en-US" sz="950" dirty="0">
                <a:solidFill>
                  <a:srgbClr val="333333"/>
                </a:solidFill>
                <a:latin typeface="Calibri" pitchFamily="34" charset="0"/>
                <a:ea typeface="Calibri" pitchFamily="34" charset="-122"/>
                <a:cs typeface="Calibri" pitchFamily="34" charset="-120"/>
              </a:rPr>
              <a:t>npm run validate  reproduces all 62 engine checks  ·  npm run screen  reproduces all 3,032 events  ·  npm run scaling  re-measures the ≈1.73 exponent</a:t>
            </a:r>
            <a:endParaRPr lang="en-US" sz="950" dirty="0"/>
          </a:p>
        </p:txBody>
      </p:sp>
      <p:sp>
        <p:nvSpPr>
          <p:cNvPr id="59" name="Text 56"/>
          <p:cNvSpPr/>
          <p:nvPr/>
        </p:nvSpPr>
        <p:spPr>
          <a:xfrm>
            <a:off x="512064" y="5157216"/>
            <a:ext cx="9692640" cy="237744"/>
          </a:xfrm>
          <a:prstGeom prst="rect">
            <a:avLst/>
          </a:prstGeom>
          <a:noFill/>
          <a:ln/>
        </p:spPr>
        <p:txBody>
          <a:bodyPr wrap="square" lIns="0" tIns="0" rIns="0" bIns="0" rtlCol="0" anchor="ctr"/>
          <a:lstStyle/>
          <a:p>
            <a:pPr indent="0" marL="0">
              <a:buNone/>
            </a:pPr>
            <a:r>
              <a:rPr lang="en-US" sz="950" i="1" dirty="0">
                <a:solidFill>
                  <a:srgbClr val="5A6673"/>
                </a:solidFill>
                <a:latin typeface="Calibri" pitchFamily="34" charset="0"/>
                <a:ea typeface="Calibri" pitchFamily="34" charset="-122"/>
                <a:cs typeface="Calibri" pitchFamily="34" charset="-120"/>
              </a:rPr>
              <a:t>No figure in this presentation is estimated, projected or illustrative. Each one is either measured by the prototype or cited above.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2026-08-26T16:45:02Z</dcterms:created>
  <dcterms:modified xsi:type="dcterms:W3CDTF">2026-08-26T16:45:02Z</dcterms:modified>
</cp:coreProperties>
</file>