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0692994" cy="6019495"/>
  <p:notesSz cx="6019495" cy="1069299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PS-04. Fill in Team ID and Team Name before submitting — they are the only placeholders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ratio. The innovation is epistemic, not algorithmic — say that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scale: measured with npm run scaling, six catalogue sizes, not extrapolated from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column is the slide to linger on — every mitigation is already built, not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this slide is visible in the live demo. Do not round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AI question. This slide answers it with numbers rather than defensively.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8138160" cy="603504"/>
          </a:xfrm>
          <a:prstGeom prst="rect">
            <a:avLst/>
          </a:prstGeom>
          <a:noFill/>
          <a:ln/>
        </p:spPr>
        <p:txBody>
          <a:bodyPr wrap="square" lIns="0" tIns="0" rIns="0" bIns="0" rtlCol="0" anchor="ctr"/>
          <a:lstStyle/>
          <a:p>
            <a:pPr algn="ctr" indent="0" marL="0">
              <a:buNone/>
            </a:pPr>
            <a:r>
              <a:rPr lang="en-US" sz="3300" b="1" dirty="0">
                <a:solidFill>
                  <a:srgbClr val="1F497D"/>
                </a:solidFill>
                <a:latin typeface="Calibri" pitchFamily="34" charset="0"/>
                <a:ea typeface="Calibri" pitchFamily="34" charset="-122"/>
                <a:cs typeface="Calibri" pitchFamily="34" charset="-120"/>
              </a:rPr>
              <a:t>SMART INDIA HACKATHON 2026</a:t>
            </a:r>
            <a:endParaRPr lang="en-US" sz="3300" dirty="0"/>
          </a:p>
        </p:txBody>
      </p:sp>
      <p:pic>
        <p:nvPicPr>
          <p:cNvPr id="3" name="Image 0" descr="preencoded.png">    </p:cNvPr>
          <p:cNvPicPr>
            <a:picLocks noChangeAspect="1"/>
          </p:cNvPicPr>
          <p:nvPr/>
        </p:nvPicPr>
        <p:blipFill>
          <a:blip r:embed="rId1"/>
          <a:stretch>
            <a:fillRect/>
          </a:stretch>
        </p:blipFill>
        <p:spPr>
          <a:xfrm>
            <a:off x="8814816" y="146304"/>
            <a:ext cx="792843" cy="868680"/>
          </a:xfrm>
          <a:prstGeom prst="rect">
            <a:avLst/>
          </a:prstGeom>
        </p:spPr>
      </p:pic>
      <p:sp>
        <p:nvSpPr>
          <p:cNvPr id="4" name="Text 1"/>
          <p:cNvSpPr/>
          <p:nvPr/>
        </p:nvSpPr>
        <p:spPr>
          <a:xfrm>
            <a:off x="9710928" y="182880"/>
            <a:ext cx="868680" cy="804672"/>
          </a:xfrm>
          <a:prstGeom prst="rect">
            <a:avLst/>
          </a:prstGeom>
          <a:noFill/>
          <a:ln/>
        </p:spPr>
        <p:txBody>
          <a:bodyPr wrap="square" lIns="0" tIns="0" rIns="0" bIns="0" rtlCol="0" anchor="ctr"/>
          <a:lstStyle/>
          <a:p>
            <a:pPr indent="0" marL="0">
              <a:lnSpc>
                <a:spcPts val="1150"/>
              </a:lnSpc>
              <a:buNone/>
            </a:pPr>
            <a:r>
              <a:rPr lang="en-US" sz="1000" b="1" dirty="0">
                <a:solidFill>
                  <a:srgbClr val="3E4A56"/>
                </a:solidFill>
                <a:latin typeface="Calibri" pitchFamily="34" charset="0"/>
                <a:ea typeface="Calibri" pitchFamily="34" charset="-122"/>
                <a:cs typeface="Calibri" pitchFamily="34" charset="-120"/>
              </a:rPr>
              <a:t>SMART INDIA</a:t>
            </a:r>
            <a:endParaRPr lang="en-US" sz="1000" dirty="0"/>
          </a:p>
          <a:p>
            <a:pPr indent="0" marL="0">
              <a:lnSpc>
                <a:spcPts val="1150"/>
              </a:lnSpc>
              <a:buNone/>
            </a:pPr>
            <a:r>
              <a:rPr lang="en-US" sz="1000" b="1" dirty="0">
                <a:solidFill>
                  <a:srgbClr val="3E4A56"/>
                </a:solidFill>
                <a:latin typeface="Calibri" pitchFamily="34" charset="0"/>
                <a:ea typeface="Calibri" pitchFamily="34" charset="-122"/>
                <a:cs typeface="Calibri" pitchFamily="34" charset="-120"/>
              </a:rPr>
              <a:t>HACKATHON</a:t>
            </a:r>
            <a:endParaRPr lang="en-US" sz="1000" dirty="0"/>
          </a:p>
          <a:p>
            <a:pPr indent="0" marL="0">
              <a:lnSpc>
                <a:spcPts val="1150"/>
              </a:lnSpc>
              <a:buNone/>
            </a:pPr>
            <a:r>
              <a:rPr lang="en-US" sz="1000" b="1" dirty="0">
                <a:solidFill>
                  <a:srgbClr val="3E4A56"/>
                </a:solidFill>
                <a:latin typeface="Calibri" pitchFamily="34" charset="0"/>
                <a:ea typeface="Calibri" pitchFamily="34" charset="-122"/>
                <a:cs typeface="Calibri" pitchFamily="34" charset="-120"/>
              </a:rPr>
              <a:t>2026</a:t>
            </a:r>
            <a:endParaRPr lang="en-US" sz="1000" dirty="0"/>
          </a:p>
        </p:txBody>
      </p:sp>
      <p:sp>
        <p:nvSpPr>
          <p:cNvPr id="5" name="Text 2"/>
          <p:cNvSpPr/>
          <p:nvPr/>
        </p:nvSpPr>
        <p:spPr>
          <a:xfrm>
            <a:off x="457200" y="987552"/>
            <a:ext cx="8138160" cy="438912"/>
          </a:xfrm>
          <a:prstGeom prst="rect">
            <a:avLst/>
          </a:prstGeom>
          <a:noFill/>
          <a:ln/>
        </p:spPr>
        <p:txBody>
          <a:bodyPr wrap="square" lIns="0" tIns="0" rIns="0" bIns="0" rtlCol="0" anchor="ctr"/>
          <a:lstStyle/>
          <a:p>
            <a:pPr algn="ctr" indent="0" marL="0">
              <a:buNone/>
            </a:pPr>
            <a:r>
              <a:rPr lang="en-US" sz="2200" b="1" dirty="0">
                <a:solidFill>
                  <a:srgbClr val="111111"/>
                </a:solidFill>
                <a:latin typeface="Calibri" pitchFamily="34" charset="0"/>
                <a:ea typeface="Calibri" pitchFamily="34" charset="-122"/>
                <a:cs typeface="Calibri" pitchFamily="34" charset="-120"/>
              </a:rPr>
              <a:t>TITLE PAGE</a:t>
            </a:r>
            <a:endParaRPr lang="en-US" sz="2200" dirty="0"/>
          </a:p>
        </p:txBody>
      </p:sp>
      <p:sp>
        <p:nvSpPr>
          <p:cNvPr id="6" name="Text 3"/>
          <p:cNvSpPr/>
          <p:nvPr/>
        </p:nvSpPr>
        <p:spPr>
          <a:xfrm>
            <a:off x="384048" y="1664208"/>
            <a:ext cx="182880" cy="219456"/>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7" name="Text 4"/>
          <p:cNvSpPr/>
          <p:nvPr/>
        </p:nvSpPr>
        <p:spPr>
          <a:xfrm>
            <a:off x="603504" y="1645920"/>
            <a:ext cx="5989320" cy="274320"/>
          </a:xfrm>
          <a:prstGeom prst="rect">
            <a:avLst/>
          </a:prstGeom>
          <a:noFill/>
          <a:ln/>
        </p:spPr>
        <p:txBody>
          <a:bodyPr wrap="square" lIns="0" tIns="0" rIns="0" bIns="0" rtlCol="0" anchor="t"/>
          <a:lstStyle/>
          <a:p>
            <a:pPr indent="0" marL="0">
              <a:lnSpc>
                <a:spcPts val="1900"/>
              </a:lnSpc>
              <a:buNone/>
            </a:pPr>
            <a:r>
              <a:rPr lang="en-US" sz="1350" b="1" dirty="0">
                <a:solidFill>
                  <a:srgbClr val="111111"/>
                </a:solidFill>
                <a:latin typeface="Calibri" pitchFamily="34" charset="0"/>
                <a:ea typeface="Calibri" pitchFamily="34" charset="-122"/>
                <a:cs typeface="Calibri" pitchFamily="34" charset="-120"/>
              </a:rPr>
              <a:t>Problem Statement ID – </a:t>
            </a:r>
            <a:pPr indent="0" marL="0">
              <a:lnSpc>
                <a:spcPts val="1900"/>
              </a:lnSpc>
              <a:buNone/>
            </a:pPr>
            <a:r>
              <a:rPr lang="en-US" sz="1350" dirty="0">
                <a:solidFill>
                  <a:srgbClr val="333333"/>
                </a:solidFill>
                <a:latin typeface="Calibri" pitchFamily="34" charset="0"/>
                <a:ea typeface="Calibri" pitchFamily="34" charset="-122"/>
                <a:cs typeface="Calibri" pitchFamily="34" charset="-120"/>
              </a:rPr>
              <a:t>PS-04</a:t>
            </a:r>
            <a:endParaRPr lang="en-US" sz="1350" dirty="0"/>
          </a:p>
        </p:txBody>
      </p:sp>
      <p:sp>
        <p:nvSpPr>
          <p:cNvPr id="8" name="Text 5"/>
          <p:cNvSpPr/>
          <p:nvPr/>
        </p:nvSpPr>
        <p:spPr>
          <a:xfrm>
            <a:off x="384048" y="2066544"/>
            <a:ext cx="182880" cy="219456"/>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9" name="Text 6"/>
          <p:cNvSpPr/>
          <p:nvPr/>
        </p:nvSpPr>
        <p:spPr>
          <a:xfrm>
            <a:off x="603504" y="2048256"/>
            <a:ext cx="5989320" cy="512064"/>
          </a:xfrm>
          <a:prstGeom prst="rect">
            <a:avLst/>
          </a:prstGeom>
          <a:noFill/>
          <a:ln/>
        </p:spPr>
        <p:txBody>
          <a:bodyPr wrap="square" lIns="0" tIns="0" rIns="0" bIns="0" rtlCol="0" anchor="t"/>
          <a:lstStyle/>
          <a:p>
            <a:pPr indent="0" marL="0">
              <a:lnSpc>
                <a:spcPts val="1900"/>
              </a:lnSpc>
              <a:buNone/>
            </a:pPr>
            <a:r>
              <a:rPr lang="en-US" sz="1350" b="1" dirty="0">
                <a:solidFill>
                  <a:srgbClr val="111111"/>
                </a:solidFill>
                <a:latin typeface="Calibri" pitchFamily="34" charset="0"/>
                <a:ea typeface="Calibri" pitchFamily="34" charset="-122"/>
                <a:cs typeface="Calibri" pitchFamily="34" charset="-120"/>
              </a:rPr>
              <a:t>Problem Statement Title – </a:t>
            </a:r>
            <a:pPr indent="0" marL="0">
              <a:lnSpc>
                <a:spcPts val="1900"/>
              </a:lnSpc>
              <a:buNone/>
            </a:pPr>
            <a:r>
              <a:rPr lang="en-US" sz="1350" dirty="0">
                <a:solidFill>
                  <a:srgbClr val="333333"/>
                </a:solidFill>
                <a:latin typeface="Calibri" pitchFamily="34" charset="0"/>
                <a:ea typeface="Calibri" pitchFamily="34" charset="-122"/>
                <a:cs typeface="Calibri" pitchFamily="34" charset="-120"/>
              </a:rPr>
              <a:t>Space Debris Tracking &amp; Satellite Collision Risk Prediction Dashboard</a:t>
            </a:r>
            <a:endParaRPr lang="en-US" sz="1350" dirty="0"/>
          </a:p>
        </p:txBody>
      </p:sp>
      <p:sp>
        <p:nvSpPr>
          <p:cNvPr id="10" name="Text 7"/>
          <p:cNvSpPr/>
          <p:nvPr/>
        </p:nvSpPr>
        <p:spPr>
          <a:xfrm>
            <a:off x="384048" y="2706624"/>
            <a:ext cx="182880" cy="219456"/>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11" name="Text 8"/>
          <p:cNvSpPr/>
          <p:nvPr/>
        </p:nvSpPr>
        <p:spPr>
          <a:xfrm>
            <a:off x="603504" y="2688336"/>
            <a:ext cx="5989320" cy="274320"/>
          </a:xfrm>
          <a:prstGeom prst="rect">
            <a:avLst/>
          </a:prstGeom>
          <a:noFill/>
          <a:ln/>
        </p:spPr>
        <p:txBody>
          <a:bodyPr wrap="square" lIns="0" tIns="0" rIns="0" bIns="0" rtlCol="0" anchor="t"/>
          <a:lstStyle/>
          <a:p>
            <a:pPr indent="0" marL="0">
              <a:lnSpc>
                <a:spcPts val="1900"/>
              </a:lnSpc>
              <a:buNone/>
            </a:pPr>
            <a:r>
              <a:rPr lang="en-US" sz="1350" b="1" dirty="0">
                <a:solidFill>
                  <a:srgbClr val="111111"/>
                </a:solidFill>
                <a:latin typeface="Calibri" pitchFamily="34" charset="0"/>
                <a:ea typeface="Calibri" pitchFamily="34" charset="-122"/>
                <a:cs typeface="Calibri" pitchFamily="34" charset="-120"/>
              </a:rPr>
              <a:t>Theme – </a:t>
            </a:r>
            <a:pPr indent="0" marL="0">
              <a:lnSpc>
                <a:spcPts val="1900"/>
              </a:lnSpc>
              <a:buNone/>
            </a:pPr>
            <a:r>
              <a:rPr lang="en-US" sz="1350" dirty="0">
                <a:solidFill>
                  <a:srgbClr val="333333"/>
                </a:solidFill>
                <a:latin typeface="Calibri" pitchFamily="34" charset="0"/>
                <a:ea typeface="Calibri" pitchFamily="34" charset="-122"/>
                <a:cs typeface="Calibri" pitchFamily="34" charset="-120"/>
              </a:rPr>
              <a:t>Space Technology</a:t>
            </a:r>
            <a:endParaRPr lang="en-US" sz="1350" dirty="0"/>
          </a:p>
        </p:txBody>
      </p:sp>
      <p:sp>
        <p:nvSpPr>
          <p:cNvPr id="12" name="Text 9"/>
          <p:cNvSpPr/>
          <p:nvPr/>
        </p:nvSpPr>
        <p:spPr>
          <a:xfrm>
            <a:off x="384048" y="3108960"/>
            <a:ext cx="182880" cy="219456"/>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603504" y="3090672"/>
            <a:ext cx="5989320" cy="274320"/>
          </a:xfrm>
          <a:prstGeom prst="rect">
            <a:avLst/>
          </a:prstGeom>
          <a:noFill/>
          <a:ln/>
        </p:spPr>
        <p:txBody>
          <a:bodyPr wrap="square" lIns="0" tIns="0" rIns="0" bIns="0" rtlCol="0" anchor="t"/>
          <a:lstStyle/>
          <a:p>
            <a:pPr indent="0" marL="0">
              <a:lnSpc>
                <a:spcPts val="1900"/>
              </a:lnSpc>
              <a:buNone/>
            </a:pPr>
            <a:r>
              <a:rPr lang="en-US" sz="1350" b="1" dirty="0">
                <a:solidFill>
                  <a:srgbClr val="111111"/>
                </a:solidFill>
                <a:latin typeface="Calibri" pitchFamily="34" charset="0"/>
                <a:ea typeface="Calibri" pitchFamily="34" charset="-122"/>
                <a:cs typeface="Calibri" pitchFamily="34" charset="-120"/>
              </a:rPr>
              <a:t>PS Category – </a:t>
            </a:r>
            <a:pPr indent="0" marL="0">
              <a:lnSpc>
                <a:spcPts val="1900"/>
              </a:lnSpc>
              <a:buNone/>
            </a:pPr>
            <a:r>
              <a:rPr lang="en-US" sz="1350" dirty="0">
                <a:solidFill>
                  <a:srgbClr val="333333"/>
                </a:solidFill>
                <a:latin typeface="Calibri" pitchFamily="34" charset="0"/>
                <a:ea typeface="Calibri" pitchFamily="34" charset="-122"/>
                <a:cs typeface="Calibri" pitchFamily="34" charset="-120"/>
              </a:rPr>
              <a:t>Software</a:t>
            </a:r>
            <a:endParaRPr lang="en-US" sz="1350" dirty="0"/>
          </a:p>
        </p:txBody>
      </p:sp>
      <p:sp>
        <p:nvSpPr>
          <p:cNvPr id="14" name="Text 11"/>
          <p:cNvSpPr/>
          <p:nvPr/>
        </p:nvSpPr>
        <p:spPr>
          <a:xfrm>
            <a:off x="384048" y="3511296"/>
            <a:ext cx="182880" cy="219456"/>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15" name="Text 12"/>
          <p:cNvSpPr/>
          <p:nvPr/>
        </p:nvSpPr>
        <p:spPr>
          <a:xfrm>
            <a:off x="603504" y="3493008"/>
            <a:ext cx="5989320" cy="274320"/>
          </a:xfrm>
          <a:prstGeom prst="rect">
            <a:avLst/>
          </a:prstGeom>
          <a:noFill/>
          <a:ln/>
        </p:spPr>
        <p:txBody>
          <a:bodyPr wrap="square" lIns="0" tIns="0" rIns="0" bIns="0" rtlCol="0" anchor="t"/>
          <a:lstStyle/>
          <a:p>
            <a:pPr indent="0" marL="0">
              <a:lnSpc>
                <a:spcPts val="1900"/>
              </a:lnSpc>
              <a:buNone/>
            </a:pPr>
            <a:r>
              <a:rPr lang="en-US" sz="1350" b="1" dirty="0">
                <a:solidFill>
                  <a:srgbClr val="111111"/>
                </a:solidFill>
                <a:latin typeface="Calibri" pitchFamily="34" charset="0"/>
                <a:ea typeface="Calibri" pitchFamily="34" charset="-122"/>
                <a:cs typeface="Calibri" pitchFamily="34" charset="-120"/>
              </a:rPr>
              <a:t>Team ID – </a:t>
            </a:r>
            <a:pPr indent="0" marL="0">
              <a:lnSpc>
                <a:spcPts val="1900"/>
              </a:lnSpc>
              <a:buNone/>
            </a:pPr>
            <a:r>
              <a:rPr lang="en-US" sz="1350" i="1" dirty="0">
                <a:solidFill>
                  <a:srgbClr val="B3261E"/>
                </a:solidFill>
                <a:latin typeface="Calibri" pitchFamily="34" charset="0"/>
                <a:ea typeface="Calibri" pitchFamily="34" charset="-122"/>
                <a:cs typeface="Calibri" pitchFamily="34" charset="-120"/>
              </a:rPr>
              <a:t>&lt;&lt; enter your Team ID &gt;&gt;</a:t>
            </a:r>
            <a:endParaRPr lang="en-US" sz="1350" dirty="0"/>
          </a:p>
        </p:txBody>
      </p:sp>
      <p:sp>
        <p:nvSpPr>
          <p:cNvPr id="16" name="Text 13"/>
          <p:cNvSpPr/>
          <p:nvPr/>
        </p:nvSpPr>
        <p:spPr>
          <a:xfrm>
            <a:off x="384048" y="3913632"/>
            <a:ext cx="182880" cy="219456"/>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17" name="Text 14"/>
          <p:cNvSpPr/>
          <p:nvPr/>
        </p:nvSpPr>
        <p:spPr>
          <a:xfrm>
            <a:off x="603504" y="3895344"/>
            <a:ext cx="5989320" cy="274320"/>
          </a:xfrm>
          <a:prstGeom prst="rect">
            <a:avLst/>
          </a:prstGeom>
          <a:noFill/>
          <a:ln/>
        </p:spPr>
        <p:txBody>
          <a:bodyPr wrap="square" lIns="0" tIns="0" rIns="0" bIns="0" rtlCol="0" anchor="t"/>
          <a:lstStyle/>
          <a:p>
            <a:pPr indent="0" marL="0">
              <a:lnSpc>
                <a:spcPts val="1900"/>
              </a:lnSpc>
              <a:buNone/>
            </a:pPr>
            <a:r>
              <a:rPr lang="en-US" sz="1350" b="1" dirty="0">
                <a:solidFill>
                  <a:srgbClr val="111111"/>
                </a:solidFill>
                <a:latin typeface="Calibri" pitchFamily="34" charset="0"/>
                <a:ea typeface="Calibri" pitchFamily="34" charset="-122"/>
                <a:cs typeface="Calibri" pitchFamily="34" charset="-120"/>
              </a:rPr>
              <a:t>Team Name (Registered on portal) – </a:t>
            </a:r>
            <a:pPr indent="0" marL="0">
              <a:lnSpc>
                <a:spcPts val="1900"/>
              </a:lnSpc>
              <a:buNone/>
            </a:pPr>
            <a:r>
              <a:rPr lang="en-US" sz="1350" i="1" dirty="0">
                <a:solidFill>
                  <a:srgbClr val="B3261E"/>
                </a:solidFill>
                <a:latin typeface="Calibri" pitchFamily="34" charset="0"/>
                <a:ea typeface="Calibri" pitchFamily="34" charset="-122"/>
                <a:cs typeface="Calibri" pitchFamily="34" charset="-120"/>
              </a:rPr>
              <a:t>&lt;&lt; enter your Team Name &gt;&gt;</a:t>
            </a:r>
            <a:endParaRPr lang="en-US" sz="1350" dirty="0"/>
          </a:p>
        </p:txBody>
      </p:sp>
      <p:sp>
        <p:nvSpPr>
          <p:cNvPr id="18" name="Shape 15"/>
          <p:cNvSpPr/>
          <p:nvPr/>
        </p:nvSpPr>
        <p:spPr>
          <a:xfrm>
            <a:off x="6858000" y="1627632"/>
            <a:ext cx="3529584" cy="2487168"/>
          </a:xfrm>
          <a:prstGeom prst="roundRect">
            <a:avLst>
              <a:gd name="adj" fmla="val 1103"/>
            </a:avLst>
          </a:prstGeom>
          <a:solidFill>
            <a:srgbClr val="F2F6FA"/>
          </a:solidFill>
          <a:ln w="9525">
            <a:solidFill>
              <a:srgbClr val="D4DAE2"/>
            </a:solidFill>
            <a:prstDash val="solid"/>
          </a:ln>
        </p:spPr>
      </p:sp>
      <p:sp>
        <p:nvSpPr>
          <p:cNvPr id="19" name="Text 16"/>
          <p:cNvSpPr/>
          <p:nvPr/>
        </p:nvSpPr>
        <p:spPr>
          <a:xfrm>
            <a:off x="7095744" y="1792224"/>
            <a:ext cx="3200400" cy="182880"/>
          </a:xfrm>
          <a:prstGeom prst="rect">
            <a:avLst/>
          </a:prstGeom>
          <a:noFill/>
          <a:ln/>
        </p:spPr>
        <p:txBody>
          <a:bodyPr wrap="square" lIns="0" tIns="0" rIns="0" bIns="0" rtlCol="0" anchor="ctr"/>
          <a:lstStyle/>
          <a:p>
            <a:pPr indent="0" marL="0">
              <a:buNone/>
            </a:pPr>
            <a:r>
              <a:rPr lang="en-US" sz="850" b="1" spc="90" kern="0" dirty="0">
                <a:solidFill>
                  <a:srgbClr val="1F497D"/>
                </a:solidFill>
                <a:latin typeface="Calibri" pitchFamily="34" charset="0"/>
                <a:ea typeface="Calibri" pitchFamily="34" charset="-122"/>
                <a:cs typeface="Calibri" pitchFamily="34" charset="-120"/>
              </a:rPr>
              <a:t>WORKING PROTOTYPE — MEASURED, NOT PROJECTED</a:t>
            </a:r>
            <a:endParaRPr lang="en-US" sz="850" dirty="0"/>
          </a:p>
        </p:txBody>
      </p:sp>
      <p:sp>
        <p:nvSpPr>
          <p:cNvPr id="20" name="Text 17"/>
          <p:cNvSpPr/>
          <p:nvPr/>
        </p:nvSpPr>
        <p:spPr>
          <a:xfrm>
            <a:off x="7095744" y="2103120"/>
            <a:ext cx="1188720" cy="310896"/>
          </a:xfrm>
          <a:prstGeom prst="rect">
            <a:avLst/>
          </a:prstGeom>
          <a:noFill/>
          <a:ln/>
        </p:spPr>
        <p:txBody>
          <a:bodyPr wrap="square" lIns="0" tIns="0" rIns="0" bIns="0" rtlCol="0" anchor="ctr"/>
          <a:lstStyle/>
          <a:p>
            <a:pPr indent="0" marL="0">
              <a:buNone/>
            </a:pPr>
            <a:r>
              <a:rPr lang="en-US" sz="1900" b="1" dirty="0">
                <a:solidFill>
                  <a:srgbClr val="1F497D"/>
                </a:solidFill>
                <a:latin typeface="Arial" pitchFamily="34" charset="0"/>
                <a:ea typeface="Arial" pitchFamily="34" charset="-122"/>
                <a:cs typeface="Arial" pitchFamily="34" charset="-120"/>
              </a:rPr>
              <a:t>859</a:t>
            </a:r>
            <a:endParaRPr lang="en-US" sz="1900" dirty="0"/>
          </a:p>
        </p:txBody>
      </p:sp>
      <p:sp>
        <p:nvSpPr>
          <p:cNvPr id="21" name="Text 18"/>
          <p:cNvSpPr/>
          <p:nvPr/>
        </p:nvSpPr>
        <p:spPr>
          <a:xfrm>
            <a:off x="8321040" y="2084832"/>
            <a:ext cx="1956816" cy="347472"/>
          </a:xfrm>
          <a:prstGeom prst="rect">
            <a:avLst/>
          </a:prstGeom>
          <a:noFill/>
          <a:ln/>
        </p:spPr>
        <p:txBody>
          <a:bodyPr wrap="square" lIns="0" tIns="0" rIns="0" bIns="0" rtlCol="0" anchor="ctr"/>
          <a:lstStyle/>
          <a:p>
            <a:pPr indent="0" marL="0">
              <a:lnSpc>
                <a:spcPts val="1150"/>
              </a:lnSpc>
              <a:buNone/>
            </a:pPr>
            <a:r>
              <a:rPr lang="en-US" sz="1000" dirty="0">
                <a:solidFill>
                  <a:srgbClr val="333333"/>
                </a:solidFill>
                <a:latin typeface="Calibri" pitchFamily="34" charset="0"/>
                <a:ea typeface="Calibri" pitchFamily="34" charset="-122"/>
                <a:cs typeface="Calibri" pitchFamily="34" charset="-120"/>
              </a:rPr>
              <a:t>real tracked objects screened</a:t>
            </a:r>
            <a:endParaRPr lang="en-US" sz="1000" dirty="0"/>
          </a:p>
        </p:txBody>
      </p:sp>
      <p:sp>
        <p:nvSpPr>
          <p:cNvPr id="22" name="Text 19"/>
          <p:cNvSpPr/>
          <p:nvPr/>
        </p:nvSpPr>
        <p:spPr>
          <a:xfrm>
            <a:off x="7095744" y="2560320"/>
            <a:ext cx="1188720" cy="310896"/>
          </a:xfrm>
          <a:prstGeom prst="rect">
            <a:avLst/>
          </a:prstGeom>
          <a:noFill/>
          <a:ln/>
        </p:spPr>
        <p:txBody>
          <a:bodyPr wrap="square" lIns="0" tIns="0" rIns="0" bIns="0" rtlCol="0" anchor="ctr"/>
          <a:lstStyle/>
          <a:p>
            <a:pPr indent="0" marL="0">
              <a:buNone/>
            </a:pPr>
            <a:r>
              <a:rPr lang="en-US" sz="1900" b="1" dirty="0">
                <a:solidFill>
                  <a:srgbClr val="1F497D"/>
                </a:solidFill>
                <a:latin typeface="Arial" pitchFamily="34" charset="0"/>
                <a:ea typeface="Arial" pitchFamily="34" charset="-122"/>
                <a:cs typeface="Arial" pitchFamily="34" charset="-120"/>
              </a:rPr>
              <a:t>3,032</a:t>
            </a:r>
            <a:endParaRPr lang="en-US" sz="1900" dirty="0"/>
          </a:p>
        </p:txBody>
      </p:sp>
      <p:sp>
        <p:nvSpPr>
          <p:cNvPr id="23" name="Text 20"/>
          <p:cNvSpPr/>
          <p:nvPr/>
        </p:nvSpPr>
        <p:spPr>
          <a:xfrm>
            <a:off x="8321040" y="2542032"/>
            <a:ext cx="1956816" cy="347472"/>
          </a:xfrm>
          <a:prstGeom prst="rect">
            <a:avLst/>
          </a:prstGeom>
          <a:noFill/>
          <a:ln/>
        </p:spPr>
        <p:txBody>
          <a:bodyPr wrap="square" lIns="0" tIns="0" rIns="0" bIns="0" rtlCol="0" anchor="ctr"/>
          <a:lstStyle/>
          <a:p>
            <a:pPr indent="0" marL="0">
              <a:lnSpc>
                <a:spcPts val="1150"/>
              </a:lnSpc>
              <a:buNone/>
            </a:pPr>
            <a:r>
              <a:rPr lang="en-US" sz="1000" dirty="0">
                <a:solidFill>
                  <a:srgbClr val="333333"/>
                </a:solidFill>
                <a:latin typeface="Calibri" pitchFamily="34" charset="0"/>
                <a:ea typeface="Calibri" pitchFamily="34" charset="-122"/>
                <a:cs typeface="Calibri" pitchFamily="34" charset="-120"/>
              </a:rPr>
              <a:t>close approaches found in 72 h</a:t>
            </a:r>
            <a:endParaRPr lang="en-US" sz="1000" dirty="0"/>
          </a:p>
        </p:txBody>
      </p:sp>
      <p:sp>
        <p:nvSpPr>
          <p:cNvPr id="24" name="Text 21"/>
          <p:cNvSpPr/>
          <p:nvPr/>
        </p:nvSpPr>
        <p:spPr>
          <a:xfrm>
            <a:off x="7095744" y="3017520"/>
            <a:ext cx="1188720" cy="310896"/>
          </a:xfrm>
          <a:prstGeom prst="rect">
            <a:avLst/>
          </a:prstGeom>
          <a:noFill/>
          <a:ln/>
        </p:spPr>
        <p:txBody>
          <a:bodyPr wrap="square" lIns="0" tIns="0" rIns="0" bIns="0" rtlCol="0" anchor="ctr"/>
          <a:lstStyle/>
          <a:p>
            <a:pPr indent="0" marL="0">
              <a:buNone/>
            </a:pPr>
            <a:r>
              <a:rPr lang="en-US" sz="1900" b="1" dirty="0">
                <a:solidFill>
                  <a:srgbClr val="1F497D"/>
                </a:solidFill>
                <a:latin typeface="Arial" pitchFamily="34" charset="0"/>
                <a:ea typeface="Arial" pitchFamily="34" charset="-122"/>
                <a:cs typeface="Arial" pitchFamily="34" charset="-120"/>
              </a:rPr>
              <a:t>62 / 62</a:t>
            </a:r>
            <a:endParaRPr lang="en-US" sz="1900" dirty="0"/>
          </a:p>
        </p:txBody>
      </p:sp>
      <p:sp>
        <p:nvSpPr>
          <p:cNvPr id="25" name="Text 22"/>
          <p:cNvSpPr/>
          <p:nvPr/>
        </p:nvSpPr>
        <p:spPr>
          <a:xfrm>
            <a:off x="8321040" y="2999232"/>
            <a:ext cx="1956816" cy="347472"/>
          </a:xfrm>
          <a:prstGeom prst="rect">
            <a:avLst/>
          </a:prstGeom>
          <a:noFill/>
          <a:ln/>
        </p:spPr>
        <p:txBody>
          <a:bodyPr wrap="square" lIns="0" tIns="0" rIns="0" bIns="0" rtlCol="0" anchor="ctr"/>
          <a:lstStyle/>
          <a:p>
            <a:pPr indent="0" marL="0">
              <a:lnSpc>
                <a:spcPts val="1150"/>
              </a:lnSpc>
              <a:buNone/>
            </a:pPr>
            <a:r>
              <a:rPr lang="en-US" sz="1000" dirty="0">
                <a:solidFill>
                  <a:srgbClr val="333333"/>
                </a:solidFill>
                <a:latin typeface="Calibri" pitchFamily="34" charset="0"/>
                <a:ea typeface="Calibri" pitchFamily="34" charset="-122"/>
                <a:cs typeface="Calibri" pitchFamily="34" charset="-120"/>
              </a:rPr>
              <a:t>known-answer engine tests pass</a:t>
            </a:r>
            <a:endParaRPr lang="en-US" sz="1000" dirty="0"/>
          </a:p>
        </p:txBody>
      </p:sp>
      <p:sp>
        <p:nvSpPr>
          <p:cNvPr id="26" name="Text 23"/>
          <p:cNvSpPr/>
          <p:nvPr/>
        </p:nvSpPr>
        <p:spPr>
          <a:xfrm>
            <a:off x="7095744" y="3511296"/>
            <a:ext cx="3108960" cy="402336"/>
          </a:xfrm>
          <a:prstGeom prst="rect">
            <a:avLst/>
          </a:prstGeom>
          <a:noFill/>
          <a:ln/>
        </p:spPr>
        <p:txBody>
          <a:bodyPr wrap="square" lIns="0" tIns="0" rIns="0" bIns="0" rtlCol="0" anchor="ctr"/>
          <a:lstStyle/>
          <a:p>
            <a:pPr indent="0" marL="0">
              <a:lnSpc>
                <a:spcPts val="1200"/>
              </a:lnSpc>
              <a:buNone/>
            </a:pPr>
            <a:r>
              <a:rPr lang="en-US" sz="1000" i="1" dirty="0">
                <a:solidFill>
                  <a:srgbClr val="5A6673"/>
                </a:solidFill>
                <a:latin typeface="Calibri" pitchFamily="34" charset="0"/>
                <a:ea typeface="Calibri" pitchFamily="34" charset="-122"/>
                <a:cs typeface="Calibri" pitchFamily="34" charset="-120"/>
              </a:rPr>
              <a:t>Runs entirely in the browser — no backend, no network at runtime.</a:t>
            </a:r>
            <a:endParaRPr lang="en-US" sz="1000" dirty="0"/>
          </a:p>
        </p:txBody>
      </p:sp>
      <p:sp>
        <p:nvSpPr>
          <p:cNvPr id="27" name="Shape 24"/>
          <p:cNvSpPr/>
          <p:nvPr/>
        </p:nvSpPr>
        <p:spPr>
          <a:xfrm>
            <a:off x="310896" y="4443984"/>
            <a:ext cx="10076688" cy="932688"/>
          </a:xfrm>
          <a:prstGeom prst="roundRect">
            <a:avLst>
              <a:gd name="adj" fmla="val 2941"/>
            </a:avLst>
          </a:prstGeom>
          <a:solidFill>
            <a:srgbClr val="F2F6FA"/>
          </a:solidFill>
          <a:ln w="9525">
            <a:solidFill>
              <a:srgbClr val="D4DAE2"/>
            </a:solidFill>
            <a:prstDash val="solid"/>
          </a:ln>
        </p:spPr>
      </p:sp>
      <p:sp>
        <p:nvSpPr>
          <p:cNvPr id="28" name="Shape 25"/>
          <p:cNvSpPr/>
          <p:nvPr/>
        </p:nvSpPr>
        <p:spPr>
          <a:xfrm>
            <a:off x="310896" y="4443984"/>
            <a:ext cx="64008" cy="932688"/>
          </a:xfrm>
          <a:prstGeom prst="rect">
            <a:avLst/>
          </a:prstGeom>
          <a:solidFill>
            <a:srgbClr val="1F497D"/>
          </a:solidFill>
          <a:ln/>
        </p:spPr>
      </p:sp>
      <p:sp>
        <p:nvSpPr>
          <p:cNvPr id="29" name="Text 26"/>
          <p:cNvSpPr/>
          <p:nvPr/>
        </p:nvSpPr>
        <p:spPr>
          <a:xfrm>
            <a:off x="566928" y="4553712"/>
            <a:ext cx="9692640" cy="274320"/>
          </a:xfrm>
          <a:prstGeom prst="rect">
            <a:avLst/>
          </a:prstGeom>
          <a:noFill/>
          <a:ln/>
        </p:spPr>
        <p:txBody>
          <a:bodyPr wrap="square" lIns="0" tIns="0" rIns="0" bIns="0"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A conjunction screening console that ranks close approaches AND states what would change the verdict.</a:t>
            </a:r>
            <a:endParaRPr lang="en-US" sz="1350" dirty="0"/>
          </a:p>
        </p:txBody>
      </p:sp>
      <p:sp>
        <p:nvSpPr>
          <p:cNvPr id="30" name="Text 27"/>
          <p:cNvSpPr/>
          <p:nvPr/>
        </p:nvSpPr>
        <p:spPr>
          <a:xfrm>
            <a:off x="566928" y="4864608"/>
            <a:ext cx="9692640" cy="274320"/>
          </a:xfrm>
          <a:prstGeom prst="rect">
            <a:avLst/>
          </a:prstGeom>
          <a:noFill/>
          <a:ln/>
        </p:spPr>
        <p:txBody>
          <a:bodyPr wrap="square" lIns="0" tIns="0" rIns="0" bIns="0" rtlCol="0" anchor="ctr"/>
          <a:lstStyle/>
          <a:p>
            <a:pPr indent="0" marL="0">
              <a:buNone/>
            </a:pPr>
            <a:r>
              <a:rPr lang="en-US" sz="1050" dirty="0">
                <a:solidFill>
                  <a:srgbClr val="333333"/>
                </a:solidFill>
                <a:latin typeface="Calibri" pitchFamily="34" charset="0"/>
                <a:ea typeface="Calibri" pitchFamily="34" charset="-122"/>
                <a:cs typeface="Calibri" pitchFamily="34" charset="-120"/>
              </a:rPr>
              <a:t>Real element sets · real SGP4 · real times of closest approach. Every capability in the interface declares its own build status, so nothing unfinished can appear as working.</a:t>
            </a:r>
            <a:endParaRPr lang="en-US" sz="1050" dirty="0"/>
          </a:p>
        </p:txBody>
      </p:sp>
      <p:sp>
        <p:nvSpPr>
          <p:cNvPr id="31" name="Shape 28"/>
          <p:cNvSpPr/>
          <p:nvPr/>
        </p:nvSpPr>
        <p:spPr>
          <a:xfrm>
            <a:off x="0" y="5708599"/>
            <a:ext cx="10692994" cy="310896"/>
          </a:xfrm>
          <a:prstGeom prst="rect">
            <a:avLst/>
          </a:prstGeom>
          <a:solidFill>
            <a:srgbClr val="0070C0"/>
          </a:solidFill>
          <a:ln/>
        </p:spPr>
      </p:sp>
      <p:sp>
        <p:nvSpPr>
          <p:cNvPr id="32" name="Text 29"/>
          <p:cNvSpPr/>
          <p:nvPr/>
        </p:nvSpPr>
        <p:spPr>
          <a:xfrm>
            <a:off x="3200400" y="5708599"/>
            <a:ext cx="429768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@SIH Idea submission- Template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19456" y="146304"/>
            <a:ext cx="1060704" cy="566928"/>
          </a:xfrm>
          <a:prstGeom prst="ellipse">
            <a:avLst/>
          </a:prstGeom>
          <a:solidFill>
            <a:srgbClr val="FFFFFF"/>
          </a:solidFill>
          <a:ln w="12700">
            <a:solidFill>
              <a:srgbClr val="B4A3C8"/>
            </a:solidFill>
            <a:prstDash val="solid"/>
          </a:ln>
        </p:spPr>
      </p:sp>
      <p:sp>
        <p:nvSpPr>
          <p:cNvPr id="3" name="Text 1"/>
          <p:cNvSpPr/>
          <p:nvPr/>
        </p:nvSpPr>
        <p:spPr>
          <a:xfrm>
            <a:off x="219456" y="146304"/>
            <a:ext cx="1060704" cy="566928"/>
          </a:xfrm>
          <a:prstGeom prst="rect">
            <a:avLst/>
          </a:prstGeom>
          <a:noFill/>
          <a:ln/>
        </p:spPr>
        <p:txBody>
          <a:bodyPr wrap="square" lIns="0" tIns="0" rIns="0" bIns="0" rtlCol="0" anchor="ctr"/>
          <a:lstStyle/>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Team</a:t>
            </a:r>
            <a:endParaRPr lang="en-US" sz="1050" dirty="0"/>
          </a:p>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Name</a:t>
            </a:r>
            <a:endParaRPr lang="en-US" sz="1050" dirty="0"/>
          </a:p>
        </p:txBody>
      </p:sp>
      <p:sp>
        <p:nvSpPr>
          <p:cNvPr id="4" name="Text 2"/>
          <p:cNvSpPr/>
          <p:nvPr/>
        </p:nvSpPr>
        <p:spPr>
          <a:xfrm>
            <a:off x="1389888" y="146304"/>
            <a:ext cx="7059168" cy="585216"/>
          </a:xfrm>
          <a:prstGeom prst="rect">
            <a:avLst/>
          </a:prstGeom>
          <a:noFill/>
          <a:ln/>
        </p:spPr>
        <p:txBody>
          <a:bodyPr wrap="square" lIns="0" tIns="0" rIns="0" bIns="0" rtlCol="0" anchor="ctr"/>
          <a:lstStyle/>
          <a:p>
            <a:pPr algn="ctr" indent="0" marL="0">
              <a:buNone/>
            </a:pPr>
            <a:r>
              <a:rPr lang="en-US" sz="2200" b="1" dirty="0">
                <a:solidFill>
                  <a:srgbClr val="111111"/>
                </a:solidFill>
                <a:latin typeface="Calibri" pitchFamily="34" charset="0"/>
                <a:ea typeface="Calibri" pitchFamily="34" charset="-122"/>
                <a:cs typeface="Calibri" pitchFamily="34" charset="-120"/>
              </a:rPr>
              <a:t>KESSLER — Collision Risk Triage Console</a:t>
            </a:r>
            <a:endParaRPr lang="en-US" sz="2200" dirty="0"/>
          </a:p>
        </p:txBody>
      </p:sp>
      <p:pic>
        <p:nvPicPr>
          <p:cNvPr id="5" name="Image 0" descr="preencoded.png">    </p:cNvPr>
          <p:cNvPicPr>
            <a:picLocks noChangeAspect="1"/>
          </p:cNvPicPr>
          <p:nvPr/>
        </p:nvPicPr>
        <p:blipFill>
          <a:blip r:embed="rId1"/>
          <a:stretch>
            <a:fillRect/>
          </a:stretch>
        </p:blipFill>
        <p:spPr>
          <a:xfrm>
            <a:off x="8796528" y="137160"/>
            <a:ext cx="517434" cy="566928"/>
          </a:xfrm>
          <a:prstGeom prst="rect">
            <a:avLst/>
          </a:prstGeom>
        </p:spPr>
      </p:pic>
      <p:sp>
        <p:nvSpPr>
          <p:cNvPr id="6" name="Text 3"/>
          <p:cNvSpPr/>
          <p:nvPr/>
        </p:nvSpPr>
        <p:spPr>
          <a:xfrm>
            <a:off x="9400032" y="146304"/>
            <a:ext cx="1115568" cy="548640"/>
          </a:xfrm>
          <a:prstGeom prst="rect">
            <a:avLst/>
          </a:prstGeom>
          <a:noFill/>
          <a:ln/>
        </p:spPr>
        <p:txBody>
          <a:bodyPr wrap="square" lIns="0" tIns="0" rIns="0" bIns="0" rtlCol="0" anchor="ctr"/>
          <a:lstStyle/>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SMART INDIA</a:t>
            </a:r>
            <a:endParaRPr lang="en-US" sz="950" dirty="0"/>
          </a:p>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HACKATHON 2026</a:t>
            </a:r>
            <a:endParaRPr lang="en-US" sz="950" dirty="0"/>
          </a:p>
        </p:txBody>
      </p:sp>
      <p:sp>
        <p:nvSpPr>
          <p:cNvPr id="7" name="Shape 4"/>
          <p:cNvSpPr/>
          <p:nvPr/>
        </p:nvSpPr>
        <p:spPr>
          <a:xfrm>
            <a:off x="0" y="5708599"/>
            <a:ext cx="10692994" cy="310896"/>
          </a:xfrm>
          <a:prstGeom prst="rect">
            <a:avLst/>
          </a:prstGeom>
          <a:solidFill>
            <a:srgbClr val="0070C0"/>
          </a:solidFill>
          <a:ln/>
        </p:spPr>
      </p:sp>
      <p:sp>
        <p:nvSpPr>
          <p:cNvPr id="8" name="Text 5"/>
          <p:cNvSpPr/>
          <p:nvPr/>
        </p:nvSpPr>
        <p:spPr>
          <a:xfrm>
            <a:off x="3200400" y="5708599"/>
            <a:ext cx="429768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@SIH Idea submission- Template</a:t>
            </a:r>
            <a:endParaRPr lang="en-US" sz="1050" dirty="0"/>
          </a:p>
        </p:txBody>
      </p:sp>
      <p:sp>
        <p:nvSpPr>
          <p:cNvPr id="9" name="Text 6"/>
          <p:cNvSpPr/>
          <p:nvPr/>
        </p:nvSpPr>
        <p:spPr>
          <a:xfrm>
            <a:off x="9915754" y="5708599"/>
            <a:ext cx="457200"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7"/>
          <p:cNvSpPr/>
          <p:nvPr/>
        </p:nvSpPr>
        <p:spPr>
          <a:xfrm>
            <a:off x="310896" y="896112"/>
            <a:ext cx="292608" cy="292608"/>
          </a:xfrm>
          <a:prstGeom prst="rect">
            <a:avLst/>
          </a:prstGeom>
          <a:noFill/>
          <a:ln/>
        </p:spPr>
        <p:txBody>
          <a:bodyPr wrap="square" lIns="0" tIns="0" rIns="0" bIns="0" rtlCol="0" anchor="ctr"/>
          <a:lstStyle/>
          <a:p>
            <a:pPr indent="0" marL="0">
              <a:buNone/>
            </a:pPr>
            <a:r>
              <a:rPr lang="en-US" sz="1500" dirty="0">
                <a:solidFill>
                  <a:srgbClr val="1F497D"/>
                </a:solidFill>
                <a:latin typeface="Calibri" pitchFamily="34" charset="0"/>
                <a:ea typeface="Calibri" pitchFamily="34" charset="-122"/>
                <a:cs typeface="Calibri" pitchFamily="34" charset="-120"/>
              </a:rPr>
              <a:t>❖</a:t>
            </a:r>
            <a:endParaRPr lang="en-US" sz="1500" dirty="0"/>
          </a:p>
        </p:txBody>
      </p:sp>
      <p:sp>
        <p:nvSpPr>
          <p:cNvPr id="11" name="Text 8"/>
          <p:cNvSpPr/>
          <p:nvPr/>
        </p:nvSpPr>
        <p:spPr>
          <a:xfrm>
            <a:off x="621792" y="896112"/>
            <a:ext cx="9692640" cy="292608"/>
          </a:xfrm>
          <a:prstGeom prst="rect">
            <a:avLst/>
          </a:prstGeom>
          <a:noFill/>
          <a:ln/>
        </p:spPr>
        <p:txBody>
          <a:bodyPr wrap="square" lIns="0" tIns="0" rIns="0" bIns="0" rtlCol="0" anchor="ctr"/>
          <a:lstStyle/>
          <a:p>
            <a:pPr indent="0" marL="0">
              <a:buNone/>
            </a:pPr>
            <a:r>
              <a:rPr lang="en-US" sz="1650" b="1" u="sng" dirty="0">
                <a:solidFill>
                  <a:srgbClr val="1F497D"/>
                </a:solidFill>
                <a:latin typeface="Calibri" pitchFamily="34" charset="0"/>
                <a:ea typeface="Calibri" pitchFamily="34" charset="-122"/>
                <a:cs typeface="Calibri" pitchFamily="34" charset="-120"/>
              </a:rPr>
              <a:t>Proposed Solution (Describe your Idea/Solution/Prototype)</a:t>
            </a:r>
            <a:endParaRPr lang="en-US" sz="1650" dirty="0"/>
          </a:p>
        </p:txBody>
      </p:sp>
      <p:sp>
        <p:nvSpPr>
          <p:cNvPr id="12" name="Shape 9"/>
          <p:cNvSpPr/>
          <p:nvPr/>
        </p:nvSpPr>
        <p:spPr>
          <a:xfrm>
            <a:off x="310896" y="1316736"/>
            <a:ext cx="4041648" cy="1243584"/>
          </a:xfrm>
          <a:prstGeom prst="roundRect">
            <a:avLst>
              <a:gd name="adj" fmla="val 2206"/>
            </a:avLst>
          </a:prstGeom>
          <a:solidFill>
            <a:srgbClr val="FDF3F2"/>
          </a:solidFill>
          <a:ln w="9525">
            <a:solidFill>
              <a:srgbClr val="D4DAE2"/>
            </a:solidFill>
            <a:prstDash val="solid"/>
          </a:ln>
        </p:spPr>
      </p:sp>
      <p:sp>
        <p:nvSpPr>
          <p:cNvPr id="13" name="Text 10"/>
          <p:cNvSpPr/>
          <p:nvPr/>
        </p:nvSpPr>
        <p:spPr>
          <a:xfrm>
            <a:off x="530352" y="1463040"/>
            <a:ext cx="3657600" cy="182880"/>
          </a:xfrm>
          <a:prstGeom prst="rect">
            <a:avLst/>
          </a:prstGeom>
          <a:noFill/>
          <a:ln/>
        </p:spPr>
        <p:txBody>
          <a:bodyPr wrap="square" lIns="0" tIns="0" rIns="0" bIns="0" rtlCol="0" anchor="ctr"/>
          <a:lstStyle/>
          <a:p>
            <a:pPr indent="0" marL="0">
              <a:buNone/>
            </a:pPr>
            <a:r>
              <a:rPr lang="en-US" sz="850" b="1" spc="90" kern="0" dirty="0">
                <a:solidFill>
                  <a:srgbClr val="B3261E"/>
                </a:solidFill>
                <a:latin typeface="Calibri" pitchFamily="34" charset="0"/>
                <a:ea typeface="Calibri" pitchFamily="34" charset="-122"/>
                <a:cs typeface="Calibri" pitchFamily="34" charset="-120"/>
              </a:rPr>
              <a:t>HOW IT ADDRESSES THE PROBLEM</a:t>
            </a:r>
            <a:endParaRPr lang="en-US" sz="850" dirty="0"/>
          </a:p>
        </p:txBody>
      </p:sp>
      <p:sp>
        <p:nvSpPr>
          <p:cNvPr id="14" name="Text 11"/>
          <p:cNvSpPr/>
          <p:nvPr/>
        </p:nvSpPr>
        <p:spPr>
          <a:xfrm>
            <a:off x="530352" y="1700784"/>
            <a:ext cx="3657600" cy="384048"/>
          </a:xfrm>
          <a:prstGeom prst="rect">
            <a:avLst/>
          </a:prstGeom>
          <a:noFill/>
          <a:ln/>
        </p:spPr>
        <p:txBody>
          <a:bodyPr wrap="square" lIns="0" tIns="0" rIns="0" bIns="0" rtlCol="0" anchor="ctr"/>
          <a:lstStyle/>
          <a:p>
            <a:pPr indent="0" marL="0">
              <a:buNone/>
            </a:pPr>
            <a:r>
              <a:rPr lang="en-US" sz="2200" b="1" dirty="0">
                <a:solidFill>
                  <a:srgbClr val="B3261E"/>
                </a:solidFill>
                <a:latin typeface="Arial" pitchFamily="34" charset="0"/>
                <a:ea typeface="Arial" pitchFamily="34" charset="-122"/>
                <a:cs typeface="Arial" pitchFamily="34" charset="-120"/>
              </a:rPr>
              <a:t>53,000+</a:t>
            </a:r>
            <a:pPr indent="0" marL="0">
              <a:buNone/>
            </a:pPr>
            <a:r>
              <a:rPr lang="en-US" sz="1200" dirty="0">
                <a:solidFill>
                  <a:srgbClr val="5A6673"/>
                </a:solidFill>
                <a:latin typeface="Arial" pitchFamily="34" charset="0"/>
                <a:ea typeface="Arial" pitchFamily="34" charset="-122"/>
                <a:cs typeface="Arial" pitchFamily="34" charset="-120"/>
              </a:rPr>
              <a:t>  alerts   →   </a:t>
            </a:r>
            <a:pPr indent="0" marL="0">
              <a:buNone/>
            </a:pPr>
            <a:r>
              <a:rPr lang="en-US" sz="2200" b="1" dirty="0">
                <a:solidFill>
                  <a:srgbClr val="1F497D"/>
                </a:solidFill>
                <a:latin typeface="Arial" pitchFamily="34" charset="0"/>
                <a:ea typeface="Arial" pitchFamily="34" charset="-122"/>
                <a:cs typeface="Arial" pitchFamily="34" charset="-120"/>
              </a:rPr>
              <a:t>10</a:t>
            </a:r>
            <a:pPr indent="0" marL="0">
              <a:buNone/>
            </a:pPr>
            <a:r>
              <a:rPr lang="en-US" sz="1200" dirty="0">
                <a:solidFill>
                  <a:srgbClr val="5A6673"/>
                </a:solidFill>
                <a:latin typeface="Arial" pitchFamily="34" charset="0"/>
                <a:ea typeface="Arial" pitchFamily="34" charset="-122"/>
                <a:cs typeface="Arial" pitchFamily="34" charset="-120"/>
              </a:rPr>
              <a:t>  manoeuvres</a:t>
            </a:r>
            <a:endParaRPr lang="en-US" sz="2200" dirty="0"/>
          </a:p>
        </p:txBody>
      </p:sp>
      <p:sp>
        <p:nvSpPr>
          <p:cNvPr id="15" name="Text 12"/>
          <p:cNvSpPr/>
          <p:nvPr/>
        </p:nvSpPr>
        <p:spPr>
          <a:xfrm>
            <a:off x="530352" y="2103120"/>
            <a:ext cx="3621024" cy="402336"/>
          </a:xfrm>
          <a:prstGeom prst="rect">
            <a:avLst/>
          </a:prstGeom>
          <a:noFill/>
          <a:ln/>
        </p:spPr>
        <p:txBody>
          <a:bodyPr wrap="square" lIns="0" tIns="0" rIns="0" bIns="0" rtlCol="0" anchor="ctr"/>
          <a:lstStyle/>
          <a:p>
            <a:pPr indent="0" marL="0">
              <a:lnSpc>
                <a:spcPts val="1250"/>
              </a:lnSpc>
              <a:buNone/>
            </a:pPr>
            <a:r>
              <a:rPr lang="en-US" sz="1050" dirty="0">
                <a:solidFill>
                  <a:srgbClr val="333333"/>
                </a:solidFill>
                <a:latin typeface="Calibri" pitchFamily="34" charset="0"/>
                <a:ea typeface="Calibri" pitchFamily="34" charset="-122"/>
                <a:cs typeface="Calibri" pitchFamily="34" charset="-120"/>
              </a:rPr>
              <a:t>ISRO, 2024. Detection is not the bottleneck — deciding which 10 of 53,000 matter is. KESSLER ranks and justifies that choice.</a:t>
            </a:r>
            <a:endParaRPr lang="en-US" sz="1050" dirty="0"/>
          </a:p>
        </p:txBody>
      </p:sp>
      <p:sp>
        <p:nvSpPr>
          <p:cNvPr id="16" name="Text 13"/>
          <p:cNvSpPr/>
          <p:nvPr/>
        </p:nvSpPr>
        <p:spPr>
          <a:xfrm>
            <a:off x="4553712" y="1371600"/>
            <a:ext cx="5852160" cy="182880"/>
          </a:xfrm>
          <a:prstGeom prst="rect">
            <a:avLst/>
          </a:prstGeom>
          <a:noFill/>
          <a:ln/>
        </p:spPr>
        <p:txBody>
          <a:bodyPr wrap="square" lIns="0" tIns="0" rIns="0" bIns="0" rtlCol="0" anchor="ctr"/>
          <a:lstStyle/>
          <a:p>
            <a:pPr indent="0" marL="0">
              <a:buNone/>
            </a:pPr>
            <a:r>
              <a:rPr lang="en-US" sz="850" b="1" spc="90" kern="0" dirty="0">
                <a:solidFill>
                  <a:srgbClr val="1F497D"/>
                </a:solidFill>
                <a:latin typeface="Calibri" pitchFamily="34" charset="0"/>
                <a:ea typeface="Calibri" pitchFamily="34" charset="-122"/>
                <a:cs typeface="Calibri" pitchFamily="34" charset="-120"/>
              </a:rPr>
              <a:t>DETAILED EXPLANATION — WHAT THE PROTOTYPE DOES</a:t>
            </a:r>
            <a:endParaRPr lang="en-US" sz="850" dirty="0"/>
          </a:p>
        </p:txBody>
      </p:sp>
      <p:sp>
        <p:nvSpPr>
          <p:cNvPr id="17" name="Shape 14"/>
          <p:cNvSpPr/>
          <p:nvPr/>
        </p:nvSpPr>
        <p:spPr>
          <a:xfrm>
            <a:off x="4553712" y="1627632"/>
            <a:ext cx="1371600" cy="932688"/>
          </a:xfrm>
          <a:prstGeom prst="roundRect">
            <a:avLst>
              <a:gd name="adj" fmla="val 2941"/>
            </a:avLst>
          </a:prstGeom>
          <a:solidFill>
            <a:srgbClr val="FFFFFF"/>
          </a:solidFill>
          <a:ln w="9525">
            <a:solidFill>
              <a:srgbClr val="D4DAE2"/>
            </a:solidFill>
            <a:prstDash val="solid"/>
          </a:ln>
        </p:spPr>
      </p:sp>
      <p:sp>
        <p:nvSpPr>
          <p:cNvPr id="18" name="Shape 15"/>
          <p:cNvSpPr/>
          <p:nvPr/>
        </p:nvSpPr>
        <p:spPr>
          <a:xfrm>
            <a:off x="4663440" y="1719072"/>
            <a:ext cx="237744" cy="237744"/>
          </a:xfrm>
          <a:prstGeom prst="ellipse">
            <a:avLst/>
          </a:prstGeom>
          <a:solidFill>
            <a:srgbClr val="1F497D"/>
          </a:solidFill>
          <a:ln/>
        </p:spPr>
      </p:sp>
      <p:sp>
        <p:nvSpPr>
          <p:cNvPr id="19" name="Text 16"/>
          <p:cNvSpPr/>
          <p:nvPr/>
        </p:nvSpPr>
        <p:spPr>
          <a:xfrm>
            <a:off x="4663440" y="17190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7"/>
          <p:cNvSpPr/>
          <p:nvPr/>
        </p:nvSpPr>
        <p:spPr>
          <a:xfrm>
            <a:off x="4956048" y="1719072"/>
            <a:ext cx="914400" cy="237744"/>
          </a:xfrm>
          <a:prstGeom prst="rect">
            <a:avLst/>
          </a:prstGeom>
          <a:noFill/>
          <a:ln/>
        </p:spPr>
        <p:txBody>
          <a:bodyPr wrap="square" lIns="0" tIns="0" rIns="0" bIns="0" rtlCol="0" anchor="ctr"/>
          <a:lstStyle/>
          <a:p>
            <a:pPr indent="0" marL="0">
              <a:buNone/>
            </a:pPr>
            <a:r>
              <a:rPr lang="en-US" sz="1050" b="1" dirty="0">
                <a:solidFill>
                  <a:srgbClr val="1F497D"/>
                </a:solidFill>
                <a:latin typeface="Calibri" pitchFamily="34" charset="0"/>
                <a:ea typeface="Calibri" pitchFamily="34" charset="-122"/>
                <a:cs typeface="Calibri" pitchFamily="34" charset="-120"/>
              </a:rPr>
              <a:t>INGEST</a:t>
            </a:r>
            <a:endParaRPr lang="en-US" sz="1050" dirty="0"/>
          </a:p>
        </p:txBody>
      </p:sp>
      <p:sp>
        <p:nvSpPr>
          <p:cNvPr id="21" name="Text 18"/>
          <p:cNvSpPr/>
          <p:nvPr/>
        </p:nvSpPr>
        <p:spPr>
          <a:xfrm>
            <a:off x="4663440" y="2011680"/>
            <a:ext cx="1170432" cy="475488"/>
          </a:xfrm>
          <a:prstGeom prst="rect">
            <a:avLst/>
          </a:prstGeom>
          <a:noFill/>
          <a:ln/>
        </p:spPr>
        <p:txBody>
          <a:bodyPr wrap="square" lIns="0" tIns="0" rIns="0" bIns="0" rtlCol="0" anchor="ctr"/>
          <a:lstStyle/>
          <a:p>
            <a:pPr indent="0" marL="0">
              <a:lnSpc>
                <a:spcPts val="1100"/>
              </a:lnSpc>
              <a:buNone/>
            </a:pPr>
            <a:r>
              <a:rPr lang="en-US" sz="900" dirty="0">
                <a:solidFill>
                  <a:srgbClr val="333333"/>
                </a:solidFill>
                <a:latin typeface="Calibri" pitchFamily="34" charset="0"/>
                <a:ea typeface="Calibri" pitchFamily="34" charset="-122"/>
                <a:cs typeface="Calibri" pitchFamily="34" charset="-120"/>
              </a:rPr>
              <a:t>Public CelesTrak TLEs</a:t>
            </a:r>
            <a:endParaRPr lang="en-US" sz="900" dirty="0"/>
          </a:p>
          <a:p>
            <a:pPr indent="0" marL="0">
              <a:lnSpc>
                <a:spcPts val="1100"/>
              </a:lnSpc>
              <a:buNone/>
            </a:pPr>
            <a:r>
              <a:rPr lang="en-US" sz="900" dirty="0">
                <a:solidFill>
                  <a:srgbClr val="333333"/>
                </a:solidFill>
                <a:latin typeface="Calibri" pitchFamily="34" charset="0"/>
                <a:ea typeface="Calibri" pitchFamily="34" charset="-122"/>
                <a:cs typeface="Calibri" pitchFamily="34" charset="-120"/>
              </a:rPr>
              <a:t>859 real objects</a:t>
            </a:r>
            <a:endParaRPr lang="en-US" sz="900" dirty="0"/>
          </a:p>
        </p:txBody>
      </p:sp>
      <p:sp>
        <p:nvSpPr>
          <p:cNvPr id="22" name="Text 19"/>
          <p:cNvSpPr/>
          <p:nvPr/>
        </p:nvSpPr>
        <p:spPr>
          <a:xfrm>
            <a:off x="5925312" y="1975104"/>
            <a:ext cx="146304" cy="219456"/>
          </a:xfrm>
          <a:prstGeom prst="rect">
            <a:avLst/>
          </a:prstGeom>
          <a:noFill/>
          <a:ln/>
        </p:spPr>
        <p:txBody>
          <a:bodyPr wrap="square" lIns="0" tIns="0" rIns="0" bIns="0" rtlCol="0" anchor="ctr"/>
          <a:lstStyle/>
          <a:p>
            <a:pPr algn="ctr" indent="0" marL="0">
              <a:buNone/>
            </a:pPr>
            <a:r>
              <a:rPr lang="en-US" sz="900" dirty="0">
                <a:solidFill>
                  <a:srgbClr val="A8B2BE"/>
                </a:solidFill>
                <a:latin typeface="Calibri" pitchFamily="34" charset="0"/>
                <a:ea typeface="Calibri" pitchFamily="34" charset="-122"/>
                <a:cs typeface="Calibri" pitchFamily="34" charset="-120"/>
              </a:rPr>
              <a:t>▶</a:t>
            </a:r>
            <a:endParaRPr lang="en-US" sz="900" dirty="0"/>
          </a:p>
        </p:txBody>
      </p:sp>
      <p:sp>
        <p:nvSpPr>
          <p:cNvPr id="23" name="Shape 20"/>
          <p:cNvSpPr/>
          <p:nvPr/>
        </p:nvSpPr>
        <p:spPr>
          <a:xfrm>
            <a:off x="6071616" y="1627632"/>
            <a:ext cx="1371600" cy="932688"/>
          </a:xfrm>
          <a:prstGeom prst="roundRect">
            <a:avLst>
              <a:gd name="adj" fmla="val 2941"/>
            </a:avLst>
          </a:prstGeom>
          <a:solidFill>
            <a:srgbClr val="FFFFFF"/>
          </a:solidFill>
          <a:ln w="9525">
            <a:solidFill>
              <a:srgbClr val="D4DAE2"/>
            </a:solidFill>
            <a:prstDash val="solid"/>
          </a:ln>
        </p:spPr>
      </p:sp>
      <p:sp>
        <p:nvSpPr>
          <p:cNvPr id="24" name="Shape 21"/>
          <p:cNvSpPr/>
          <p:nvPr/>
        </p:nvSpPr>
        <p:spPr>
          <a:xfrm>
            <a:off x="6181344" y="1719072"/>
            <a:ext cx="237744" cy="237744"/>
          </a:xfrm>
          <a:prstGeom prst="ellipse">
            <a:avLst/>
          </a:prstGeom>
          <a:solidFill>
            <a:srgbClr val="0070C0"/>
          </a:solidFill>
          <a:ln/>
        </p:spPr>
      </p:sp>
      <p:sp>
        <p:nvSpPr>
          <p:cNvPr id="25" name="Text 22"/>
          <p:cNvSpPr/>
          <p:nvPr/>
        </p:nvSpPr>
        <p:spPr>
          <a:xfrm>
            <a:off x="6181344" y="17190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p:nvPr/>
        </p:nvSpPr>
        <p:spPr>
          <a:xfrm>
            <a:off x="6473952" y="1719072"/>
            <a:ext cx="914400" cy="237744"/>
          </a:xfrm>
          <a:prstGeom prst="rect">
            <a:avLst/>
          </a:prstGeom>
          <a:noFill/>
          <a:ln/>
        </p:spPr>
        <p:txBody>
          <a:bodyPr wrap="square" lIns="0" tIns="0" rIns="0" bIns="0" rtlCol="0" anchor="ctr"/>
          <a:lstStyle/>
          <a:p>
            <a:pPr indent="0" marL="0">
              <a:buNone/>
            </a:pPr>
            <a:r>
              <a:rPr lang="en-US" sz="1050" b="1" dirty="0">
                <a:solidFill>
                  <a:srgbClr val="0070C0"/>
                </a:solidFill>
                <a:latin typeface="Calibri" pitchFamily="34" charset="0"/>
                <a:ea typeface="Calibri" pitchFamily="34" charset="-122"/>
                <a:cs typeface="Calibri" pitchFamily="34" charset="-120"/>
              </a:rPr>
              <a:t>SCREEN</a:t>
            </a:r>
            <a:endParaRPr lang="en-US" sz="1050" dirty="0"/>
          </a:p>
        </p:txBody>
      </p:sp>
      <p:sp>
        <p:nvSpPr>
          <p:cNvPr id="27" name="Text 24"/>
          <p:cNvSpPr/>
          <p:nvPr/>
        </p:nvSpPr>
        <p:spPr>
          <a:xfrm>
            <a:off x="6181344" y="2011680"/>
            <a:ext cx="1170432" cy="475488"/>
          </a:xfrm>
          <a:prstGeom prst="rect">
            <a:avLst/>
          </a:prstGeom>
          <a:noFill/>
          <a:ln/>
        </p:spPr>
        <p:txBody>
          <a:bodyPr wrap="square" lIns="0" tIns="0" rIns="0" bIns="0" rtlCol="0" anchor="ctr"/>
          <a:lstStyle/>
          <a:p>
            <a:pPr indent="0" marL="0">
              <a:lnSpc>
                <a:spcPts val="1100"/>
              </a:lnSpc>
              <a:buNone/>
            </a:pPr>
            <a:r>
              <a:rPr lang="en-US" sz="900" dirty="0">
                <a:solidFill>
                  <a:srgbClr val="333333"/>
                </a:solidFill>
                <a:latin typeface="Calibri" pitchFamily="34" charset="0"/>
                <a:ea typeface="Calibri" pitchFamily="34" charset="-122"/>
                <a:cs typeface="Calibri" pitchFamily="34" charset="-120"/>
              </a:rPr>
              <a:t>SGP4 + 3-stage cascade</a:t>
            </a:r>
            <a:endParaRPr lang="en-US" sz="900" dirty="0"/>
          </a:p>
          <a:p>
            <a:pPr indent="0" marL="0">
              <a:lnSpc>
                <a:spcPts val="1100"/>
              </a:lnSpc>
              <a:buNone/>
            </a:pPr>
            <a:r>
              <a:rPr lang="en-US" sz="900" dirty="0">
                <a:solidFill>
                  <a:srgbClr val="333333"/>
                </a:solidFill>
                <a:latin typeface="Calibri" pitchFamily="34" charset="0"/>
                <a:ea typeface="Calibri" pitchFamily="34" charset="-122"/>
                <a:cs typeface="Calibri" pitchFamily="34" charset="-120"/>
              </a:rPr>
              <a:t>368,511 pairs → 3,032</a:t>
            </a:r>
            <a:endParaRPr lang="en-US" sz="900" dirty="0"/>
          </a:p>
        </p:txBody>
      </p:sp>
      <p:sp>
        <p:nvSpPr>
          <p:cNvPr id="28" name="Text 25"/>
          <p:cNvSpPr/>
          <p:nvPr/>
        </p:nvSpPr>
        <p:spPr>
          <a:xfrm>
            <a:off x="7443216" y="1975104"/>
            <a:ext cx="146304" cy="219456"/>
          </a:xfrm>
          <a:prstGeom prst="rect">
            <a:avLst/>
          </a:prstGeom>
          <a:noFill/>
          <a:ln/>
        </p:spPr>
        <p:txBody>
          <a:bodyPr wrap="square" lIns="0" tIns="0" rIns="0" bIns="0" rtlCol="0" anchor="ctr"/>
          <a:lstStyle/>
          <a:p>
            <a:pPr algn="ctr" indent="0" marL="0">
              <a:buNone/>
            </a:pPr>
            <a:r>
              <a:rPr lang="en-US" sz="900" dirty="0">
                <a:solidFill>
                  <a:srgbClr val="A8B2BE"/>
                </a:solidFill>
                <a:latin typeface="Calibri" pitchFamily="34" charset="0"/>
                <a:ea typeface="Calibri" pitchFamily="34" charset="-122"/>
                <a:cs typeface="Calibri" pitchFamily="34" charset="-120"/>
              </a:rPr>
              <a:t>▶</a:t>
            </a:r>
            <a:endParaRPr lang="en-US" sz="900" dirty="0"/>
          </a:p>
        </p:txBody>
      </p:sp>
      <p:sp>
        <p:nvSpPr>
          <p:cNvPr id="29" name="Shape 26"/>
          <p:cNvSpPr/>
          <p:nvPr/>
        </p:nvSpPr>
        <p:spPr>
          <a:xfrm>
            <a:off x="7589520" y="1627632"/>
            <a:ext cx="1371600" cy="932688"/>
          </a:xfrm>
          <a:prstGeom prst="roundRect">
            <a:avLst>
              <a:gd name="adj" fmla="val 2941"/>
            </a:avLst>
          </a:prstGeom>
          <a:solidFill>
            <a:srgbClr val="FFFFFF"/>
          </a:solidFill>
          <a:ln w="9525">
            <a:solidFill>
              <a:srgbClr val="D4DAE2"/>
            </a:solidFill>
            <a:prstDash val="solid"/>
          </a:ln>
        </p:spPr>
      </p:sp>
      <p:sp>
        <p:nvSpPr>
          <p:cNvPr id="30" name="Shape 27"/>
          <p:cNvSpPr/>
          <p:nvPr/>
        </p:nvSpPr>
        <p:spPr>
          <a:xfrm>
            <a:off x="7699248" y="1719072"/>
            <a:ext cx="237744" cy="237744"/>
          </a:xfrm>
          <a:prstGeom prst="ellipse">
            <a:avLst/>
          </a:prstGeom>
          <a:solidFill>
            <a:srgbClr val="B25E00"/>
          </a:solidFill>
          <a:ln/>
        </p:spPr>
      </p:sp>
      <p:sp>
        <p:nvSpPr>
          <p:cNvPr id="31" name="Text 28"/>
          <p:cNvSpPr/>
          <p:nvPr/>
        </p:nvSpPr>
        <p:spPr>
          <a:xfrm>
            <a:off x="7699248" y="17190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2" name="Text 29"/>
          <p:cNvSpPr/>
          <p:nvPr/>
        </p:nvSpPr>
        <p:spPr>
          <a:xfrm>
            <a:off x="7991856" y="1719072"/>
            <a:ext cx="914400" cy="237744"/>
          </a:xfrm>
          <a:prstGeom prst="rect">
            <a:avLst/>
          </a:prstGeom>
          <a:noFill/>
          <a:ln/>
        </p:spPr>
        <p:txBody>
          <a:bodyPr wrap="square" lIns="0" tIns="0" rIns="0" bIns="0" rtlCol="0" anchor="ctr"/>
          <a:lstStyle/>
          <a:p>
            <a:pPr indent="0" marL="0">
              <a:buNone/>
            </a:pPr>
            <a:r>
              <a:rPr lang="en-US" sz="1050" b="1" dirty="0">
                <a:solidFill>
                  <a:srgbClr val="B25E00"/>
                </a:solidFill>
                <a:latin typeface="Calibri" pitchFamily="34" charset="0"/>
                <a:ea typeface="Calibri" pitchFamily="34" charset="-122"/>
                <a:cs typeface="Calibri" pitchFamily="34" charset="-120"/>
              </a:rPr>
              <a:t>RANK</a:t>
            </a:r>
            <a:endParaRPr lang="en-US" sz="1050" dirty="0"/>
          </a:p>
        </p:txBody>
      </p:sp>
      <p:sp>
        <p:nvSpPr>
          <p:cNvPr id="33" name="Text 30"/>
          <p:cNvSpPr/>
          <p:nvPr/>
        </p:nvSpPr>
        <p:spPr>
          <a:xfrm>
            <a:off x="7699248" y="2011680"/>
            <a:ext cx="1170432" cy="475488"/>
          </a:xfrm>
          <a:prstGeom prst="rect">
            <a:avLst/>
          </a:prstGeom>
          <a:noFill/>
          <a:ln/>
        </p:spPr>
        <p:txBody>
          <a:bodyPr wrap="square" lIns="0" tIns="0" rIns="0" bIns="0" rtlCol="0" anchor="ctr"/>
          <a:lstStyle/>
          <a:p>
            <a:pPr indent="0" marL="0">
              <a:lnSpc>
                <a:spcPts val="1100"/>
              </a:lnSpc>
              <a:buNone/>
            </a:pPr>
            <a:r>
              <a:rPr lang="en-US" sz="900" dirty="0">
                <a:solidFill>
                  <a:srgbClr val="333333"/>
                </a:solidFill>
                <a:latin typeface="Calibri" pitchFamily="34" charset="0"/>
                <a:ea typeface="Calibri" pitchFamily="34" charset="-122"/>
                <a:cs typeface="Calibri" pitchFamily="34" charset="-120"/>
              </a:rPr>
              <a:t>Collision probability,</a:t>
            </a:r>
            <a:endParaRPr lang="en-US" sz="900" dirty="0"/>
          </a:p>
          <a:p>
            <a:pPr indent="0" marL="0">
              <a:lnSpc>
                <a:spcPts val="1100"/>
              </a:lnSpc>
              <a:buNone/>
            </a:pPr>
            <a:r>
              <a:rPr lang="en-US" sz="900" dirty="0">
                <a:solidFill>
                  <a:srgbClr val="333333"/>
                </a:solidFill>
                <a:latin typeface="Calibri" pitchFamily="34" charset="0"/>
                <a:ea typeface="Calibri" pitchFamily="34" charset="-122"/>
                <a:cs typeface="Calibri" pitchFamily="34" charset="-120"/>
              </a:rPr>
              <a:t>severity band, 0–100 score</a:t>
            </a:r>
            <a:endParaRPr lang="en-US" sz="900" dirty="0"/>
          </a:p>
        </p:txBody>
      </p:sp>
      <p:sp>
        <p:nvSpPr>
          <p:cNvPr id="34" name="Text 31"/>
          <p:cNvSpPr/>
          <p:nvPr/>
        </p:nvSpPr>
        <p:spPr>
          <a:xfrm>
            <a:off x="8961120" y="1975104"/>
            <a:ext cx="146304" cy="219456"/>
          </a:xfrm>
          <a:prstGeom prst="rect">
            <a:avLst/>
          </a:prstGeom>
          <a:noFill/>
          <a:ln/>
        </p:spPr>
        <p:txBody>
          <a:bodyPr wrap="square" lIns="0" tIns="0" rIns="0" bIns="0" rtlCol="0" anchor="ctr"/>
          <a:lstStyle/>
          <a:p>
            <a:pPr algn="ctr" indent="0" marL="0">
              <a:buNone/>
            </a:pPr>
            <a:r>
              <a:rPr lang="en-US" sz="900" dirty="0">
                <a:solidFill>
                  <a:srgbClr val="A8B2BE"/>
                </a:solidFill>
                <a:latin typeface="Calibri" pitchFamily="34" charset="0"/>
                <a:ea typeface="Calibri" pitchFamily="34" charset="-122"/>
                <a:cs typeface="Calibri" pitchFamily="34" charset="-120"/>
              </a:rPr>
              <a:t>▶</a:t>
            </a:r>
            <a:endParaRPr lang="en-US" sz="900" dirty="0"/>
          </a:p>
        </p:txBody>
      </p:sp>
      <p:sp>
        <p:nvSpPr>
          <p:cNvPr id="35" name="Shape 32"/>
          <p:cNvSpPr/>
          <p:nvPr/>
        </p:nvSpPr>
        <p:spPr>
          <a:xfrm>
            <a:off x="9107424" y="1627632"/>
            <a:ext cx="1371600" cy="932688"/>
          </a:xfrm>
          <a:prstGeom prst="roundRect">
            <a:avLst>
              <a:gd name="adj" fmla="val 2941"/>
            </a:avLst>
          </a:prstGeom>
          <a:solidFill>
            <a:srgbClr val="FFFFFF"/>
          </a:solidFill>
          <a:ln w="9525">
            <a:solidFill>
              <a:srgbClr val="D4DAE2"/>
            </a:solidFill>
            <a:prstDash val="solid"/>
          </a:ln>
        </p:spPr>
      </p:sp>
      <p:sp>
        <p:nvSpPr>
          <p:cNvPr id="36" name="Shape 33"/>
          <p:cNvSpPr/>
          <p:nvPr/>
        </p:nvSpPr>
        <p:spPr>
          <a:xfrm>
            <a:off x="9217152" y="1719072"/>
            <a:ext cx="237744" cy="237744"/>
          </a:xfrm>
          <a:prstGeom prst="ellipse">
            <a:avLst/>
          </a:prstGeom>
          <a:solidFill>
            <a:srgbClr val="1E7A4C"/>
          </a:solidFill>
          <a:ln/>
        </p:spPr>
      </p:sp>
      <p:sp>
        <p:nvSpPr>
          <p:cNvPr id="37" name="Text 34"/>
          <p:cNvSpPr/>
          <p:nvPr/>
        </p:nvSpPr>
        <p:spPr>
          <a:xfrm>
            <a:off x="9217152" y="17190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8" name="Text 35"/>
          <p:cNvSpPr/>
          <p:nvPr/>
        </p:nvSpPr>
        <p:spPr>
          <a:xfrm>
            <a:off x="9509760" y="1719072"/>
            <a:ext cx="914400" cy="237744"/>
          </a:xfrm>
          <a:prstGeom prst="rect">
            <a:avLst/>
          </a:prstGeom>
          <a:noFill/>
          <a:ln/>
        </p:spPr>
        <p:txBody>
          <a:bodyPr wrap="square" lIns="0" tIns="0" rIns="0" bIns="0" rtlCol="0" anchor="ctr"/>
          <a:lstStyle/>
          <a:p>
            <a:pPr indent="0" marL="0">
              <a:buNone/>
            </a:pPr>
            <a:r>
              <a:rPr lang="en-US" sz="1050" b="1" dirty="0">
                <a:solidFill>
                  <a:srgbClr val="1E7A4C"/>
                </a:solidFill>
                <a:latin typeface="Calibri" pitchFamily="34" charset="0"/>
                <a:ea typeface="Calibri" pitchFamily="34" charset="-122"/>
                <a:cs typeface="Calibri" pitchFamily="34" charset="-120"/>
              </a:rPr>
              <a:t>DECIDE</a:t>
            </a:r>
            <a:endParaRPr lang="en-US" sz="1050" dirty="0"/>
          </a:p>
        </p:txBody>
      </p:sp>
      <p:sp>
        <p:nvSpPr>
          <p:cNvPr id="39" name="Text 36"/>
          <p:cNvSpPr/>
          <p:nvPr/>
        </p:nvSpPr>
        <p:spPr>
          <a:xfrm>
            <a:off x="9217152" y="2011680"/>
            <a:ext cx="1170432" cy="475488"/>
          </a:xfrm>
          <a:prstGeom prst="rect">
            <a:avLst/>
          </a:prstGeom>
          <a:noFill/>
          <a:ln/>
        </p:spPr>
        <p:txBody>
          <a:bodyPr wrap="square" lIns="0" tIns="0" rIns="0" bIns="0" rtlCol="0" anchor="ctr"/>
          <a:lstStyle/>
          <a:p>
            <a:pPr indent="0" marL="0">
              <a:lnSpc>
                <a:spcPts val="1100"/>
              </a:lnSpc>
              <a:buNone/>
            </a:pPr>
            <a:r>
              <a:rPr lang="en-US" sz="900" dirty="0">
                <a:solidFill>
                  <a:srgbClr val="333333"/>
                </a:solidFill>
                <a:latin typeface="Calibri" pitchFamily="34" charset="0"/>
                <a:ea typeface="Calibri" pitchFamily="34" charset="-122"/>
                <a:cs typeface="Calibri" pitchFamily="34" charset="-120"/>
              </a:rPr>
              <a:t>What would change</a:t>
            </a:r>
            <a:endParaRPr lang="en-US" sz="900" dirty="0"/>
          </a:p>
          <a:p>
            <a:pPr indent="0" marL="0">
              <a:lnSpc>
                <a:spcPts val="1100"/>
              </a:lnSpc>
              <a:buNone/>
            </a:pPr>
            <a:r>
              <a:rPr lang="en-US" sz="900" dirty="0">
                <a:solidFill>
                  <a:srgbClr val="333333"/>
                </a:solidFill>
                <a:latin typeface="Calibri" pitchFamily="34" charset="0"/>
                <a:ea typeface="Calibri" pitchFamily="34" charset="-122"/>
                <a:cs typeface="Calibri" pitchFamily="34" charset="-120"/>
              </a:rPr>
              <a:t>the verdict + CDM export</a:t>
            </a:r>
            <a:endParaRPr lang="en-US" sz="900" dirty="0"/>
          </a:p>
        </p:txBody>
      </p:sp>
      <p:sp>
        <p:nvSpPr>
          <p:cNvPr id="40" name="Text 37"/>
          <p:cNvSpPr/>
          <p:nvPr/>
        </p:nvSpPr>
        <p:spPr>
          <a:xfrm>
            <a:off x="310896" y="2724912"/>
            <a:ext cx="292608" cy="292608"/>
          </a:xfrm>
          <a:prstGeom prst="rect">
            <a:avLst/>
          </a:prstGeom>
          <a:noFill/>
          <a:ln/>
        </p:spPr>
        <p:txBody>
          <a:bodyPr wrap="square" lIns="0" tIns="0" rIns="0" bIns="0" rtlCol="0" anchor="ctr"/>
          <a:lstStyle/>
          <a:p>
            <a:pPr indent="0" marL="0">
              <a:buNone/>
            </a:pPr>
            <a:r>
              <a:rPr lang="en-US" sz="1500" dirty="0">
                <a:solidFill>
                  <a:srgbClr val="1F497D"/>
                </a:solidFill>
                <a:latin typeface="Calibri" pitchFamily="34" charset="0"/>
                <a:ea typeface="Calibri" pitchFamily="34" charset="-122"/>
                <a:cs typeface="Calibri" pitchFamily="34" charset="-120"/>
              </a:rPr>
              <a:t>❖</a:t>
            </a:r>
            <a:endParaRPr lang="en-US" sz="1500" dirty="0"/>
          </a:p>
        </p:txBody>
      </p:sp>
      <p:sp>
        <p:nvSpPr>
          <p:cNvPr id="41" name="Text 38"/>
          <p:cNvSpPr/>
          <p:nvPr/>
        </p:nvSpPr>
        <p:spPr>
          <a:xfrm>
            <a:off x="621792" y="2724912"/>
            <a:ext cx="9692640" cy="292608"/>
          </a:xfrm>
          <a:prstGeom prst="rect">
            <a:avLst/>
          </a:prstGeom>
          <a:noFill/>
          <a:ln/>
        </p:spPr>
        <p:txBody>
          <a:bodyPr wrap="square" lIns="0" tIns="0" rIns="0" bIns="0" rtlCol="0" anchor="ctr"/>
          <a:lstStyle/>
          <a:p>
            <a:pPr indent="0" marL="0">
              <a:buNone/>
            </a:pPr>
            <a:r>
              <a:rPr lang="en-US" sz="1650" b="1" u="sng" dirty="0">
                <a:solidFill>
                  <a:srgbClr val="1F497D"/>
                </a:solidFill>
                <a:latin typeface="Calibri" pitchFamily="34" charset="0"/>
                <a:ea typeface="Calibri" pitchFamily="34" charset="-122"/>
                <a:cs typeface="Calibri" pitchFamily="34" charset="-120"/>
              </a:rPr>
              <a:t>Innovation and uniqueness of the solution</a:t>
            </a:r>
            <a:endParaRPr lang="en-US" sz="1650" dirty="0"/>
          </a:p>
        </p:txBody>
      </p:sp>
      <p:sp>
        <p:nvSpPr>
          <p:cNvPr id="42" name="Shape 39"/>
          <p:cNvSpPr/>
          <p:nvPr/>
        </p:nvSpPr>
        <p:spPr>
          <a:xfrm>
            <a:off x="365760" y="3209544"/>
            <a:ext cx="91440" cy="91440"/>
          </a:xfrm>
          <a:prstGeom prst="rect">
            <a:avLst/>
          </a:prstGeom>
          <a:solidFill>
            <a:srgbClr val="1F497D"/>
          </a:solidFill>
          <a:ln/>
        </p:spPr>
      </p:sp>
      <p:sp>
        <p:nvSpPr>
          <p:cNvPr id="43" name="Text 40"/>
          <p:cNvSpPr/>
          <p:nvPr/>
        </p:nvSpPr>
        <p:spPr>
          <a:xfrm>
            <a:off x="566928" y="3127248"/>
            <a:ext cx="3200400" cy="256032"/>
          </a:xfrm>
          <a:prstGeom prst="rect">
            <a:avLst/>
          </a:prstGeom>
          <a:noFill/>
          <a:ln/>
        </p:spPr>
        <p:txBody>
          <a:bodyPr wrap="square" lIns="0" tIns="0" rIns="0" bIns="0" rtlCol="0" anchor="ctr"/>
          <a:lstStyle/>
          <a:p>
            <a:pPr indent="0" marL="0">
              <a:buNone/>
            </a:pPr>
            <a:r>
              <a:rPr lang="en-US" sz="1150" b="1" dirty="0">
                <a:solidFill>
                  <a:srgbClr val="111111"/>
                </a:solidFill>
                <a:latin typeface="Calibri" pitchFamily="34" charset="0"/>
                <a:ea typeface="Calibri" pitchFamily="34" charset="-122"/>
                <a:cs typeface="Calibri" pitchFamily="34" charset="-120"/>
              </a:rPr>
              <a:t>Answers "would this change your mind?"</a:t>
            </a:r>
            <a:endParaRPr lang="en-US" sz="1150" dirty="0"/>
          </a:p>
        </p:txBody>
      </p:sp>
      <p:sp>
        <p:nvSpPr>
          <p:cNvPr id="44" name="Text 41"/>
          <p:cNvSpPr/>
          <p:nvPr/>
        </p:nvSpPr>
        <p:spPr>
          <a:xfrm>
            <a:off x="3877056" y="3108960"/>
            <a:ext cx="6492240" cy="566928"/>
          </a:xfrm>
          <a:prstGeom prst="rect">
            <a:avLst/>
          </a:prstGeom>
          <a:noFill/>
          <a:ln/>
        </p:spPr>
        <p:txBody>
          <a:bodyPr wrap="square" lIns="0" tIns="0" rIns="0" bIns="0" rtlCol="0" anchor="ctr"/>
          <a:lstStyle/>
          <a:p>
            <a:pPr indent="0" marL="0">
              <a:lnSpc>
                <a:spcPts val="1250"/>
              </a:lnSpc>
              <a:buNone/>
            </a:pPr>
            <a:r>
              <a:rPr lang="en-US" sz="1050" dirty="0">
                <a:solidFill>
                  <a:srgbClr val="333333"/>
                </a:solidFill>
                <a:latin typeface="Calibri" pitchFamily="34" charset="0"/>
                <a:ea typeface="Calibri" pitchFamily="34" charset="-122"/>
                <a:cs typeface="Calibri" pitchFamily="34" charset="-120"/>
              </a:rPr>
              <a:t>Every event states the miss distance and the uncertainty multiplier that would drop it a severity band. Published tools give a ranked list and stop there.</a:t>
            </a:r>
            <a:endParaRPr lang="en-US" sz="1050" dirty="0"/>
          </a:p>
        </p:txBody>
      </p:sp>
      <p:sp>
        <p:nvSpPr>
          <p:cNvPr id="45" name="Shape 42"/>
          <p:cNvSpPr/>
          <p:nvPr/>
        </p:nvSpPr>
        <p:spPr>
          <a:xfrm>
            <a:off x="365760" y="3858768"/>
            <a:ext cx="10003536" cy="0"/>
          </a:xfrm>
          <a:prstGeom prst="line">
            <a:avLst/>
          </a:prstGeom>
          <a:noFill/>
          <a:ln w="9525">
            <a:solidFill>
              <a:srgbClr val="EAEEF3"/>
            </a:solidFill>
            <a:prstDash val="solid"/>
          </a:ln>
        </p:spPr>
      </p:sp>
      <p:sp>
        <p:nvSpPr>
          <p:cNvPr id="46" name="Shape 43"/>
          <p:cNvSpPr/>
          <p:nvPr/>
        </p:nvSpPr>
        <p:spPr>
          <a:xfrm>
            <a:off x="365760" y="4050792"/>
            <a:ext cx="91440" cy="91440"/>
          </a:xfrm>
          <a:prstGeom prst="rect">
            <a:avLst/>
          </a:prstGeom>
          <a:solidFill>
            <a:srgbClr val="1E7A4C"/>
          </a:solidFill>
          <a:ln/>
        </p:spPr>
      </p:sp>
      <p:sp>
        <p:nvSpPr>
          <p:cNvPr id="47" name="Text 44"/>
          <p:cNvSpPr/>
          <p:nvPr/>
        </p:nvSpPr>
        <p:spPr>
          <a:xfrm>
            <a:off x="566928" y="3968496"/>
            <a:ext cx="3200400" cy="256032"/>
          </a:xfrm>
          <a:prstGeom prst="rect">
            <a:avLst/>
          </a:prstGeom>
          <a:noFill/>
          <a:ln/>
        </p:spPr>
        <p:txBody>
          <a:bodyPr wrap="square" lIns="0" tIns="0" rIns="0" bIns="0" rtlCol="0" anchor="ctr"/>
          <a:lstStyle/>
          <a:p>
            <a:pPr indent="0" marL="0">
              <a:buNone/>
            </a:pPr>
            <a:r>
              <a:rPr lang="en-US" sz="1150" b="1" dirty="0">
                <a:solidFill>
                  <a:srgbClr val="111111"/>
                </a:solidFill>
                <a:latin typeface="Calibri" pitchFamily="34" charset="0"/>
                <a:ea typeface="Calibri" pitchFamily="34" charset="-122"/>
                <a:cs typeface="Calibri" pitchFamily="34" charset="-120"/>
              </a:rPr>
              <a:t>An interface that cannot overstate itself</a:t>
            </a:r>
            <a:endParaRPr lang="en-US" sz="1150" dirty="0"/>
          </a:p>
        </p:txBody>
      </p:sp>
      <p:sp>
        <p:nvSpPr>
          <p:cNvPr id="48" name="Text 45"/>
          <p:cNvSpPr/>
          <p:nvPr/>
        </p:nvSpPr>
        <p:spPr>
          <a:xfrm>
            <a:off x="3877056" y="3950208"/>
            <a:ext cx="6492240" cy="566928"/>
          </a:xfrm>
          <a:prstGeom prst="rect">
            <a:avLst/>
          </a:prstGeom>
          <a:noFill/>
          <a:ln/>
        </p:spPr>
        <p:txBody>
          <a:bodyPr wrap="square" lIns="0" tIns="0" rIns="0" bIns="0" rtlCol="0" anchor="ctr"/>
          <a:lstStyle/>
          <a:p>
            <a:pPr indent="0" marL="0">
              <a:lnSpc>
                <a:spcPts val="1250"/>
              </a:lnSpc>
              <a:buNone/>
            </a:pPr>
            <a:r>
              <a:rPr lang="en-US" sz="1050" dirty="0">
                <a:solidFill>
                  <a:srgbClr val="333333"/>
                </a:solidFill>
                <a:latin typeface="Calibri" pitchFamily="34" charset="0"/>
                <a:ea typeface="Calibri" pitchFamily="34" charset="-122"/>
                <a:cs typeface="Calibri" pitchFamily="34" charset="-120"/>
              </a:rPr>
              <a:t>Every capability renders from one registry carrying its own status, so nothing unbuilt can appear as working. Our breakup model prints its own disagreement with the Fengyun-1C catalogue on every test run.</a:t>
            </a:r>
            <a:endParaRPr lang="en-US" sz="1050" dirty="0"/>
          </a:p>
        </p:txBody>
      </p:sp>
      <p:sp>
        <p:nvSpPr>
          <p:cNvPr id="49" name="Shape 46"/>
          <p:cNvSpPr/>
          <p:nvPr/>
        </p:nvSpPr>
        <p:spPr>
          <a:xfrm>
            <a:off x="365760" y="4700016"/>
            <a:ext cx="10003536" cy="0"/>
          </a:xfrm>
          <a:prstGeom prst="line">
            <a:avLst/>
          </a:prstGeom>
          <a:noFill/>
          <a:ln w="9525">
            <a:solidFill>
              <a:srgbClr val="EAEEF3"/>
            </a:solidFill>
            <a:prstDash val="solid"/>
          </a:ln>
        </p:spPr>
      </p:sp>
      <p:sp>
        <p:nvSpPr>
          <p:cNvPr id="50" name="Shape 47"/>
          <p:cNvSpPr/>
          <p:nvPr/>
        </p:nvSpPr>
        <p:spPr>
          <a:xfrm>
            <a:off x="365760" y="4892040"/>
            <a:ext cx="91440" cy="91440"/>
          </a:xfrm>
          <a:prstGeom prst="rect">
            <a:avLst/>
          </a:prstGeom>
          <a:solidFill>
            <a:srgbClr val="0070C0"/>
          </a:solidFill>
          <a:ln/>
        </p:spPr>
      </p:sp>
      <p:sp>
        <p:nvSpPr>
          <p:cNvPr id="51" name="Text 48"/>
          <p:cNvSpPr/>
          <p:nvPr/>
        </p:nvSpPr>
        <p:spPr>
          <a:xfrm>
            <a:off x="566928" y="4809744"/>
            <a:ext cx="3200400" cy="256032"/>
          </a:xfrm>
          <a:prstGeom prst="rect">
            <a:avLst/>
          </a:prstGeom>
          <a:noFill/>
          <a:ln/>
        </p:spPr>
        <p:txBody>
          <a:bodyPr wrap="square" lIns="0" tIns="0" rIns="0" bIns="0" rtlCol="0" anchor="ctr"/>
          <a:lstStyle/>
          <a:p>
            <a:pPr indent="0" marL="0">
              <a:buNone/>
            </a:pPr>
            <a:r>
              <a:rPr lang="en-US" sz="1150" b="1" dirty="0">
                <a:solidFill>
                  <a:srgbClr val="111111"/>
                </a:solidFill>
                <a:latin typeface="Calibri" pitchFamily="34" charset="0"/>
                <a:ea typeface="Calibri" pitchFamily="34" charset="-122"/>
                <a:cs typeface="Calibri" pitchFamily="34" charset="-120"/>
              </a:rPr>
              <a:t>Speaks the operator’s format</a:t>
            </a:r>
            <a:endParaRPr lang="en-US" sz="1150" dirty="0"/>
          </a:p>
        </p:txBody>
      </p:sp>
      <p:sp>
        <p:nvSpPr>
          <p:cNvPr id="52" name="Text 49"/>
          <p:cNvSpPr/>
          <p:nvPr/>
        </p:nvSpPr>
        <p:spPr>
          <a:xfrm>
            <a:off x="3877056" y="4791456"/>
            <a:ext cx="6492240" cy="566928"/>
          </a:xfrm>
          <a:prstGeom prst="rect">
            <a:avLst/>
          </a:prstGeom>
          <a:noFill/>
          <a:ln/>
        </p:spPr>
        <p:txBody>
          <a:bodyPr wrap="square" lIns="0" tIns="0" rIns="0" bIns="0" rtlCol="0" anchor="ctr"/>
          <a:lstStyle/>
          <a:p>
            <a:pPr indent="0" marL="0">
              <a:lnSpc>
                <a:spcPts val="1250"/>
              </a:lnSpc>
              <a:buNone/>
            </a:pPr>
            <a:r>
              <a:rPr lang="en-US" sz="1050" dirty="0">
                <a:solidFill>
                  <a:srgbClr val="333333"/>
                </a:solidFill>
                <a:latin typeface="Calibri" pitchFamily="34" charset="0"/>
                <a:ea typeface="Calibri" pitchFamily="34" charset="-122"/>
                <a:cs typeface="Calibri" pitchFamily="34" charset="-120"/>
              </a:rPr>
              <a:t>Exports CCSDS 508.0-B-1 Conjunction Data Messages — what Space-Track, ESA and NASA CARA exchange — so output enters a real pipeline, not a spreadsheet.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219456" y="146304"/>
            <a:ext cx="1060704" cy="566928"/>
          </a:xfrm>
          <a:prstGeom prst="ellipse">
            <a:avLst/>
          </a:prstGeom>
          <a:solidFill>
            <a:srgbClr val="FFFFFF"/>
          </a:solidFill>
          <a:ln w="12700">
            <a:solidFill>
              <a:srgbClr val="B4A3C8"/>
            </a:solidFill>
            <a:prstDash val="solid"/>
          </a:ln>
        </p:spPr>
      </p:sp>
      <p:sp>
        <p:nvSpPr>
          <p:cNvPr id="3" name="Text 1"/>
          <p:cNvSpPr/>
          <p:nvPr/>
        </p:nvSpPr>
        <p:spPr>
          <a:xfrm>
            <a:off x="219456" y="146304"/>
            <a:ext cx="1060704" cy="566928"/>
          </a:xfrm>
          <a:prstGeom prst="rect">
            <a:avLst/>
          </a:prstGeom>
          <a:noFill/>
          <a:ln/>
        </p:spPr>
        <p:txBody>
          <a:bodyPr wrap="square" lIns="0" tIns="0" rIns="0" bIns="0" rtlCol="0" anchor="ctr"/>
          <a:lstStyle/>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Team</a:t>
            </a:r>
            <a:endParaRPr lang="en-US" sz="1050" dirty="0"/>
          </a:p>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Name</a:t>
            </a:r>
            <a:endParaRPr lang="en-US" sz="1050" dirty="0"/>
          </a:p>
        </p:txBody>
      </p:sp>
      <p:sp>
        <p:nvSpPr>
          <p:cNvPr id="4" name="Text 2"/>
          <p:cNvSpPr/>
          <p:nvPr/>
        </p:nvSpPr>
        <p:spPr>
          <a:xfrm>
            <a:off x="1389888" y="146304"/>
            <a:ext cx="7059168" cy="585216"/>
          </a:xfrm>
          <a:prstGeom prst="rect">
            <a:avLst/>
          </a:prstGeom>
          <a:noFill/>
          <a:ln/>
        </p:spPr>
        <p:txBody>
          <a:bodyPr wrap="square" lIns="0" tIns="0" rIns="0" bIns="0" rtlCol="0" anchor="ctr"/>
          <a:lstStyle/>
          <a:p>
            <a:pPr algn="ctr" indent="0" marL="0">
              <a:buNone/>
            </a:pPr>
            <a:r>
              <a:rPr lang="en-US" sz="2700" b="1" dirty="0">
                <a:solidFill>
                  <a:srgbClr val="111111"/>
                </a:solidFill>
                <a:latin typeface="Calibri" pitchFamily="34" charset="0"/>
                <a:ea typeface="Calibri" pitchFamily="34" charset="-122"/>
                <a:cs typeface="Calibri" pitchFamily="34" charset="-120"/>
              </a:rPr>
              <a:t>TECHNICAL APPROACH</a:t>
            </a:r>
            <a:endParaRPr lang="en-US" sz="2700" dirty="0"/>
          </a:p>
        </p:txBody>
      </p:sp>
      <p:pic>
        <p:nvPicPr>
          <p:cNvPr id="5" name="Image 0" descr="preencoded.png">    </p:cNvPr>
          <p:cNvPicPr>
            <a:picLocks noChangeAspect="1"/>
          </p:cNvPicPr>
          <p:nvPr/>
        </p:nvPicPr>
        <p:blipFill>
          <a:blip r:embed="rId1"/>
          <a:stretch>
            <a:fillRect/>
          </a:stretch>
        </p:blipFill>
        <p:spPr>
          <a:xfrm>
            <a:off x="8796528" y="137160"/>
            <a:ext cx="517434" cy="566928"/>
          </a:xfrm>
          <a:prstGeom prst="rect">
            <a:avLst/>
          </a:prstGeom>
        </p:spPr>
      </p:pic>
      <p:sp>
        <p:nvSpPr>
          <p:cNvPr id="6" name="Text 3"/>
          <p:cNvSpPr/>
          <p:nvPr/>
        </p:nvSpPr>
        <p:spPr>
          <a:xfrm>
            <a:off x="9400032" y="146304"/>
            <a:ext cx="1115568" cy="548640"/>
          </a:xfrm>
          <a:prstGeom prst="rect">
            <a:avLst/>
          </a:prstGeom>
          <a:noFill/>
          <a:ln/>
        </p:spPr>
        <p:txBody>
          <a:bodyPr wrap="square" lIns="0" tIns="0" rIns="0" bIns="0" rtlCol="0" anchor="ctr"/>
          <a:lstStyle/>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SMART INDIA</a:t>
            </a:r>
            <a:endParaRPr lang="en-US" sz="950" dirty="0"/>
          </a:p>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HACKATHON 2026</a:t>
            </a:r>
            <a:endParaRPr lang="en-US" sz="950" dirty="0"/>
          </a:p>
        </p:txBody>
      </p:sp>
      <p:sp>
        <p:nvSpPr>
          <p:cNvPr id="7" name="Shape 4"/>
          <p:cNvSpPr/>
          <p:nvPr/>
        </p:nvSpPr>
        <p:spPr>
          <a:xfrm>
            <a:off x="0" y="5708599"/>
            <a:ext cx="10692994" cy="310896"/>
          </a:xfrm>
          <a:prstGeom prst="rect">
            <a:avLst/>
          </a:prstGeom>
          <a:solidFill>
            <a:srgbClr val="0070C0"/>
          </a:solidFill>
          <a:ln/>
        </p:spPr>
      </p:sp>
      <p:sp>
        <p:nvSpPr>
          <p:cNvPr id="8" name="Text 5"/>
          <p:cNvSpPr/>
          <p:nvPr/>
        </p:nvSpPr>
        <p:spPr>
          <a:xfrm>
            <a:off x="3200400" y="5708599"/>
            <a:ext cx="429768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@SIH Idea submission- Template</a:t>
            </a:r>
            <a:endParaRPr lang="en-US" sz="1050" dirty="0"/>
          </a:p>
        </p:txBody>
      </p:sp>
      <p:sp>
        <p:nvSpPr>
          <p:cNvPr id="9" name="Text 6"/>
          <p:cNvSpPr/>
          <p:nvPr/>
        </p:nvSpPr>
        <p:spPr>
          <a:xfrm>
            <a:off x="9915754" y="5708599"/>
            <a:ext cx="457200"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0" name="Text 7"/>
          <p:cNvSpPr/>
          <p:nvPr/>
        </p:nvSpPr>
        <p:spPr>
          <a:xfrm>
            <a:off x="310896" y="896112"/>
            <a:ext cx="292608" cy="292608"/>
          </a:xfrm>
          <a:prstGeom prst="rect">
            <a:avLst/>
          </a:prstGeom>
          <a:noFill/>
          <a:ln/>
        </p:spPr>
        <p:txBody>
          <a:bodyPr wrap="square" lIns="0" tIns="0" rIns="0" bIns="0" rtlCol="0" anchor="ctr"/>
          <a:lstStyle/>
          <a:p>
            <a:pPr indent="0" marL="0">
              <a:buNone/>
            </a:pPr>
            <a:r>
              <a:rPr lang="en-US" sz="1500" dirty="0">
                <a:solidFill>
                  <a:srgbClr val="1F497D"/>
                </a:solidFill>
                <a:latin typeface="Calibri" pitchFamily="34" charset="0"/>
                <a:ea typeface="Calibri" pitchFamily="34" charset="-122"/>
                <a:cs typeface="Calibri" pitchFamily="34" charset="-120"/>
              </a:rPr>
              <a:t>❖</a:t>
            </a:r>
            <a:endParaRPr lang="en-US" sz="1500" dirty="0"/>
          </a:p>
        </p:txBody>
      </p:sp>
      <p:sp>
        <p:nvSpPr>
          <p:cNvPr id="11" name="Text 8"/>
          <p:cNvSpPr/>
          <p:nvPr/>
        </p:nvSpPr>
        <p:spPr>
          <a:xfrm>
            <a:off x="621792" y="896112"/>
            <a:ext cx="9692640" cy="292608"/>
          </a:xfrm>
          <a:prstGeom prst="rect">
            <a:avLst/>
          </a:prstGeom>
          <a:noFill/>
          <a:ln/>
        </p:spPr>
        <p:txBody>
          <a:bodyPr wrap="square" lIns="0" tIns="0" rIns="0" bIns="0" rtlCol="0" anchor="ctr"/>
          <a:lstStyle/>
          <a:p>
            <a:pPr indent="0" marL="0">
              <a:buNone/>
            </a:pPr>
            <a:r>
              <a:rPr lang="en-US" sz="1650" b="1" u="sng" dirty="0">
                <a:solidFill>
                  <a:srgbClr val="1F497D"/>
                </a:solidFill>
                <a:latin typeface="Calibri" pitchFamily="34" charset="0"/>
                <a:ea typeface="Calibri" pitchFamily="34" charset="-122"/>
                <a:cs typeface="Calibri" pitchFamily="34" charset="-120"/>
              </a:rPr>
              <a:t>Technologies to be used</a:t>
            </a:r>
            <a:endParaRPr lang="en-US" sz="1650" dirty="0"/>
          </a:p>
        </p:txBody>
      </p:sp>
      <p:sp>
        <p:nvSpPr>
          <p:cNvPr id="12" name="Shape 9"/>
          <p:cNvSpPr/>
          <p:nvPr/>
        </p:nvSpPr>
        <p:spPr>
          <a:xfrm>
            <a:off x="310896" y="1298448"/>
            <a:ext cx="3291840" cy="475488"/>
          </a:xfrm>
          <a:prstGeom prst="roundRect">
            <a:avLst>
              <a:gd name="adj" fmla="val 5769"/>
            </a:avLst>
          </a:prstGeom>
          <a:solidFill>
            <a:srgbClr val="FFFFFF"/>
          </a:solidFill>
          <a:ln w="9525">
            <a:solidFill>
              <a:srgbClr val="D4DAE2"/>
            </a:solidFill>
            <a:prstDash val="solid"/>
          </a:ln>
        </p:spPr>
      </p:sp>
      <p:sp>
        <p:nvSpPr>
          <p:cNvPr id="13" name="Text 10"/>
          <p:cNvSpPr/>
          <p:nvPr/>
        </p:nvSpPr>
        <p:spPr>
          <a:xfrm>
            <a:off x="438912" y="1316736"/>
            <a:ext cx="1060704" cy="438912"/>
          </a:xfrm>
          <a:prstGeom prst="rect">
            <a:avLst/>
          </a:prstGeom>
          <a:noFill/>
          <a:ln/>
        </p:spPr>
        <p:txBody>
          <a:bodyPr wrap="square" lIns="0" tIns="0" rIns="0" bIns="0" rtlCol="0" anchor="ctr"/>
          <a:lstStyle/>
          <a:p>
            <a:pPr indent="0" marL="0">
              <a:buNone/>
            </a:pPr>
            <a:r>
              <a:rPr lang="en-US" sz="1000" b="1" dirty="0">
                <a:solidFill>
                  <a:srgbClr val="1F497D"/>
                </a:solidFill>
                <a:latin typeface="Calibri" pitchFamily="34" charset="0"/>
                <a:ea typeface="Calibri" pitchFamily="34" charset="-122"/>
                <a:cs typeface="Calibri" pitchFamily="34" charset="-120"/>
              </a:rPr>
              <a:t>Frontend</a:t>
            </a:r>
            <a:endParaRPr lang="en-US" sz="1000" dirty="0"/>
          </a:p>
        </p:txBody>
      </p:sp>
      <p:sp>
        <p:nvSpPr>
          <p:cNvPr id="14" name="Text 11"/>
          <p:cNvSpPr/>
          <p:nvPr/>
        </p:nvSpPr>
        <p:spPr>
          <a:xfrm>
            <a:off x="1517904" y="1316736"/>
            <a:ext cx="1975104" cy="438912"/>
          </a:xfrm>
          <a:prstGeom prst="rect">
            <a:avLst/>
          </a:prstGeom>
          <a:noFill/>
          <a:ln/>
        </p:spPr>
        <p:txBody>
          <a:bodyPr wrap="square" lIns="0" tIns="0" rIns="0" bIns="0" rtlCol="0" anchor="ctr"/>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React 18 · TypeScript · Vite · Tailwind</a:t>
            </a:r>
            <a:endParaRPr lang="en-US" sz="950" dirty="0"/>
          </a:p>
        </p:txBody>
      </p:sp>
      <p:sp>
        <p:nvSpPr>
          <p:cNvPr id="15" name="Shape 12"/>
          <p:cNvSpPr/>
          <p:nvPr/>
        </p:nvSpPr>
        <p:spPr>
          <a:xfrm>
            <a:off x="3767328" y="1298448"/>
            <a:ext cx="3291840" cy="475488"/>
          </a:xfrm>
          <a:prstGeom prst="roundRect">
            <a:avLst>
              <a:gd name="adj" fmla="val 5769"/>
            </a:avLst>
          </a:prstGeom>
          <a:solidFill>
            <a:srgbClr val="FFFFFF"/>
          </a:solidFill>
          <a:ln w="9525">
            <a:solidFill>
              <a:srgbClr val="D4DAE2"/>
            </a:solidFill>
            <a:prstDash val="solid"/>
          </a:ln>
        </p:spPr>
      </p:sp>
      <p:sp>
        <p:nvSpPr>
          <p:cNvPr id="16" name="Text 13"/>
          <p:cNvSpPr/>
          <p:nvPr/>
        </p:nvSpPr>
        <p:spPr>
          <a:xfrm>
            <a:off x="3895344" y="1316736"/>
            <a:ext cx="1060704" cy="438912"/>
          </a:xfrm>
          <a:prstGeom prst="rect">
            <a:avLst/>
          </a:prstGeom>
          <a:noFill/>
          <a:ln/>
        </p:spPr>
        <p:txBody>
          <a:bodyPr wrap="square" lIns="0" tIns="0" rIns="0" bIns="0" rtlCol="0" anchor="ctr"/>
          <a:lstStyle/>
          <a:p>
            <a:pPr indent="0" marL="0">
              <a:buNone/>
            </a:pPr>
            <a:r>
              <a:rPr lang="en-US" sz="1000" b="1" dirty="0">
                <a:solidFill>
                  <a:srgbClr val="1F497D"/>
                </a:solidFill>
                <a:latin typeface="Calibri" pitchFamily="34" charset="0"/>
                <a:ea typeface="Calibri" pitchFamily="34" charset="-122"/>
                <a:cs typeface="Calibri" pitchFamily="34" charset="-120"/>
              </a:rPr>
              <a:t>Orbital engine</a:t>
            </a:r>
            <a:endParaRPr lang="en-US" sz="1000" dirty="0"/>
          </a:p>
        </p:txBody>
      </p:sp>
      <p:sp>
        <p:nvSpPr>
          <p:cNvPr id="17" name="Text 14"/>
          <p:cNvSpPr/>
          <p:nvPr/>
        </p:nvSpPr>
        <p:spPr>
          <a:xfrm>
            <a:off x="4974336" y="1316736"/>
            <a:ext cx="1975104" cy="438912"/>
          </a:xfrm>
          <a:prstGeom prst="rect">
            <a:avLst/>
          </a:prstGeom>
          <a:noFill/>
          <a:ln/>
        </p:spPr>
        <p:txBody>
          <a:bodyPr wrap="square" lIns="0" tIns="0" rIns="0" bIns="0" rtlCol="0" anchor="ctr"/>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SGP4 (satellite.js, AIAA 2006-6753)</a:t>
            </a:r>
            <a:endParaRPr lang="en-US" sz="950" dirty="0"/>
          </a:p>
        </p:txBody>
      </p:sp>
      <p:sp>
        <p:nvSpPr>
          <p:cNvPr id="18" name="Shape 15"/>
          <p:cNvSpPr/>
          <p:nvPr/>
        </p:nvSpPr>
        <p:spPr>
          <a:xfrm>
            <a:off x="7223760" y="1298448"/>
            <a:ext cx="3291840" cy="475488"/>
          </a:xfrm>
          <a:prstGeom prst="roundRect">
            <a:avLst>
              <a:gd name="adj" fmla="val 5769"/>
            </a:avLst>
          </a:prstGeom>
          <a:solidFill>
            <a:srgbClr val="FFFFFF"/>
          </a:solidFill>
          <a:ln w="9525">
            <a:solidFill>
              <a:srgbClr val="D4DAE2"/>
            </a:solidFill>
            <a:prstDash val="solid"/>
          </a:ln>
        </p:spPr>
      </p:sp>
      <p:sp>
        <p:nvSpPr>
          <p:cNvPr id="19" name="Text 16"/>
          <p:cNvSpPr/>
          <p:nvPr/>
        </p:nvSpPr>
        <p:spPr>
          <a:xfrm>
            <a:off x="7351776" y="1316736"/>
            <a:ext cx="1060704" cy="438912"/>
          </a:xfrm>
          <a:prstGeom prst="rect">
            <a:avLst/>
          </a:prstGeom>
          <a:noFill/>
          <a:ln/>
        </p:spPr>
        <p:txBody>
          <a:bodyPr wrap="square" lIns="0" tIns="0" rIns="0" bIns="0" rtlCol="0" anchor="ctr"/>
          <a:lstStyle/>
          <a:p>
            <a:pPr indent="0" marL="0">
              <a:buNone/>
            </a:pPr>
            <a:r>
              <a:rPr lang="en-US" sz="1000" b="1" dirty="0">
                <a:solidFill>
                  <a:srgbClr val="1F497D"/>
                </a:solidFill>
                <a:latin typeface="Calibri" pitchFamily="34" charset="0"/>
                <a:ea typeface="Calibri" pitchFamily="34" charset="-122"/>
                <a:cs typeface="Calibri" pitchFamily="34" charset="-120"/>
              </a:rPr>
              <a:t>Compute</a:t>
            </a:r>
            <a:endParaRPr lang="en-US" sz="1000" dirty="0"/>
          </a:p>
        </p:txBody>
      </p:sp>
      <p:sp>
        <p:nvSpPr>
          <p:cNvPr id="20" name="Text 17"/>
          <p:cNvSpPr/>
          <p:nvPr/>
        </p:nvSpPr>
        <p:spPr>
          <a:xfrm>
            <a:off x="8430768" y="1316736"/>
            <a:ext cx="1975104" cy="438912"/>
          </a:xfrm>
          <a:prstGeom prst="rect">
            <a:avLst/>
          </a:prstGeom>
          <a:noFill/>
          <a:ln/>
        </p:spPr>
        <p:txBody>
          <a:bodyPr wrap="square" lIns="0" tIns="0" rIns="0" bIns="0" rtlCol="0" anchor="ctr"/>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Web Worker — off the main thread</a:t>
            </a:r>
            <a:endParaRPr lang="en-US" sz="950" dirty="0"/>
          </a:p>
        </p:txBody>
      </p:sp>
      <p:sp>
        <p:nvSpPr>
          <p:cNvPr id="21" name="Shape 18"/>
          <p:cNvSpPr/>
          <p:nvPr/>
        </p:nvSpPr>
        <p:spPr>
          <a:xfrm>
            <a:off x="310896" y="1865376"/>
            <a:ext cx="3291840" cy="475488"/>
          </a:xfrm>
          <a:prstGeom prst="roundRect">
            <a:avLst>
              <a:gd name="adj" fmla="val 5769"/>
            </a:avLst>
          </a:prstGeom>
          <a:solidFill>
            <a:srgbClr val="FFFFFF"/>
          </a:solidFill>
          <a:ln w="9525">
            <a:solidFill>
              <a:srgbClr val="D4DAE2"/>
            </a:solidFill>
            <a:prstDash val="solid"/>
          </a:ln>
        </p:spPr>
      </p:sp>
      <p:sp>
        <p:nvSpPr>
          <p:cNvPr id="22" name="Text 19"/>
          <p:cNvSpPr/>
          <p:nvPr/>
        </p:nvSpPr>
        <p:spPr>
          <a:xfrm>
            <a:off x="438912" y="1883664"/>
            <a:ext cx="1060704" cy="438912"/>
          </a:xfrm>
          <a:prstGeom prst="rect">
            <a:avLst/>
          </a:prstGeom>
          <a:noFill/>
          <a:ln/>
        </p:spPr>
        <p:txBody>
          <a:bodyPr wrap="square" lIns="0" tIns="0" rIns="0" bIns="0" rtlCol="0" anchor="ctr"/>
          <a:lstStyle/>
          <a:p>
            <a:pPr indent="0" marL="0">
              <a:buNone/>
            </a:pPr>
            <a:r>
              <a:rPr lang="en-US" sz="1000" b="1" dirty="0">
                <a:solidFill>
                  <a:srgbClr val="1F497D"/>
                </a:solidFill>
                <a:latin typeface="Calibri" pitchFamily="34" charset="0"/>
                <a:ea typeface="Calibri" pitchFamily="34" charset="-122"/>
                <a:cs typeface="Calibri" pitchFamily="34" charset="-120"/>
              </a:rPr>
              <a:t>Data</a:t>
            </a:r>
            <a:endParaRPr lang="en-US" sz="1000" dirty="0"/>
          </a:p>
        </p:txBody>
      </p:sp>
      <p:sp>
        <p:nvSpPr>
          <p:cNvPr id="23" name="Text 20"/>
          <p:cNvSpPr/>
          <p:nvPr/>
        </p:nvSpPr>
        <p:spPr>
          <a:xfrm>
            <a:off x="1517904" y="1883664"/>
            <a:ext cx="1975104" cy="438912"/>
          </a:xfrm>
          <a:prstGeom prst="rect">
            <a:avLst/>
          </a:prstGeom>
          <a:noFill/>
          <a:ln/>
        </p:spPr>
        <p:txBody>
          <a:bodyPr wrap="square" lIns="0" tIns="0" rIns="0" bIns="0" rtlCol="0" anchor="ctr"/>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CelesTrak GP two-line element sets (free, no sign-up)</a:t>
            </a:r>
            <a:endParaRPr lang="en-US" sz="950" dirty="0"/>
          </a:p>
        </p:txBody>
      </p:sp>
      <p:sp>
        <p:nvSpPr>
          <p:cNvPr id="24" name="Shape 21"/>
          <p:cNvSpPr/>
          <p:nvPr/>
        </p:nvSpPr>
        <p:spPr>
          <a:xfrm>
            <a:off x="3767328" y="1865376"/>
            <a:ext cx="3291840" cy="475488"/>
          </a:xfrm>
          <a:prstGeom prst="roundRect">
            <a:avLst>
              <a:gd name="adj" fmla="val 5769"/>
            </a:avLst>
          </a:prstGeom>
          <a:solidFill>
            <a:srgbClr val="FFFFFF"/>
          </a:solidFill>
          <a:ln w="9525">
            <a:solidFill>
              <a:srgbClr val="D4DAE2"/>
            </a:solidFill>
            <a:prstDash val="solid"/>
          </a:ln>
        </p:spPr>
      </p:sp>
      <p:sp>
        <p:nvSpPr>
          <p:cNvPr id="25" name="Text 22"/>
          <p:cNvSpPr/>
          <p:nvPr/>
        </p:nvSpPr>
        <p:spPr>
          <a:xfrm>
            <a:off x="3895344" y="1883664"/>
            <a:ext cx="1060704" cy="438912"/>
          </a:xfrm>
          <a:prstGeom prst="rect">
            <a:avLst/>
          </a:prstGeom>
          <a:noFill/>
          <a:ln/>
        </p:spPr>
        <p:txBody>
          <a:bodyPr wrap="square" lIns="0" tIns="0" rIns="0" bIns="0" rtlCol="0" anchor="ctr"/>
          <a:lstStyle/>
          <a:p>
            <a:pPr indent="0" marL="0">
              <a:buNone/>
            </a:pPr>
            <a:r>
              <a:rPr lang="en-US" sz="1000" b="1" dirty="0">
                <a:solidFill>
                  <a:srgbClr val="1F497D"/>
                </a:solidFill>
                <a:latin typeface="Calibri" pitchFamily="34" charset="0"/>
                <a:ea typeface="Calibri" pitchFamily="34" charset="-122"/>
                <a:cs typeface="Calibri" pitchFamily="34" charset="-120"/>
              </a:rPr>
              <a:t>Interop</a:t>
            </a:r>
            <a:endParaRPr lang="en-US" sz="1000" dirty="0"/>
          </a:p>
        </p:txBody>
      </p:sp>
      <p:sp>
        <p:nvSpPr>
          <p:cNvPr id="26" name="Text 23"/>
          <p:cNvSpPr/>
          <p:nvPr/>
        </p:nvSpPr>
        <p:spPr>
          <a:xfrm>
            <a:off x="4974336" y="1883664"/>
            <a:ext cx="1975104" cy="438912"/>
          </a:xfrm>
          <a:prstGeom prst="rect">
            <a:avLst/>
          </a:prstGeom>
          <a:noFill/>
          <a:ln/>
        </p:spPr>
        <p:txBody>
          <a:bodyPr wrap="square" lIns="0" tIns="0" rIns="0" bIns="0" rtlCol="0" anchor="ctr"/>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CCSDS 508.0-B-1 Conjunction Data Message · CSV</a:t>
            </a:r>
            <a:endParaRPr lang="en-US" sz="950" dirty="0"/>
          </a:p>
        </p:txBody>
      </p:sp>
      <p:sp>
        <p:nvSpPr>
          <p:cNvPr id="27" name="Shape 24"/>
          <p:cNvSpPr/>
          <p:nvPr/>
        </p:nvSpPr>
        <p:spPr>
          <a:xfrm>
            <a:off x="7223760" y="1865376"/>
            <a:ext cx="3291840" cy="475488"/>
          </a:xfrm>
          <a:prstGeom prst="roundRect">
            <a:avLst>
              <a:gd name="adj" fmla="val 5769"/>
            </a:avLst>
          </a:prstGeom>
          <a:solidFill>
            <a:srgbClr val="FFFFFF"/>
          </a:solidFill>
          <a:ln w="9525">
            <a:solidFill>
              <a:srgbClr val="D4DAE2"/>
            </a:solidFill>
            <a:prstDash val="solid"/>
          </a:ln>
        </p:spPr>
      </p:sp>
      <p:sp>
        <p:nvSpPr>
          <p:cNvPr id="28" name="Text 25"/>
          <p:cNvSpPr/>
          <p:nvPr/>
        </p:nvSpPr>
        <p:spPr>
          <a:xfrm>
            <a:off x="7351776" y="1883664"/>
            <a:ext cx="1060704" cy="438912"/>
          </a:xfrm>
          <a:prstGeom prst="rect">
            <a:avLst/>
          </a:prstGeom>
          <a:noFill/>
          <a:ln/>
        </p:spPr>
        <p:txBody>
          <a:bodyPr wrap="square" lIns="0" tIns="0" rIns="0" bIns="0" rtlCol="0" anchor="ctr"/>
          <a:lstStyle/>
          <a:p>
            <a:pPr indent="0" marL="0">
              <a:buNone/>
            </a:pPr>
            <a:r>
              <a:rPr lang="en-US" sz="1000" b="1" dirty="0">
                <a:solidFill>
                  <a:srgbClr val="1F497D"/>
                </a:solidFill>
                <a:latin typeface="Calibri" pitchFamily="34" charset="0"/>
                <a:ea typeface="Calibri" pitchFamily="34" charset="-122"/>
                <a:cs typeface="Calibri" pitchFamily="34" charset="-120"/>
              </a:rPr>
              <a:t>Deployment</a:t>
            </a:r>
            <a:endParaRPr lang="en-US" sz="1000" dirty="0"/>
          </a:p>
        </p:txBody>
      </p:sp>
      <p:sp>
        <p:nvSpPr>
          <p:cNvPr id="29" name="Text 26"/>
          <p:cNvSpPr/>
          <p:nvPr/>
        </p:nvSpPr>
        <p:spPr>
          <a:xfrm>
            <a:off x="8430768" y="1883664"/>
            <a:ext cx="1975104" cy="438912"/>
          </a:xfrm>
          <a:prstGeom prst="rect">
            <a:avLst/>
          </a:prstGeom>
          <a:noFill/>
          <a:ln/>
        </p:spPr>
        <p:txBody>
          <a:bodyPr wrap="square" lIns="0" tIns="0" rIns="0" bIns="0" rtlCol="0" anchor="ctr"/>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Static files — one 1.7 MB self-contained HTML file</a:t>
            </a:r>
            <a:endParaRPr lang="en-US" sz="950" dirty="0"/>
          </a:p>
        </p:txBody>
      </p:sp>
      <p:sp>
        <p:nvSpPr>
          <p:cNvPr id="30" name="Text 27"/>
          <p:cNvSpPr/>
          <p:nvPr/>
        </p:nvSpPr>
        <p:spPr>
          <a:xfrm>
            <a:off x="310896" y="2542032"/>
            <a:ext cx="292608" cy="292608"/>
          </a:xfrm>
          <a:prstGeom prst="rect">
            <a:avLst/>
          </a:prstGeom>
          <a:noFill/>
          <a:ln/>
        </p:spPr>
        <p:txBody>
          <a:bodyPr wrap="square" lIns="0" tIns="0" rIns="0" bIns="0" rtlCol="0" anchor="ctr"/>
          <a:lstStyle/>
          <a:p>
            <a:pPr indent="0" marL="0">
              <a:buNone/>
            </a:pPr>
            <a:r>
              <a:rPr lang="en-US" sz="1500" dirty="0">
                <a:solidFill>
                  <a:srgbClr val="1F497D"/>
                </a:solidFill>
                <a:latin typeface="Calibri" pitchFamily="34" charset="0"/>
                <a:ea typeface="Calibri" pitchFamily="34" charset="-122"/>
                <a:cs typeface="Calibri" pitchFamily="34" charset="-120"/>
              </a:rPr>
              <a:t>❖</a:t>
            </a:r>
            <a:endParaRPr lang="en-US" sz="1500" dirty="0"/>
          </a:p>
        </p:txBody>
      </p:sp>
      <p:sp>
        <p:nvSpPr>
          <p:cNvPr id="31" name="Text 28"/>
          <p:cNvSpPr/>
          <p:nvPr/>
        </p:nvSpPr>
        <p:spPr>
          <a:xfrm>
            <a:off x="621792" y="2542032"/>
            <a:ext cx="9692640" cy="292608"/>
          </a:xfrm>
          <a:prstGeom prst="rect">
            <a:avLst/>
          </a:prstGeom>
          <a:noFill/>
          <a:ln/>
        </p:spPr>
        <p:txBody>
          <a:bodyPr wrap="square" lIns="0" tIns="0" rIns="0" bIns="0" rtlCol="0" anchor="ctr"/>
          <a:lstStyle/>
          <a:p>
            <a:pPr indent="0" marL="0">
              <a:buNone/>
            </a:pPr>
            <a:r>
              <a:rPr lang="en-US" sz="1650" b="1" u="sng" dirty="0">
                <a:solidFill>
                  <a:srgbClr val="1F497D"/>
                </a:solidFill>
                <a:latin typeface="Calibri" pitchFamily="34" charset="0"/>
                <a:ea typeface="Calibri" pitchFamily="34" charset="-122"/>
                <a:cs typeface="Calibri" pitchFamily="34" charset="-120"/>
              </a:rPr>
              <a:t>Methodology and process for implementation</a:t>
            </a:r>
            <a:endParaRPr lang="en-US" sz="1650" dirty="0"/>
          </a:p>
        </p:txBody>
      </p:sp>
      <p:sp>
        <p:nvSpPr>
          <p:cNvPr id="32" name="Text 29"/>
          <p:cNvSpPr/>
          <p:nvPr/>
        </p:nvSpPr>
        <p:spPr>
          <a:xfrm>
            <a:off x="310896" y="2962656"/>
            <a:ext cx="1133856" cy="457200"/>
          </a:xfrm>
          <a:prstGeom prst="rect">
            <a:avLst/>
          </a:prstGeom>
          <a:noFill/>
          <a:ln/>
        </p:spPr>
        <p:txBody>
          <a:bodyPr wrap="square" lIns="0" tIns="0" rIns="0" bIns="0" rtlCol="0" anchor="ctr"/>
          <a:lstStyle/>
          <a:p>
            <a:pPr algn="r" indent="0" marL="0">
              <a:buNone/>
            </a:pPr>
            <a:r>
              <a:rPr lang="en-US" sz="1450" b="1" dirty="0">
                <a:solidFill>
                  <a:srgbClr val="2A4A6B"/>
                </a:solidFill>
                <a:latin typeface="Arial" pitchFamily="34" charset="0"/>
                <a:ea typeface="Arial" pitchFamily="34" charset="-122"/>
                <a:cs typeface="Arial" pitchFamily="34" charset="-120"/>
              </a:rPr>
              <a:t>368,511</a:t>
            </a:r>
            <a:endParaRPr lang="en-US" sz="1450" dirty="0"/>
          </a:p>
        </p:txBody>
      </p:sp>
      <p:sp>
        <p:nvSpPr>
          <p:cNvPr id="33" name="Text 30"/>
          <p:cNvSpPr/>
          <p:nvPr/>
        </p:nvSpPr>
        <p:spPr>
          <a:xfrm>
            <a:off x="1554480" y="2980944"/>
            <a:ext cx="2084832" cy="201168"/>
          </a:xfrm>
          <a:prstGeom prst="rect">
            <a:avLst/>
          </a:prstGeom>
          <a:noFill/>
          <a:ln/>
        </p:spPr>
        <p:txBody>
          <a:bodyPr wrap="square" lIns="0" tIns="0" rIns="0" bIns="0" rtlCol="0" anchor="ctr"/>
          <a:lstStyle/>
          <a:p>
            <a:pPr indent="0" marL="0">
              <a:buNone/>
            </a:pPr>
            <a:r>
              <a:rPr lang="en-US" sz="900" b="1" spc="60" kern="0" dirty="0">
                <a:solidFill>
                  <a:srgbClr val="2A4A6B"/>
                </a:solidFill>
                <a:latin typeface="Calibri" pitchFamily="34" charset="0"/>
                <a:ea typeface="Calibri" pitchFamily="34" charset="-122"/>
                <a:cs typeface="Calibri" pitchFamily="34" charset="-120"/>
              </a:rPr>
              <a:t>ALL PAIRS</a:t>
            </a:r>
            <a:endParaRPr lang="en-US" sz="900" dirty="0"/>
          </a:p>
        </p:txBody>
      </p:sp>
      <p:sp>
        <p:nvSpPr>
          <p:cNvPr id="34" name="Text 31"/>
          <p:cNvSpPr/>
          <p:nvPr/>
        </p:nvSpPr>
        <p:spPr>
          <a:xfrm>
            <a:off x="1554480" y="3182112"/>
            <a:ext cx="2121408" cy="219456"/>
          </a:xfrm>
          <a:prstGeom prst="rect">
            <a:avLst/>
          </a:prstGeom>
          <a:noFill/>
          <a:ln/>
        </p:spPr>
        <p:txBody>
          <a:bodyPr wrap="square" lIns="0" tIns="0" rIns="0" bIns="0" rtlCol="0" anchor="ctr"/>
          <a:lstStyle/>
          <a:p>
            <a:pPr indent="0" marL="0">
              <a:buNone/>
            </a:pPr>
            <a:r>
              <a:rPr lang="en-US" sz="850" dirty="0">
                <a:solidFill>
                  <a:srgbClr val="5A6673"/>
                </a:solidFill>
                <a:latin typeface="Calibri" pitchFamily="34" charset="0"/>
                <a:ea typeface="Calibri" pitchFamily="34" charset="-122"/>
                <a:cs typeface="Calibri" pitchFamily="34" charset="-120"/>
              </a:rPr>
              <a:t>859 objects, 72-hour horizon</a:t>
            </a:r>
            <a:endParaRPr lang="en-US" sz="850" dirty="0"/>
          </a:p>
        </p:txBody>
      </p:sp>
      <p:sp>
        <p:nvSpPr>
          <p:cNvPr id="35" name="Shape 32"/>
          <p:cNvSpPr/>
          <p:nvPr/>
        </p:nvSpPr>
        <p:spPr>
          <a:xfrm>
            <a:off x="3712464" y="3090672"/>
            <a:ext cx="3584448" cy="201168"/>
          </a:xfrm>
          <a:prstGeom prst="rect">
            <a:avLst/>
          </a:prstGeom>
          <a:solidFill>
            <a:srgbClr val="EEF2F7"/>
          </a:solidFill>
          <a:ln/>
        </p:spPr>
      </p:sp>
      <p:sp>
        <p:nvSpPr>
          <p:cNvPr id="36" name="Shape 33"/>
          <p:cNvSpPr/>
          <p:nvPr/>
        </p:nvSpPr>
        <p:spPr>
          <a:xfrm>
            <a:off x="3712464" y="3090672"/>
            <a:ext cx="3584448" cy="201168"/>
          </a:xfrm>
          <a:prstGeom prst="rect">
            <a:avLst/>
          </a:prstGeom>
          <a:solidFill>
            <a:srgbClr val="9FB3C8"/>
          </a:solidFill>
          <a:ln/>
        </p:spPr>
      </p:sp>
      <p:sp>
        <p:nvSpPr>
          <p:cNvPr id="37" name="Text 34"/>
          <p:cNvSpPr/>
          <p:nvPr/>
        </p:nvSpPr>
        <p:spPr>
          <a:xfrm>
            <a:off x="7370064" y="2962656"/>
            <a:ext cx="603504" cy="457200"/>
          </a:xfrm>
          <a:prstGeom prst="rect">
            <a:avLst/>
          </a:prstGeom>
          <a:noFill/>
          <a:ln/>
        </p:spPr>
        <p:txBody>
          <a:bodyPr wrap="square" lIns="0" tIns="0" rIns="0" bIns="0" rtlCol="0" anchor="ctr"/>
          <a:lstStyle/>
          <a:p>
            <a:pPr indent="0" marL="0">
              <a:buNone/>
            </a:pPr>
            <a:r>
              <a:rPr lang="en-US" sz="950" dirty="0">
                <a:solidFill>
                  <a:srgbClr val="5A6673"/>
                </a:solidFill>
                <a:latin typeface="Arial" pitchFamily="34" charset="0"/>
                <a:ea typeface="Arial" pitchFamily="34" charset="-122"/>
                <a:cs typeface="Arial" pitchFamily="34" charset="-120"/>
              </a:rPr>
              <a:t>100.000%</a:t>
            </a:r>
            <a:endParaRPr lang="en-US" sz="950" dirty="0"/>
          </a:p>
        </p:txBody>
      </p:sp>
      <p:sp>
        <p:nvSpPr>
          <p:cNvPr id="38" name="Text 35"/>
          <p:cNvSpPr/>
          <p:nvPr/>
        </p:nvSpPr>
        <p:spPr>
          <a:xfrm>
            <a:off x="310896" y="3529584"/>
            <a:ext cx="1133856" cy="457200"/>
          </a:xfrm>
          <a:prstGeom prst="rect">
            <a:avLst/>
          </a:prstGeom>
          <a:noFill/>
          <a:ln/>
        </p:spPr>
        <p:txBody>
          <a:bodyPr wrap="square" lIns="0" tIns="0" rIns="0" bIns="0" rtlCol="0" anchor="ctr"/>
          <a:lstStyle/>
          <a:p>
            <a:pPr algn="r" indent="0" marL="0">
              <a:buNone/>
            </a:pPr>
            <a:r>
              <a:rPr lang="en-US" sz="1450" b="1" dirty="0">
                <a:solidFill>
                  <a:srgbClr val="2A4A6B"/>
                </a:solidFill>
                <a:latin typeface="Arial" pitchFamily="34" charset="0"/>
                <a:ea typeface="Arial" pitchFamily="34" charset="-122"/>
                <a:cs typeface="Arial" pitchFamily="34" charset="-120"/>
              </a:rPr>
              <a:t>368,491</a:t>
            </a:r>
            <a:endParaRPr lang="en-US" sz="1450" dirty="0"/>
          </a:p>
        </p:txBody>
      </p:sp>
      <p:sp>
        <p:nvSpPr>
          <p:cNvPr id="39" name="Text 36"/>
          <p:cNvSpPr/>
          <p:nvPr/>
        </p:nvSpPr>
        <p:spPr>
          <a:xfrm>
            <a:off x="1554480" y="3547872"/>
            <a:ext cx="2084832" cy="201168"/>
          </a:xfrm>
          <a:prstGeom prst="rect">
            <a:avLst/>
          </a:prstGeom>
          <a:noFill/>
          <a:ln/>
        </p:spPr>
        <p:txBody>
          <a:bodyPr wrap="square" lIns="0" tIns="0" rIns="0" bIns="0" rtlCol="0" anchor="ctr"/>
          <a:lstStyle/>
          <a:p>
            <a:pPr indent="0" marL="0">
              <a:buNone/>
            </a:pPr>
            <a:r>
              <a:rPr lang="en-US" sz="900" b="1" spc="60" kern="0" dirty="0">
                <a:solidFill>
                  <a:srgbClr val="2A4A6B"/>
                </a:solidFill>
                <a:latin typeface="Calibri" pitchFamily="34" charset="0"/>
                <a:ea typeface="Calibri" pitchFamily="34" charset="-122"/>
                <a:cs typeface="Calibri" pitchFamily="34" charset="-120"/>
              </a:rPr>
              <a:t>PERIGEE–APOGEE FILTER</a:t>
            </a:r>
            <a:endParaRPr lang="en-US" sz="900" dirty="0"/>
          </a:p>
        </p:txBody>
      </p:sp>
      <p:sp>
        <p:nvSpPr>
          <p:cNvPr id="40" name="Text 37"/>
          <p:cNvSpPr/>
          <p:nvPr/>
        </p:nvSpPr>
        <p:spPr>
          <a:xfrm>
            <a:off x="1554480" y="3749040"/>
            <a:ext cx="2121408" cy="219456"/>
          </a:xfrm>
          <a:prstGeom prst="rect">
            <a:avLst/>
          </a:prstGeom>
          <a:noFill/>
          <a:ln/>
        </p:spPr>
        <p:txBody>
          <a:bodyPr wrap="square" lIns="0" tIns="0" rIns="0" bIns="0" rtlCol="0" anchor="ctr"/>
          <a:lstStyle/>
          <a:p>
            <a:pPr indent="0" marL="0">
              <a:buNone/>
            </a:pPr>
            <a:r>
              <a:rPr lang="en-US" sz="850" dirty="0">
                <a:solidFill>
                  <a:srgbClr val="5A6673"/>
                </a:solidFill>
                <a:latin typeface="Calibri" pitchFamily="34" charset="0"/>
                <a:ea typeface="Calibri" pitchFamily="34" charset="-122"/>
                <a:cs typeface="Calibri" pitchFamily="34" charset="-120"/>
              </a:rPr>
              <a:t>Orbits that can never intersect</a:t>
            </a:r>
            <a:endParaRPr lang="en-US" sz="850" dirty="0"/>
          </a:p>
        </p:txBody>
      </p:sp>
      <p:sp>
        <p:nvSpPr>
          <p:cNvPr id="41" name="Shape 38"/>
          <p:cNvSpPr/>
          <p:nvPr/>
        </p:nvSpPr>
        <p:spPr>
          <a:xfrm>
            <a:off x="3712464" y="3657600"/>
            <a:ext cx="3584448" cy="201168"/>
          </a:xfrm>
          <a:prstGeom prst="rect">
            <a:avLst/>
          </a:prstGeom>
          <a:solidFill>
            <a:srgbClr val="EEF2F7"/>
          </a:solidFill>
          <a:ln/>
        </p:spPr>
      </p:sp>
      <p:sp>
        <p:nvSpPr>
          <p:cNvPr id="42" name="Shape 39"/>
          <p:cNvSpPr/>
          <p:nvPr/>
        </p:nvSpPr>
        <p:spPr>
          <a:xfrm>
            <a:off x="3712464" y="3657600"/>
            <a:ext cx="3584413" cy="201168"/>
          </a:xfrm>
          <a:prstGeom prst="rect">
            <a:avLst/>
          </a:prstGeom>
          <a:solidFill>
            <a:srgbClr val="6E93B8"/>
          </a:solidFill>
          <a:ln/>
        </p:spPr>
      </p:sp>
      <p:sp>
        <p:nvSpPr>
          <p:cNvPr id="43" name="Text 40"/>
          <p:cNvSpPr/>
          <p:nvPr/>
        </p:nvSpPr>
        <p:spPr>
          <a:xfrm>
            <a:off x="7370064" y="3529584"/>
            <a:ext cx="603504" cy="457200"/>
          </a:xfrm>
          <a:prstGeom prst="rect">
            <a:avLst/>
          </a:prstGeom>
          <a:noFill/>
          <a:ln/>
        </p:spPr>
        <p:txBody>
          <a:bodyPr wrap="square" lIns="0" tIns="0" rIns="0" bIns="0" rtlCol="0" anchor="ctr"/>
          <a:lstStyle/>
          <a:p>
            <a:pPr indent="0" marL="0">
              <a:buNone/>
            </a:pPr>
            <a:r>
              <a:rPr lang="en-US" sz="950" dirty="0">
                <a:solidFill>
                  <a:srgbClr val="5A6673"/>
                </a:solidFill>
                <a:latin typeface="Arial" pitchFamily="34" charset="0"/>
                <a:ea typeface="Arial" pitchFamily="34" charset="-122"/>
                <a:cs typeface="Arial" pitchFamily="34" charset="-120"/>
              </a:rPr>
              <a:t>99.995%</a:t>
            </a:r>
            <a:endParaRPr lang="en-US" sz="950" dirty="0"/>
          </a:p>
        </p:txBody>
      </p:sp>
      <p:sp>
        <p:nvSpPr>
          <p:cNvPr id="44" name="Text 41"/>
          <p:cNvSpPr/>
          <p:nvPr/>
        </p:nvSpPr>
        <p:spPr>
          <a:xfrm>
            <a:off x="310896" y="4096512"/>
            <a:ext cx="1133856" cy="457200"/>
          </a:xfrm>
          <a:prstGeom prst="rect">
            <a:avLst/>
          </a:prstGeom>
          <a:noFill/>
          <a:ln/>
        </p:spPr>
        <p:txBody>
          <a:bodyPr wrap="square" lIns="0" tIns="0" rIns="0" bIns="0" rtlCol="0" anchor="ctr"/>
          <a:lstStyle/>
          <a:p>
            <a:pPr algn="r" indent="0" marL="0">
              <a:buNone/>
            </a:pPr>
            <a:r>
              <a:rPr lang="en-US" sz="1450" b="1" dirty="0">
                <a:solidFill>
                  <a:srgbClr val="2A4A6B"/>
                </a:solidFill>
                <a:latin typeface="Arial" pitchFamily="34" charset="0"/>
                <a:ea typeface="Arial" pitchFamily="34" charset="-122"/>
                <a:cs typeface="Arial" pitchFamily="34" charset="-120"/>
              </a:rPr>
              <a:t>253,010</a:t>
            </a:r>
            <a:endParaRPr lang="en-US" sz="1450" dirty="0"/>
          </a:p>
        </p:txBody>
      </p:sp>
      <p:sp>
        <p:nvSpPr>
          <p:cNvPr id="45" name="Text 42"/>
          <p:cNvSpPr/>
          <p:nvPr/>
        </p:nvSpPr>
        <p:spPr>
          <a:xfrm>
            <a:off x="1554480" y="4114800"/>
            <a:ext cx="2084832" cy="201168"/>
          </a:xfrm>
          <a:prstGeom prst="rect">
            <a:avLst/>
          </a:prstGeom>
          <a:noFill/>
          <a:ln/>
        </p:spPr>
        <p:txBody>
          <a:bodyPr wrap="square" lIns="0" tIns="0" rIns="0" bIns="0" rtlCol="0" anchor="ctr"/>
          <a:lstStyle/>
          <a:p>
            <a:pPr indent="0" marL="0">
              <a:buNone/>
            </a:pPr>
            <a:r>
              <a:rPr lang="en-US" sz="900" b="1" spc="60" kern="0" dirty="0">
                <a:solidFill>
                  <a:srgbClr val="2A4A6B"/>
                </a:solidFill>
                <a:latin typeface="Calibri" pitchFamily="34" charset="0"/>
                <a:ea typeface="Calibri" pitchFamily="34" charset="-122"/>
                <a:cs typeface="Calibri" pitchFamily="34" charset="-120"/>
              </a:rPr>
              <a:t>COARSE SWEEP</a:t>
            </a:r>
            <a:endParaRPr lang="en-US" sz="900" dirty="0"/>
          </a:p>
        </p:txBody>
      </p:sp>
      <p:sp>
        <p:nvSpPr>
          <p:cNvPr id="46" name="Text 43"/>
          <p:cNvSpPr/>
          <p:nvPr/>
        </p:nvSpPr>
        <p:spPr>
          <a:xfrm>
            <a:off x="1554480" y="4315968"/>
            <a:ext cx="2121408" cy="219456"/>
          </a:xfrm>
          <a:prstGeom prst="rect">
            <a:avLst/>
          </a:prstGeom>
          <a:noFill/>
          <a:ln/>
        </p:spPr>
        <p:txBody>
          <a:bodyPr wrap="square" lIns="0" tIns="0" rIns="0" bIns="0" rtlCol="0" anchor="ctr"/>
          <a:lstStyle/>
          <a:p>
            <a:pPr indent="0" marL="0">
              <a:buNone/>
            </a:pPr>
            <a:r>
              <a:rPr lang="en-US" sz="850" dirty="0">
                <a:solidFill>
                  <a:srgbClr val="5A6673"/>
                </a:solidFill>
                <a:latin typeface="Calibri" pitchFamily="34" charset="0"/>
                <a:ea typeface="Calibri" pitchFamily="34" charset="-122"/>
                <a:cs typeface="Calibri" pitchFamily="34" charset="-120"/>
              </a:rPr>
              <a:t>60 s steps, 450 km gate</a:t>
            </a:r>
            <a:endParaRPr lang="en-US" sz="850" dirty="0"/>
          </a:p>
        </p:txBody>
      </p:sp>
      <p:sp>
        <p:nvSpPr>
          <p:cNvPr id="47" name="Shape 44"/>
          <p:cNvSpPr/>
          <p:nvPr/>
        </p:nvSpPr>
        <p:spPr>
          <a:xfrm>
            <a:off x="3712464" y="4224528"/>
            <a:ext cx="3584448" cy="201168"/>
          </a:xfrm>
          <a:prstGeom prst="rect">
            <a:avLst/>
          </a:prstGeom>
          <a:solidFill>
            <a:srgbClr val="EEF2F7"/>
          </a:solidFill>
          <a:ln/>
        </p:spPr>
      </p:sp>
      <p:sp>
        <p:nvSpPr>
          <p:cNvPr id="48" name="Shape 45"/>
          <p:cNvSpPr/>
          <p:nvPr/>
        </p:nvSpPr>
        <p:spPr>
          <a:xfrm>
            <a:off x="3712464" y="4224528"/>
            <a:ext cx="3339466" cy="201168"/>
          </a:xfrm>
          <a:prstGeom prst="rect">
            <a:avLst/>
          </a:prstGeom>
          <a:solidFill>
            <a:srgbClr val="3D73A8"/>
          </a:solidFill>
          <a:ln/>
        </p:spPr>
      </p:sp>
      <p:sp>
        <p:nvSpPr>
          <p:cNvPr id="49" name="Text 46"/>
          <p:cNvSpPr/>
          <p:nvPr/>
        </p:nvSpPr>
        <p:spPr>
          <a:xfrm>
            <a:off x="7370064" y="4096512"/>
            <a:ext cx="603504" cy="457200"/>
          </a:xfrm>
          <a:prstGeom prst="rect">
            <a:avLst/>
          </a:prstGeom>
          <a:noFill/>
          <a:ln/>
        </p:spPr>
        <p:txBody>
          <a:bodyPr wrap="square" lIns="0" tIns="0" rIns="0" bIns="0" rtlCol="0" anchor="ctr"/>
          <a:lstStyle/>
          <a:p>
            <a:pPr indent="0" marL="0">
              <a:buNone/>
            </a:pPr>
            <a:r>
              <a:rPr lang="en-US" sz="950" dirty="0">
                <a:solidFill>
                  <a:srgbClr val="5A6673"/>
                </a:solidFill>
                <a:latin typeface="Arial" pitchFamily="34" charset="0"/>
                <a:ea typeface="Arial" pitchFamily="34" charset="-122"/>
                <a:cs typeface="Arial" pitchFamily="34" charset="-120"/>
              </a:rPr>
              <a:t>68.7%</a:t>
            </a:r>
            <a:endParaRPr lang="en-US" sz="950" dirty="0"/>
          </a:p>
        </p:txBody>
      </p:sp>
      <p:sp>
        <p:nvSpPr>
          <p:cNvPr id="50" name="Text 47"/>
          <p:cNvSpPr/>
          <p:nvPr/>
        </p:nvSpPr>
        <p:spPr>
          <a:xfrm>
            <a:off x="310896" y="4663440"/>
            <a:ext cx="1133856" cy="457200"/>
          </a:xfrm>
          <a:prstGeom prst="rect">
            <a:avLst/>
          </a:prstGeom>
          <a:noFill/>
          <a:ln/>
        </p:spPr>
        <p:txBody>
          <a:bodyPr wrap="square" lIns="0" tIns="0" rIns="0" bIns="0" rtlCol="0" anchor="ctr"/>
          <a:lstStyle/>
          <a:p>
            <a:pPr algn="r" indent="0" marL="0">
              <a:buNone/>
            </a:pPr>
            <a:r>
              <a:rPr lang="en-US" sz="1450" b="1" dirty="0">
                <a:solidFill>
                  <a:srgbClr val="1F497D"/>
                </a:solidFill>
                <a:latin typeface="Arial" pitchFamily="34" charset="0"/>
                <a:ea typeface="Arial" pitchFamily="34" charset="-122"/>
                <a:cs typeface="Arial" pitchFamily="34" charset="-120"/>
              </a:rPr>
              <a:t>3,032</a:t>
            </a:r>
            <a:endParaRPr lang="en-US" sz="1450" dirty="0"/>
          </a:p>
        </p:txBody>
      </p:sp>
      <p:sp>
        <p:nvSpPr>
          <p:cNvPr id="51" name="Text 48"/>
          <p:cNvSpPr/>
          <p:nvPr/>
        </p:nvSpPr>
        <p:spPr>
          <a:xfrm>
            <a:off x="1554480" y="4681728"/>
            <a:ext cx="2084832" cy="201168"/>
          </a:xfrm>
          <a:prstGeom prst="rect">
            <a:avLst/>
          </a:prstGeom>
          <a:noFill/>
          <a:ln/>
        </p:spPr>
        <p:txBody>
          <a:bodyPr wrap="square" lIns="0" tIns="0" rIns="0" bIns="0" rtlCol="0" anchor="ctr"/>
          <a:lstStyle/>
          <a:p>
            <a:pPr indent="0" marL="0">
              <a:buNone/>
            </a:pPr>
            <a:r>
              <a:rPr lang="en-US" sz="900" b="1" spc="60" kern="0" dirty="0">
                <a:solidFill>
                  <a:srgbClr val="1F497D"/>
                </a:solidFill>
                <a:latin typeface="Calibri" pitchFamily="34" charset="0"/>
                <a:ea typeface="Calibri" pitchFamily="34" charset="-122"/>
                <a:cs typeface="Calibri" pitchFamily="34" charset="-120"/>
              </a:rPr>
              <a:t>CONFIRMED EVENTS</a:t>
            </a:r>
            <a:endParaRPr lang="en-US" sz="900" dirty="0"/>
          </a:p>
        </p:txBody>
      </p:sp>
      <p:sp>
        <p:nvSpPr>
          <p:cNvPr id="52" name="Text 49"/>
          <p:cNvSpPr/>
          <p:nvPr/>
        </p:nvSpPr>
        <p:spPr>
          <a:xfrm>
            <a:off x="1554480" y="4882896"/>
            <a:ext cx="2121408" cy="219456"/>
          </a:xfrm>
          <a:prstGeom prst="rect">
            <a:avLst/>
          </a:prstGeom>
          <a:noFill/>
          <a:ln/>
        </p:spPr>
        <p:txBody>
          <a:bodyPr wrap="square" lIns="0" tIns="0" rIns="0" bIns="0" rtlCol="0" anchor="ctr"/>
          <a:lstStyle/>
          <a:p>
            <a:pPr indent="0" marL="0">
              <a:buNone/>
            </a:pPr>
            <a:r>
              <a:rPr lang="en-US" sz="850" dirty="0">
                <a:solidFill>
                  <a:srgbClr val="5A6673"/>
                </a:solidFill>
                <a:latin typeface="Calibri" pitchFamily="34" charset="0"/>
                <a:ea typeface="Calibri" pitchFamily="34" charset="-122"/>
                <a:cs typeface="Calibri" pitchFamily="34" charset="-120"/>
              </a:rPr>
              <a:t>Refined to exact TCA by bisection</a:t>
            </a:r>
            <a:endParaRPr lang="en-US" sz="850" dirty="0"/>
          </a:p>
        </p:txBody>
      </p:sp>
      <p:sp>
        <p:nvSpPr>
          <p:cNvPr id="53" name="Shape 50"/>
          <p:cNvSpPr/>
          <p:nvPr/>
        </p:nvSpPr>
        <p:spPr>
          <a:xfrm>
            <a:off x="3712464" y="4791456"/>
            <a:ext cx="3584448" cy="201168"/>
          </a:xfrm>
          <a:prstGeom prst="rect">
            <a:avLst/>
          </a:prstGeom>
          <a:solidFill>
            <a:srgbClr val="EEF2F7"/>
          </a:solidFill>
          <a:ln/>
        </p:spPr>
      </p:sp>
      <p:sp>
        <p:nvSpPr>
          <p:cNvPr id="54" name="Shape 51"/>
          <p:cNvSpPr/>
          <p:nvPr/>
        </p:nvSpPr>
        <p:spPr>
          <a:xfrm>
            <a:off x="3712464" y="4791456"/>
            <a:ext cx="457200" cy="201168"/>
          </a:xfrm>
          <a:prstGeom prst="rect">
            <a:avLst/>
          </a:prstGeom>
          <a:solidFill>
            <a:srgbClr val="1F497D"/>
          </a:solidFill>
          <a:ln/>
        </p:spPr>
      </p:sp>
      <p:sp>
        <p:nvSpPr>
          <p:cNvPr id="55" name="Text 52"/>
          <p:cNvSpPr/>
          <p:nvPr/>
        </p:nvSpPr>
        <p:spPr>
          <a:xfrm>
            <a:off x="7370064" y="4663440"/>
            <a:ext cx="603504" cy="457200"/>
          </a:xfrm>
          <a:prstGeom prst="rect">
            <a:avLst/>
          </a:prstGeom>
          <a:noFill/>
          <a:ln/>
        </p:spPr>
        <p:txBody>
          <a:bodyPr wrap="square" lIns="0" tIns="0" rIns="0" bIns="0" rtlCol="0" anchor="ctr"/>
          <a:lstStyle/>
          <a:p>
            <a:pPr indent="0" marL="0">
              <a:buNone/>
            </a:pPr>
            <a:r>
              <a:rPr lang="en-US" sz="950" b="1" dirty="0">
                <a:solidFill>
                  <a:srgbClr val="1F497D"/>
                </a:solidFill>
                <a:latin typeface="Arial" pitchFamily="34" charset="0"/>
                <a:ea typeface="Arial" pitchFamily="34" charset="-122"/>
                <a:cs typeface="Arial" pitchFamily="34" charset="-120"/>
              </a:rPr>
              <a:t>0.82%</a:t>
            </a:r>
            <a:endParaRPr lang="en-US" sz="950" dirty="0"/>
          </a:p>
        </p:txBody>
      </p:sp>
      <p:sp>
        <p:nvSpPr>
          <p:cNvPr id="56" name="Text 53"/>
          <p:cNvSpPr/>
          <p:nvPr/>
        </p:nvSpPr>
        <p:spPr>
          <a:xfrm>
            <a:off x="310896" y="5266944"/>
            <a:ext cx="7680960" cy="274320"/>
          </a:xfrm>
          <a:prstGeom prst="rect">
            <a:avLst/>
          </a:prstGeom>
          <a:noFill/>
          <a:ln/>
        </p:spPr>
        <p:txBody>
          <a:bodyPr wrap="square" lIns="0" tIns="0" rIns="0" bIns="0" rtlCol="0" anchor="ctr"/>
          <a:lstStyle/>
          <a:p>
            <a:pPr indent="0" marL="0">
              <a:buNone/>
            </a:pPr>
            <a:r>
              <a:rPr lang="en-US" sz="900" i="1" dirty="0">
                <a:solidFill>
                  <a:srgbClr val="5A6673"/>
                </a:solidFill>
                <a:latin typeface="Calibri" pitchFamily="34" charset="0"/>
                <a:ea typeface="Calibri" pitchFamily="34" charset="-122"/>
                <a:cs typeface="Calibri" pitchFamily="34" charset="-120"/>
              </a:rPr>
              <a:t>121× reduction, and the first filter removes only 20 pairs — bar length ∝ log₁₀(count); every stage figure is measured by the run, not asserted</a:t>
            </a:r>
            <a:endParaRPr lang="en-US" sz="900" dirty="0"/>
          </a:p>
        </p:txBody>
      </p:sp>
      <p:sp>
        <p:nvSpPr>
          <p:cNvPr id="57" name="Shape 54"/>
          <p:cNvSpPr/>
          <p:nvPr/>
        </p:nvSpPr>
        <p:spPr>
          <a:xfrm>
            <a:off x="8101584" y="2962656"/>
            <a:ext cx="2286000" cy="2377440"/>
          </a:xfrm>
          <a:prstGeom prst="roundRect">
            <a:avLst>
              <a:gd name="adj" fmla="val 1200"/>
            </a:avLst>
          </a:prstGeom>
          <a:solidFill>
            <a:srgbClr val="FFFFFF"/>
          </a:solidFill>
          <a:ln w="9525">
            <a:solidFill>
              <a:srgbClr val="D4DAE2"/>
            </a:solidFill>
            <a:prstDash val="solid"/>
          </a:ln>
        </p:spPr>
      </p:sp>
      <p:sp>
        <p:nvSpPr>
          <p:cNvPr id="58" name="Text 55"/>
          <p:cNvSpPr/>
          <p:nvPr/>
        </p:nvSpPr>
        <p:spPr>
          <a:xfrm>
            <a:off x="8284464" y="3090672"/>
            <a:ext cx="1920240" cy="182880"/>
          </a:xfrm>
          <a:prstGeom prst="rect">
            <a:avLst/>
          </a:prstGeom>
          <a:noFill/>
          <a:ln/>
        </p:spPr>
        <p:txBody>
          <a:bodyPr wrap="square" lIns="0" tIns="0" rIns="0" bIns="0" rtlCol="0" anchor="ctr"/>
          <a:lstStyle/>
          <a:p>
            <a:pPr indent="0" marL="0">
              <a:buNone/>
            </a:pPr>
            <a:r>
              <a:rPr lang="en-US" sz="850" b="1" spc="90" kern="0" dirty="0">
                <a:solidFill>
                  <a:srgbClr val="1E7A4C"/>
                </a:solidFill>
                <a:latin typeface="Calibri" pitchFamily="34" charset="0"/>
                <a:ea typeface="Calibri" pitchFamily="34" charset="-122"/>
                <a:cs typeface="Calibri" pitchFamily="34" charset="-120"/>
              </a:rPr>
              <a:t>VERIFIED, NOT CLAIMED</a:t>
            </a:r>
            <a:endParaRPr lang="en-US" sz="850" dirty="0"/>
          </a:p>
        </p:txBody>
      </p:sp>
      <p:sp>
        <p:nvSpPr>
          <p:cNvPr id="59" name="Text 56"/>
          <p:cNvSpPr/>
          <p:nvPr/>
        </p:nvSpPr>
        <p:spPr>
          <a:xfrm>
            <a:off x="8284464" y="3310128"/>
            <a:ext cx="1956816" cy="310896"/>
          </a:xfrm>
          <a:prstGeom prst="rect">
            <a:avLst/>
          </a:prstGeom>
          <a:noFill/>
          <a:ln/>
        </p:spPr>
        <p:txBody>
          <a:bodyPr wrap="square" lIns="0" tIns="0" rIns="0" bIns="0" rtlCol="0" anchor="ctr"/>
          <a:lstStyle/>
          <a:p>
            <a:pPr indent="0" marL="0">
              <a:buNone/>
            </a:pPr>
            <a:r>
              <a:rPr lang="en-US" sz="2100" b="1" dirty="0">
                <a:solidFill>
                  <a:srgbClr val="1F497D"/>
                </a:solidFill>
                <a:latin typeface="Arial" pitchFamily="34" charset="0"/>
                <a:ea typeface="Arial" pitchFamily="34" charset="-122"/>
                <a:cs typeface="Arial" pitchFamily="34" charset="-120"/>
              </a:rPr>
              <a:t>3,710,880</a:t>
            </a:r>
            <a:pPr indent="0" marL="0">
              <a:buNone/>
            </a:pPr>
            <a:endParaRPr lang="en-US" sz="2100" dirty="0"/>
          </a:p>
        </p:txBody>
      </p:sp>
      <p:sp>
        <p:nvSpPr>
          <p:cNvPr id="60" name="Text 57"/>
          <p:cNvSpPr/>
          <p:nvPr/>
        </p:nvSpPr>
        <p:spPr>
          <a:xfrm>
            <a:off x="8284464" y="3602736"/>
            <a:ext cx="1956816" cy="347472"/>
          </a:xfrm>
          <a:prstGeom prst="rect">
            <a:avLst/>
          </a:prstGeom>
          <a:noFill/>
          <a:ln/>
        </p:spPr>
        <p:txBody>
          <a:bodyPr wrap="square" lIns="0" tIns="0" rIns="0" bIns="0" rtlCol="0" anchor="ctr"/>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SGP4 propagations per run (~15 s)</a:t>
            </a:r>
            <a:endParaRPr lang="en-US" sz="950" dirty="0"/>
          </a:p>
        </p:txBody>
      </p:sp>
      <p:sp>
        <p:nvSpPr>
          <p:cNvPr id="61" name="Text 58"/>
          <p:cNvSpPr/>
          <p:nvPr/>
        </p:nvSpPr>
        <p:spPr>
          <a:xfrm>
            <a:off x="8284464" y="3968496"/>
            <a:ext cx="1956816" cy="310896"/>
          </a:xfrm>
          <a:prstGeom prst="rect">
            <a:avLst/>
          </a:prstGeom>
          <a:noFill/>
          <a:ln/>
        </p:spPr>
        <p:txBody>
          <a:bodyPr wrap="square" lIns="0" tIns="0" rIns="0" bIns="0" rtlCol="0" anchor="ctr"/>
          <a:lstStyle/>
          <a:p>
            <a:pPr indent="0" marL="0">
              <a:buNone/>
            </a:pPr>
            <a:r>
              <a:rPr lang="en-US" sz="2100" b="1" dirty="0">
                <a:solidFill>
                  <a:srgbClr val="1E7A4C"/>
                </a:solidFill>
                <a:latin typeface="Arial" pitchFamily="34" charset="0"/>
                <a:ea typeface="Arial" pitchFamily="34" charset="-122"/>
                <a:cs typeface="Arial" pitchFamily="34" charset="-120"/>
              </a:rPr>
              <a:t>1.14×10⁻¹³</a:t>
            </a:r>
            <a:pPr indent="0" marL="0">
              <a:buNone/>
            </a:pPr>
            <a:r>
              <a:rPr lang="en-US" sz="1000" dirty="0">
                <a:solidFill>
                  <a:srgbClr val="5A6673"/>
                </a:solidFill>
                <a:latin typeface="Arial" pitchFamily="34" charset="0"/>
                <a:ea typeface="Arial" pitchFamily="34" charset="-122"/>
                <a:cs typeface="Arial" pitchFamily="34" charset="-120"/>
              </a:rPr>
              <a:t> km</a:t>
            </a:r>
            <a:endParaRPr lang="en-US" sz="2100" dirty="0"/>
          </a:p>
        </p:txBody>
      </p:sp>
      <p:sp>
        <p:nvSpPr>
          <p:cNvPr id="62" name="Text 59"/>
          <p:cNvSpPr/>
          <p:nvPr/>
        </p:nvSpPr>
        <p:spPr>
          <a:xfrm>
            <a:off x="8284464" y="4261104"/>
            <a:ext cx="1956816" cy="347472"/>
          </a:xfrm>
          <a:prstGeom prst="rect">
            <a:avLst/>
          </a:prstGeom>
          <a:noFill/>
          <a:ln/>
        </p:spPr>
        <p:txBody>
          <a:bodyPr wrap="square" lIns="0" tIns="0" rIns="0" bIns="0" rtlCol="0" anchor="ctr"/>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Cascade vs brute-force all-pairs agreement</a:t>
            </a:r>
            <a:endParaRPr lang="en-US" sz="950" dirty="0"/>
          </a:p>
        </p:txBody>
      </p:sp>
      <p:sp>
        <p:nvSpPr>
          <p:cNvPr id="63" name="Text 60"/>
          <p:cNvSpPr/>
          <p:nvPr/>
        </p:nvSpPr>
        <p:spPr>
          <a:xfrm>
            <a:off x="8284464" y="4626864"/>
            <a:ext cx="1956816" cy="310896"/>
          </a:xfrm>
          <a:prstGeom prst="rect">
            <a:avLst/>
          </a:prstGeom>
          <a:noFill/>
          <a:ln/>
        </p:spPr>
        <p:txBody>
          <a:bodyPr wrap="square" lIns="0" tIns="0" rIns="0" bIns="0" rtlCol="0" anchor="ctr"/>
          <a:lstStyle/>
          <a:p>
            <a:pPr indent="0" marL="0">
              <a:buNone/>
            </a:pPr>
            <a:r>
              <a:rPr lang="en-US" sz="2100" b="1" dirty="0">
                <a:solidFill>
                  <a:srgbClr val="1F497D"/>
                </a:solidFill>
                <a:latin typeface="Arial" pitchFamily="34" charset="0"/>
                <a:ea typeface="Arial" pitchFamily="34" charset="-122"/>
                <a:cs typeface="Arial" pitchFamily="34" charset="-120"/>
              </a:rPr>
              <a:t>≈1.73</a:t>
            </a:r>
            <a:pPr indent="0" marL="0">
              <a:buNone/>
            </a:pPr>
            <a:endParaRPr lang="en-US" sz="2100" dirty="0"/>
          </a:p>
        </p:txBody>
      </p:sp>
      <p:sp>
        <p:nvSpPr>
          <p:cNvPr id="64" name="Text 61"/>
          <p:cNvSpPr/>
          <p:nvPr/>
        </p:nvSpPr>
        <p:spPr>
          <a:xfrm>
            <a:off x="8284464" y="4919472"/>
            <a:ext cx="1956816" cy="347472"/>
          </a:xfrm>
          <a:prstGeom prst="rect">
            <a:avLst/>
          </a:prstGeom>
          <a:noFill/>
          <a:ln/>
        </p:spPr>
        <p:txBody>
          <a:bodyPr wrap="square" lIns="0" tIns="0" rIns="0" bIns="0" rtlCol="0" anchor="ctr"/>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Scaling exponent, 1.70–1.74 across runs (2.0 = all-pairs)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19456" y="146304"/>
            <a:ext cx="1060704" cy="566928"/>
          </a:xfrm>
          <a:prstGeom prst="ellipse">
            <a:avLst/>
          </a:prstGeom>
          <a:solidFill>
            <a:srgbClr val="FFFFFF"/>
          </a:solidFill>
          <a:ln w="12700">
            <a:solidFill>
              <a:srgbClr val="B4A3C8"/>
            </a:solidFill>
            <a:prstDash val="solid"/>
          </a:ln>
        </p:spPr>
      </p:sp>
      <p:sp>
        <p:nvSpPr>
          <p:cNvPr id="3" name="Text 1"/>
          <p:cNvSpPr/>
          <p:nvPr/>
        </p:nvSpPr>
        <p:spPr>
          <a:xfrm>
            <a:off x="219456" y="146304"/>
            <a:ext cx="1060704" cy="566928"/>
          </a:xfrm>
          <a:prstGeom prst="rect">
            <a:avLst/>
          </a:prstGeom>
          <a:noFill/>
          <a:ln/>
        </p:spPr>
        <p:txBody>
          <a:bodyPr wrap="square" lIns="0" tIns="0" rIns="0" bIns="0" rtlCol="0" anchor="ctr"/>
          <a:lstStyle/>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Team</a:t>
            </a:r>
            <a:endParaRPr lang="en-US" sz="1050" dirty="0"/>
          </a:p>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Name</a:t>
            </a:r>
            <a:endParaRPr lang="en-US" sz="1050" dirty="0"/>
          </a:p>
        </p:txBody>
      </p:sp>
      <p:sp>
        <p:nvSpPr>
          <p:cNvPr id="4" name="Text 2"/>
          <p:cNvSpPr/>
          <p:nvPr/>
        </p:nvSpPr>
        <p:spPr>
          <a:xfrm>
            <a:off x="1389888" y="146304"/>
            <a:ext cx="7059168" cy="585216"/>
          </a:xfrm>
          <a:prstGeom prst="rect">
            <a:avLst/>
          </a:prstGeom>
          <a:noFill/>
          <a:ln/>
        </p:spPr>
        <p:txBody>
          <a:bodyPr wrap="square" lIns="0" tIns="0" rIns="0" bIns="0" rtlCol="0" anchor="ctr"/>
          <a:lstStyle/>
          <a:p>
            <a:pPr algn="ctr" indent="0" marL="0">
              <a:buNone/>
            </a:pPr>
            <a:r>
              <a:rPr lang="en-US" sz="2700" b="1" dirty="0">
                <a:solidFill>
                  <a:srgbClr val="111111"/>
                </a:solidFill>
                <a:latin typeface="Calibri" pitchFamily="34" charset="0"/>
                <a:ea typeface="Calibri" pitchFamily="34" charset="-122"/>
                <a:cs typeface="Calibri" pitchFamily="34" charset="-120"/>
              </a:rPr>
              <a:t>FEASIBILITY AND VIABILITY</a:t>
            </a:r>
            <a:endParaRPr lang="en-US" sz="2700" dirty="0"/>
          </a:p>
        </p:txBody>
      </p:sp>
      <p:pic>
        <p:nvPicPr>
          <p:cNvPr id="5" name="Image 0" descr="preencoded.png">    </p:cNvPr>
          <p:cNvPicPr>
            <a:picLocks noChangeAspect="1"/>
          </p:cNvPicPr>
          <p:nvPr/>
        </p:nvPicPr>
        <p:blipFill>
          <a:blip r:embed="rId1"/>
          <a:stretch>
            <a:fillRect/>
          </a:stretch>
        </p:blipFill>
        <p:spPr>
          <a:xfrm>
            <a:off x="8796528" y="137160"/>
            <a:ext cx="517434" cy="566928"/>
          </a:xfrm>
          <a:prstGeom prst="rect">
            <a:avLst/>
          </a:prstGeom>
        </p:spPr>
      </p:pic>
      <p:sp>
        <p:nvSpPr>
          <p:cNvPr id="6" name="Text 3"/>
          <p:cNvSpPr/>
          <p:nvPr/>
        </p:nvSpPr>
        <p:spPr>
          <a:xfrm>
            <a:off x="9400032" y="146304"/>
            <a:ext cx="1115568" cy="548640"/>
          </a:xfrm>
          <a:prstGeom prst="rect">
            <a:avLst/>
          </a:prstGeom>
          <a:noFill/>
          <a:ln/>
        </p:spPr>
        <p:txBody>
          <a:bodyPr wrap="square" lIns="0" tIns="0" rIns="0" bIns="0" rtlCol="0" anchor="ctr"/>
          <a:lstStyle/>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SMART INDIA</a:t>
            </a:r>
            <a:endParaRPr lang="en-US" sz="950" dirty="0"/>
          </a:p>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HACKATHON 2026</a:t>
            </a:r>
            <a:endParaRPr lang="en-US" sz="950" dirty="0"/>
          </a:p>
        </p:txBody>
      </p:sp>
      <p:sp>
        <p:nvSpPr>
          <p:cNvPr id="7" name="Shape 4"/>
          <p:cNvSpPr/>
          <p:nvPr/>
        </p:nvSpPr>
        <p:spPr>
          <a:xfrm>
            <a:off x="0" y="5708599"/>
            <a:ext cx="10692994" cy="310896"/>
          </a:xfrm>
          <a:prstGeom prst="rect">
            <a:avLst/>
          </a:prstGeom>
          <a:solidFill>
            <a:srgbClr val="0070C0"/>
          </a:solidFill>
          <a:ln/>
        </p:spPr>
      </p:sp>
      <p:sp>
        <p:nvSpPr>
          <p:cNvPr id="8" name="Text 5"/>
          <p:cNvSpPr/>
          <p:nvPr/>
        </p:nvSpPr>
        <p:spPr>
          <a:xfrm>
            <a:off x="3200400" y="5708599"/>
            <a:ext cx="429768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@SIH Idea submission- Template</a:t>
            </a:r>
            <a:endParaRPr lang="en-US" sz="1050" dirty="0"/>
          </a:p>
        </p:txBody>
      </p:sp>
      <p:sp>
        <p:nvSpPr>
          <p:cNvPr id="9" name="Text 6"/>
          <p:cNvSpPr/>
          <p:nvPr/>
        </p:nvSpPr>
        <p:spPr>
          <a:xfrm>
            <a:off x="9915754" y="5708599"/>
            <a:ext cx="457200"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0" name="Text 7"/>
          <p:cNvSpPr/>
          <p:nvPr/>
        </p:nvSpPr>
        <p:spPr>
          <a:xfrm>
            <a:off x="310896" y="896112"/>
            <a:ext cx="292608" cy="292608"/>
          </a:xfrm>
          <a:prstGeom prst="rect">
            <a:avLst/>
          </a:prstGeom>
          <a:noFill/>
          <a:ln/>
        </p:spPr>
        <p:txBody>
          <a:bodyPr wrap="square" lIns="0" tIns="0" rIns="0" bIns="0" rtlCol="0" anchor="ctr"/>
          <a:lstStyle/>
          <a:p>
            <a:pPr indent="0" marL="0">
              <a:buNone/>
            </a:pPr>
            <a:r>
              <a:rPr lang="en-US" sz="1500" dirty="0">
                <a:solidFill>
                  <a:srgbClr val="1F497D"/>
                </a:solidFill>
                <a:latin typeface="Calibri" pitchFamily="34" charset="0"/>
                <a:ea typeface="Calibri" pitchFamily="34" charset="-122"/>
                <a:cs typeface="Calibri" pitchFamily="34" charset="-120"/>
              </a:rPr>
              <a:t>❖</a:t>
            </a:r>
            <a:endParaRPr lang="en-US" sz="1500" dirty="0"/>
          </a:p>
        </p:txBody>
      </p:sp>
      <p:sp>
        <p:nvSpPr>
          <p:cNvPr id="11" name="Text 8"/>
          <p:cNvSpPr/>
          <p:nvPr/>
        </p:nvSpPr>
        <p:spPr>
          <a:xfrm>
            <a:off x="621792" y="896112"/>
            <a:ext cx="9692640" cy="292608"/>
          </a:xfrm>
          <a:prstGeom prst="rect">
            <a:avLst/>
          </a:prstGeom>
          <a:noFill/>
          <a:ln/>
        </p:spPr>
        <p:txBody>
          <a:bodyPr wrap="square" lIns="0" tIns="0" rIns="0" bIns="0" rtlCol="0" anchor="ctr"/>
          <a:lstStyle/>
          <a:p>
            <a:pPr indent="0" marL="0">
              <a:buNone/>
            </a:pPr>
            <a:r>
              <a:rPr lang="en-US" sz="1650" b="1" u="sng" dirty="0">
                <a:solidFill>
                  <a:srgbClr val="1F497D"/>
                </a:solidFill>
                <a:latin typeface="Calibri" pitchFamily="34" charset="0"/>
                <a:ea typeface="Calibri" pitchFamily="34" charset="-122"/>
                <a:cs typeface="Calibri" pitchFamily="34" charset="-120"/>
              </a:rPr>
              <a:t>Analysis of the feasibility of the idea</a:t>
            </a:r>
            <a:endParaRPr lang="en-US" sz="1650" dirty="0"/>
          </a:p>
        </p:txBody>
      </p:sp>
      <p:sp>
        <p:nvSpPr>
          <p:cNvPr id="12" name="Shape 9"/>
          <p:cNvSpPr/>
          <p:nvPr/>
        </p:nvSpPr>
        <p:spPr>
          <a:xfrm>
            <a:off x="310896" y="1298448"/>
            <a:ext cx="2450592" cy="1060704"/>
          </a:xfrm>
          <a:prstGeom prst="roundRect">
            <a:avLst>
              <a:gd name="adj" fmla="val 2586"/>
            </a:avLst>
          </a:prstGeom>
          <a:solidFill>
            <a:srgbClr val="FFFFFF"/>
          </a:solidFill>
          <a:ln w="9525">
            <a:solidFill>
              <a:srgbClr val="D4DAE2"/>
            </a:solidFill>
            <a:prstDash val="solid"/>
          </a:ln>
        </p:spPr>
      </p:sp>
      <p:sp>
        <p:nvSpPr>
          <p:cNvPr id="13" name="Text 10"/>
          <p:cNvSpPr/>
          <p:nvPr/>
        </p:nvSpPr>
        <p:spPr>
          <a:xfrm>
            <a:off x="438912" y="1408176"/>
            <a:ext cx="219456" cy="219456"/>
          </a:xfrm>
          <a:prstGeom prst="rect">
            <a:avLst/>
          </a:prstGeom>
          <a:noFill/>
          <a:ln/>
        </p:spPr>
        <p:txBody>
          <a:bodyPr wrap="square" lIns="0" tIns="0" rIns="0" bIns="0" rtlCol="0" anchor="ctr"/>
          <a:lstStyle/>
          <a:p>
            <a:pPr indent="0" marL="0">
              <a:buNone/>
            </a:pPr>
            <a:r>
              <a:rPr lang="en-US" sz="1300" b="1" dirty="0">
                <a:solidFill>
                  <a:srgbClr val="1E7A4C"/>
                </a:solidFill>
                <a:latin typeface="Calibri" pitchFamily="34" charset="0"/>
                <a:ea typeface="Calibri" pitchFamily="34" charset="-122"/>
                <a:cs typeface="Calibri" pitchFamily="34" charset="-120"/>
              </a:rPr>
              <a:t>✓</a:t>
            </a:r>
            <a:endParaRPr lang="en-US" sz="1300" dirty="0"/>
          </a:p>
        </p:txBody>
      </p:sp>
      <p:sp>
        <p:nvSpPr>
          <p:cNvPr id="14" name="Text 11"/>
          <p:cNvSpPr/>
          <p:nvPr/>
        </p:nvSpPr>
        <p:spPr>
          <a:xfrm>
            <a:off x="694944" y="1408176"/>
            <a:ext cx="1920240" cy="219456"/>
          </a:xfrm>
          <a:prstGeom prst="rect">
            <a:avLst/>
          </a:prstGeom>
          <a:noFill/>
          <a:ln/>
        </p:spPr>
        <p:txBody>
          <a:bodyPr wrap="square" lIns="0" tIns="0" rIns="0" bIns="0" rtlCol="0" anchor="ctr"/>
          <a:lstStyle/>
          <a:p>
            <a:pPr indent="0" marL="0">
              <a:buNone/>
            </a:pPr>
            <a:r>
              <a:rPr lang="en-US" sz="1100" b="1" dirty="0">
                <a:solidFill>
                  <a:srgbClr val="111111"/>
                </a:solidFill>
                <a:latin typeface="Calibri" pitchFamily="34" charset="0"/>
                <a:ea typeface="Calibri" pitchFamily="34" charset="-122"/>
                <a:cs typeface="Calibri" pitchFamily="34" charset="-120"/>
              </a:rPr>
              <a:t>Already built</a:t>
            </a:r>
            <a:endParaRPr lang="en-US" sz="1100" dirty="0"/>
          </a:p>
        </p:txBody>
      </p:sp>
      <p:sp>
        <p:nvSpPr>
          <p:cNvPr id="15" name="Text 12"/>
          <p:cNvSpPr/>
          <p:nvPr/>
        </p:nvSpPr>
        <p:spPr>
          <a:xfrm>
            <a:off x="438912" y="1682496"/>
            <a:ext cx="2212848" cy="603504"/>
          </a:xfrm>
          <a:prstGeom prst="rect">
            <a:avLst/>
          </a:prstGeom>
          <a:noFill/>
          <a:ln/>
        </p:spPr>
        <p:txBody>
          <a:bodyPr wrap="square" lIns="0" tIns="0" rIns="0" bIns="0" rtlCol="0" anchor="ctr"/>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Not a concept. A working console with a real screening engine, running today.</a:t>
            </a:r>
            <a:endParaRPr lang="en-US" sz="950" dirty="0"/>
          </a:p>
        </p:txBody>
      </p:sp>
      <p:sp>
        <p:nvSpPr>
          <p:cNvPr id="16" name="Shape 13"/>
          <p:cNvSpPr/>
          <p:nvPr/>
        </p:nvSpPr>
        <p:spPr>
          <a:xfrm>
            <a:off x="2916936" y="1298448"/>
            <a:ext cx="2450592" cy="1060704"/>
          </a:xfrm>
          <a:prstGeom prst="roundRect">
            <a:avLst>
              <a:gd name="adj" fmla="val 2586"/>
            </a:avLst>
          </a:prstGeom>
          <a:solidFill>
            <a:srgbClr val="FFFFFF"/>
          </a:solidFill>
          <a:ln w="9525">
            <a:solidFill>
              <a:srgbClr val="D4DAE2"/>
            </a:solidFill>
            <a:prstDash val="solid"/>
          </a:ln>
        </p:spPr>
      </p:sp>
      <p:sp>
        <p:nvSpPr>
          <p:cNvPr id="17" name="Text 14"/>
          <p:cNvSpPr/>
          <p:nvPr/>
        </p:nvSpPr>
        <p:spPr>
          <a:xfrm>
            <a:off x="3044952" y="1408176"/>
            <a:ext cx="219456" cy="219456"/>
          </a:xfrm>
          <a:prstGeom prst="rect">
            <a:avLst/>
          </a:prstGeom>
          <a:noFill/>
          <a:ln/>
        </p:spPr>
        <p:txBody>
          <a:bodyPr wrap="square" lIns="0" tIns="0" rIns="0" bIns="0" rtlCol="0" anchor="ctr"/>
          <a:lstStyle/>
          <a:p>
            <a:pPr indent="0" marL="0">
              <a:buNone/>
            </a:pPr>
            <a:r>
              <a:rPr lang="en-US" sz="1300" b="1" dirty="0">
                <a:solidFill>
                  <a:srgbClr val="1E7A4C"/>
                </a:solidFill>
                <a:latin typeface="Calibri" pitchFamily="34" charset="0"/>
                <a:ea typeface="Calibri" pitchFamily="34" charset="-122"/>
                <a:cs typeface="Calibri" pitchFamily="34" charset="-120"/>
              </a:rPr>
              <a:t>✓</a:t>
            </a:r>
            <a:endParaRPr lang="en-US" sz="1300" dirty="0"/>
          </a:p>
        </p:txBody>
      </p:sp>
      <p:sp>
        <p:nvSpPr>
          <p:cNvPr id="18" name="Text 15"/>
          <p:cNvSpPr/>
          <p:nvPr/>
        </p:nvSpPr>
        <p:spPr>
          <a:xfrm>
            <a:off x="3300984" y="1408176"/>
            <a:ext cx="1920240" cy="219456"/>
          </a:xfrm>
          <a:prstGeom prst="rect">
            <a:avLst/>
          </a:prstGeom>
          <a:noFill/>
          <a:ln/>
        </p:spPr>
        <p:txBody>
          <a:bodyPr wrap="square" lIns="0" tIns="0" rIns="0" bIns="0" rtlCol="0" anchor="ctr"/>
          <a:lstStyle/>
          <a:p>
            <a:pPr indent="0" marL="0">
              <a:buNone/>
            </a:pPr>
            <a:r>
              <a:rPr lang="en-US" sz="1100" b="1" dirty="0">
                <a:solidFill>
                  <a:srgbClr val="111111"/>
                </a:solidFill>
                <a:latin typeface="Calibri" pitchFamily="34" charset="0"/>
                <a:ea typeface="Calibri" pitchFamily="34" charset="-122"/>
                <a:cs typeface="Calibri" pitchFamily="34" charset="-120"/>
              </a:rPr>
              <a:t>Zero data cost</a:t>
            </a:r>
            <a:endParaRPr lang="en-US" sz="1100" dirty="0"/>
          </a:p>
        </p:txBody>
      </p:sp>
      <p:sp>
        <p:nvSpPr>
          <p:cNvPr id="19" name="Text 16"/>
          <p:cNvSpPr/>
          <p:nvPr/>
        </p:nvSpPr>
        <p:spPr>
          <a:xfrm>
            <a:off x="3044952" y="1682496"/>
            <a:ext cx="2212848" cy="603504"/>
          </a:xfrm>
          <a:prstGeom prst="rect">
            <a:avLst/>
          </a:prstGeom>
          <a:noFill/>
          <a:ln/>
        </p:spPr>
        <p:txBody>
          <a:bodyPr wrap="square" lIns="0" tIns="0" rIns="0" bIns="0" rtlCol="0" anchor="ctr"/>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CelesTrak publishes TLEs free with no sign-up — the usual blocker for this theme.</a:t>
            </a:r>
            <a:endParaRPr lang="en-US" sz="950" dirty="0"/>
          </a:p>
        </p:txBody>
      </p:sp>
      <p:sp>
        <p:nvSpPr>
          <p:cNvPr id="20" name="Shape 17"/>
          <p:cNvSpPr/>
          <p:nvPr/>
        </p:nvSpPr>
        <p:spPr>
          <a:xfrm>
            <a:off x="5522976" y="1298448"/>
            <a:ext cx="2450592" cy="1060704"/>
          </a:xfrm>
          <a:prstGeom prst="roundRect">
            <a:avLst>
              <a:gd name="adj" fmla="val 2586"/>
            </a:avLst>
          </a:prstGeom>
          <a:solidFill>
            <a:srgbClr val="FFFFFF"/>
          </a:solidFill>
          <a:ln w="9525">
            <a:solidFill>
              <a:srgbClr val="D4DAE2"/>
            </a:solidFill>
            <a:prstDash val="solid"/>
          </a:ln>
        </p:spPr>
      </p:sp>
      <p:sp>
        <p:nvSpPr>
          <p:cNvPr id="21" name="Text 18"/>
          <p:cNvSpPr/>
          <p:nvPr/>
        </p:nvSpPr>
        <p:spPr>
          <a:xfrm>
            <a:off x="5650992" y="1408176"/>
            <a:ext cx="219456" cy="219456"/>
          </a:xfrm>
          <a:prstGeom prst="rect">
            <a:avLst/>
          </a:prstGeom>
          <a:noFill/>
          <a:ln/>
        </p:spPr>
        <p:txBody>
          <a:bodyPr wrap="square" lIns="0" tIns="0" rIns="0" bIns="0" rtlCol="0" anchor="ctr"/>
          <a:lstStyle/>
          <a:p>
            <a:pPr indent="0" marL="0">
              <a:buNone/>
            </a:pPr>
            <a:r>
              <a:rPr lang="en-US" sz="1300" b="1" dirty="0">
                <a:solidFill>
                  <a:srgbClr val="1E7A4C"/>
                </a:solidFill>
                <a:latin typeface="Calibri" pitchFamily="34" charset="0"/>
                <a:ea typeface="Calibri" pitchFamily="34" charset="-122"/>
                <a:cs typeface="Calibri" pitchFamily="34" charset="-120"/>
              </a:rPr>
              <a:t>✓</a:t>
            </a:r>
            <a:endParaRPr lang="en-US" sz="1300" dirty="0"/>
          </a:p>
        </p:txBody>
      </p:sp>
      <p:sp>
        <p:nvSpPr>
          <p:cNvPr id="22" name="Text 19"/>
          <p:cNvSpPr/>
          <p:nvPr/>
        </p:nvSpPr>
        <p:spPr>
          <a:xfrm>
            <a:off x="5907024" y="1408176"/>
            <a:ext cx="1920240" cy="219456"/>
          </a:xfrm>
          <a:prstGeom prst="rect">
            <a:avLst/>
          </a:prstGeom>
          <a:noFill/>
          <a:ln/>
        </p:spPr>
        <p:txBody>
          <a:bodyPr wrap="square" lIns="0" tIns="0" rIns="0" bIns="0" rtlCol="0" anchor="ctr"/>
          <a:lstStyle/>
          <a:p>
            <a:pPr indent="0" marL="0">
              <a:buNone/>
            </a:pPr>
            <a:r>
              <a:rPr lang="en-US" sz="1100" b="1" dirty="0">
                <a:solidFill>
                  <a:srgbClr val="111111"/>
                </a:solidFill>
                <a:latin typeface="Calibri" pitchFamily="34" charset="0"/>
                <a:ea typeface="Calibri" pitchFamily="34" charset="-122"/>
                <a:cs typeface="Calibri" pitchFamily="34" charset="-120"/>
              </a:rPr>
              <a:t>Zero infrastructure</a:t>
            </a:r>
            <a:endParaRPr lang="en-US" sz="1100" dirty="0"/>
          </a:p>
        </p:txBody>
      </p:sp>
      <p:sp>
        <p:nvSpPr>
          <p:cNvPr id="23" name="Text 20"/>
          <p:cNvSpPr/>
          <p:nvPr/>
        </p:nvSpPr>
        <p:spPr>
          <a:xfrm>
            <a:off x="5650992" y="1682496"/>
            <a:ext cx="2212848" cy="603504"/>
          </a:xfrm>
          <a:prstGeom prst="rect">
            <a:avLst/>
          </a:prstGeom>
          <a:noFill/>
          <a:ln/>
        </p:spPr>
        <p:txBody>
          <a:bodyPr wrap="square" lIns="0" tIns="0" rIns="0" bIns="0" rtlCol="0" anchor="ctr"/>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No backend, no database, no server. Static hosting, or one offline file.</a:t>
            </a:r>
            <a:endParaRPr lang="en-US" sz="950" dirty="0"/>
          </a:p>
        </p:txBody>
      </p:sp>
      <p:sp>
        <p:nvSpPr>
          <p:cNvPr id="24" name="Shape 21"/>
          <p:cNvSpPr/>
          <p:nvPr/>
        </p:nvSpPr>
        <p:spPr>
          <a:xfrm>
            <a:off x="8129016" y="1298448"/>
            <a:ext cx="2450592" cy="1060704"/>
          </a:xfrm>
          <a:prstGeom prst="roundRect">
            <a:avLst>
              <a:gd name="adj" fmla="val 2586"/>
            </a:avLst>
          </a:prstGeom>
          <a:solidFill>
            <a:srgbClr val="FFFFFF"/>
          </a:solidFill>
          <a:ln w="9525">
            <a:solidFill>
              <a:srgbClr val="D4DAE2"/>
            </a:solidFill>
            <a:prstDash val="solid"/>
          </a:ln>
        </p:spPr>
      </p:sp>
      <p:sp>
        <p:nvSpPr>
          <p:cNvPr id="25" name="Text 22"/>
          <p:cNvSpPr/>
          <p:nvPr/>
        </p:nvSpPr>
        <p:spPr>
          <a:xfrm>
            <a:off x="8257032" y="1408176"/>
            <a:ext cx="219456" cy="219456"/>
          </a:xfrm>
          <a:prstGeom prst="rect">
            <a:avLst/>
          </a:prstGeom>
          <a:noFill/>
          <a:ln/>
        </p:spPr>
        <p:txBody>
          <a:bodyPr wrap="square" lIns="0" tIns="0" rIns="0" bIns="0" rtlCol="0" anchor="ctr"/>
          <a:lstStyle/>
          <a:p>
            <a:pPr indent="0" marL="0">
              <a:buNone/>
            </a:pPr>
            <a:r>
              <a:rPr lang="en-US" sz="1300" b="1" dirty="0">
                <a:solidFill>
                  <a:srgbClr val="1E7A4C"/>
                </a:solidFill>
                <a:latin typeface="Calibri" pitchFamily="34" charset="0"/>
                <a:ea typeface="Calibri" pitchFamily="34" charset="-122"/>
                <a:cs typeface="Calibri" pitchFamily="34" charset="-120"/>
              </a:rPr>
              <a:t>✓</a:t>
            </a:r>
            <a:endParaRPr lang="en-US" sz="1300" dirty="0"/>
          </a:p>
        </p:txBody>
      </p:sp>
      <p:sp>
        <p:nvSpPr>
          <p:cNvPr id="26" name="Text 23"/>
          <p:cNvSpPr/>
          <p:nvPr/>
        </p:nvSpPr>
        <p:spPr>
          <a:xfrm>
            <a:off x="8513064" y="1408176"/>
            <a:ext cx="1920240" cy="219456"/>
          </a:xfrm>
          <a:prstGeom prst="rect">
            <a:avLst/>
          </a:prstGeom>
          <a:noFill/>
          <a:ln/>
        </p:spPr>
        <p:txBody>
          <a:bodyPr wrap="square" lIns="0" tIns="0" rIns="0" bIns="0" rtlCol="0" anchor="ctr"/>
          <a:lstStyle/>
          <a:p>
            <a:pPr indent="0" marL="0">
              <a:buNone/>
            </a:pPr>
            <a:r>
              <a:rPr lang="en-US" sz="1100" b="1" dirty="0">
                <a:solidFill>
                  <a:srgbClr val="111111"/>
                </a:solidFill>
                <a:latin typeface="Calibri" pitchFamily="34" charset="0"/>
                <a:ea typeface="Calibri" pitchFamily="34" charset="-122"/>
                <a:cs typeface="Calibri" pitchFamily="34" charset="-120"/>
              </a:rPr>
              <a:t>Proven correct</a:t>
            </a:r>
            <a:endParaRPr lang="en-US" sz="1100" dirty="0"/>
          </a:p>
        </p:txBody>
      </p:sp>
      <p:sp>
        <p:nvSpPr>
          <p:cNvPr id="27" name="Text 24"/>
          <p:cNvSpPr/>
          <p:nvPr/>
        </p:nvSpPr>
        <p:spPr>
          <a:xfrm>
            <a:off x="8257032" y="1682496"/>
            <a:ext cx="2212848" cy="603504"/>
          </a:xfrm>
          <a:prstGeom prst="rect">
            <a:avLst/>
          </a:prstGeom>
          <a:noFill/>
          <a:ln/>
        </p:spPr>
        <p:txBody>
          <a:bodyPr wrap="square" lIns="0" tIns="0" rIns="0" bIns="0" rtlCol="0" anchor="ctr"/>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62 known-answer tests, including brute-force cross-check of the whole cascade.</a:t>
            </a:r>
            <a:endParaRPr lang="en-US" sz="950" dirty="0"/>
          </a:p>
        </p:txBody>
      </p:sp>
      <p:sp>
        <p:nvSpPr>
          <p:cNvPr id="28" name="Text 25"/>
          <p:cNvSpPr/>
          <p:nvPr/>
        </p:nvSpPr>
        <p:spPr>
          <a:xfrm>
            <a:off x="310896" y="2505456"/>
            <a:ext cx="292608" cy="292608"/>
          </a:xfrm>
          <a:prstGeom prst="rect">
            <a:avLst/>
          </a:prstGeom>
          <a:noFill/>
          <a:ln/>
        </p:spPr>
        <p:txBody>
          <a:bodyPr wrap="square" lIns="0" tIns="0" rIns="0" bIns="0" rtlCol="0" anchor="ctr"/>
          <a:lstStyle/>
          <a:p>
            <a:pPr indent="0" marL="0">
              <a:buNone/>
            </a:pPr>
            <a:r>
              <a:rPr lang="en-US" sz="1500" dirty="0">
                <a:solidFill>
                  <a:srgbClr val="1F497D"/>
                </a:solidFill>
                <a:latin typeface="Calibri" pitchFamily="34" charset="0"/>
                <a:ea typeface="Calibri" pitchFamily="34" charset="-122"/>
                <a:cs typeface="Calibri" pitchFamily="34" charset="-120"/>
              </a:rPr>
              <a:t>❖</a:t>
            </a:r>
            <a:endParaRPr lang="en-US" sz="1500" dirty="0"/>
          </a:p>
        </p:txBody>
      </p:sp>
      <p:sp>
        <p:nvSpPr>
          <p:cNvPr id="29" name="Text 26"/>
          <p:cNvSpPr/>
          <p:nvPr/>
        </p:nvSpPr>
        <p:spPr>
          <a:xfrm>
            <a:off x="621792" y="2505456"/>
            <a:ext cx="9692640" cy="292608"/>
          </a:xfrm>
          <a:prstGeom prst="rect">
            <a:avLst/>
          </a:prstGeom>
          <a:noFill/>
          <a:ln/>
        </p:spPr>
        <p:txBody>
          <a:bodyPr wrap="square" lIns="0" tIns="0" rIns="0" bIns="0" rtlCol="0" anchor="ctr"/>
          <a:lstStyle/>
          <a:p>
            <a:pPr indent="0" marL="0">
              <a:buNone/>
            </a:pPr>
            <a:r>
              <a:rPr lang="en-US" sz="1650" b="1" u="sng" dirty="0">
                <a:solidFill>
                  <a:srgbClr val="1F497D"/>
                </a:solidFill>
                <a:latin typeface="Calibri" pitchFamily="34" charset="0"/>
                <a:ea typeface="Calibri" pitchFamily="34" charset="-122"/>
                <a:cs typeface="Calibri" pitchFamily="34" charset="-120"/>
              </a:rPr>
              <a:t>Potential challenges and risks  ·  Strategies for overcoming these challenges</a:t>
            </a:r>
            <a:endParaRPr lang="en-US" sz="1650" dirty="0"/>
          </a:p>
        </p:txBody>
      </p:sp>
      <p:sp>
        <p:nvSpPr>
          <p:cNvPr id="30" name="Text 27"/>
          <p:cNvSpPr/>
          <p:nvPr/>
        </p:nvSpPr>
        <p:spPr>
          <a:xfrm>
            <a:off x="310896" y="2907792"/>
            <a:ext cx="2286000" cy="182880"/>
          </a:xfrm>
          <a:prstGeom prst="rect">
            <a:avLst/>
          </a:prstGeom>
          <a:noFill/>
          <a:ln/>
        </p:spPr>
        <p:txBody>
          <a:bodyPr wrap="square" lIns="0" tIns="0" rIns="0" bIns="0" rtlCol="0" anchor="ctr"/>
          <a:lstStyle/>
          <a:p>
            <a:pPr indent="0" marL="0">
              <a:buNone/>
            </a:pPr>
            <a:r>
              <a:rPr lang="en-US" sz="850" b="1" spc="90" kern="0" dirty="0">
                <a:solidFill>
                  <a:srgbClr val="1F497D"/>
                </a:solidFill>
                <a:latin typeface="Calibri" pitchFamily="34" charset="0"/>
                <a:ea typeface="Calibri" pitchFamily="34" charset="-122"/>
                <a:cs typeface="Calibri" pitchFamily="34" charset="-120"/>
              </a:rPr>
              <a:t>RISK</a:t>
            </a:r>
            <a:endParaRPr lang="en-US" sz="850" dirty="0"/>
          </a:p>
        </p:txBody>
      </p:sp>
      <p:sp>
        <p:nvSpPr>
          <p:cNvPr id="31" name="Text 28"/>
          <p:cNvSpPr/>
          <p:nvPr/>
        </p:nvSpPr>
        <p:spPr>
          <a:xfrm>
            <a:off x="2706624" y="2907792"/>
            <a:ext cx="3108960" cy="182880"/>
          </a:xfrm>
          <a:prstGeom prst="rect">
            <a:avLst/>
          </a:prstGeom>
          <a:noFill/>
          <a:ln/>
        </p:spPr>
        <p:txBody>
          <a:bodyPr wrap="square" lIns="0" tIns="0" rIns="0" bIns="0" rtlCol="0" anchor="ctr"/>
          <a:lstStyle/>
          <a:p>
            <a:pPr indent="0" marL="0">
              <a:buNone/>
            </a:pPr>
            <a:r>
              <a:rPr lang="en-US" sz="850" b="1" spc="90" kern="0" dirty="0">
                <a:solidFill>
                  <a:srgbClr val="1F497D"/>
                </a:solidFill>
                <a:latin typeface="Calibri" pitchFamily="34" charset="0"/>
                <a:ea typeface="Calibri" pitchFamily="34" charset="-122"/>
                <a:cs typeface="Calibri" pitchFamily="34" charset="-120"/>
              </a:rPr>
              <a:t>WHY IT MATTERS</a:t>
            </a:r>
            <a:endParaRPr lang="en-US" sz="850" dirty="0"/>
          </a:p>
        </p:txBody>
      </p:sp>
      <p:sp>
        <p:nvSpPr>
          <p:cNvPr id="32" name="Text 29"/>
          <p:cNvSpPr/>
          <p:nvPr/>
        </p:nvSpPr>
        <p:spPr>
          <a:xfrm>
            <a:off x="5925312" y="2907792"/>
            <a:ext cx="4700016" cy="182880"/>
          </a:xfrm>
          <a:prstGeom prst="rect">
            <a:avLst/>
          </a:prstGeom>
          <a:noFill/>
          <a:ln/>
        </p:spPr>
        <p:txBody>
          <a:bodyPr wrap="square" lIns="0" tIns="0" rIns="0" bIns="0" rtlCol="0" anchor="ctr"/>
          <a:lstStyle/>
          <a:p>
            <a:pPr indent="0" marL="0">
              <a:buNone/>
            </a:pPr>
            <a:r>
              <a:rPr lang="en-US" sz="850" b="1" spc="90" kern="0" dirty="0">
                <a:solidFill>
                  <a:srgbClr val="1F497D"/>
                </a:solidFill>
                <a:latin typeface="Calibri" pitchFamily="34" charset="0"/>
                <a:ea typeface="Calibri" pitchFamily="34" charset="-122"/>
                <a:cs typeface="Calibri" pitchFamily="34" charset="-120"/>
              </a:rPr>
              <a:t>MITIGATION — ALREADY IN THE PROTOTYPE</a:t>
            </a:r>
            <a:endParaRPr lang="en-US" sz="850" dirty="0"/>
          </a:p>
        </p:txBody>
      </p:sp>
      <p:sp>
        <p:nvSpPr>
          <p:cNvPr id="33" name="Shape 30"/>
          <p:cNvSpPr/>
          <p:nvPr/>
        </p:nvSpPr>
        <p:spPr>
          <a:xfrm>
            <a:off x="310896" y="3127248"/>
            <a:ext cx="10058400" cy="0"/>
          </a:xfrm>
          <a:prstGeom prst="line">
            <a:avLst/>
          </a:prstGeom>
          <a:noFill/>
          <a:ln w="12700">
            <a:solidFill>
              <a:srgbClr val="D4DAE2"/>
            </a:solidFill>
            <a:prstDash val="solid"/>
          </a:ln>
        </p:spPr>
      </p:sp>
      <p:sp>
        <p:nvSpPr>
          <p:cNvPr id="34" name="Text 31"/>
          <p:cNvSpPr/>
          <p:nvPr/>
        </p:nvSpPr>
        <p:spPr>
          <a:xfrm>
            <a:off x="310896" y="3236976"/>
            <a:ext cx="2286000" cy="731520"/>
          </a:xfrm>
          <a:prstGeom prst="rect">
            <a:avLst/>
          </a:prstGeom>
          <a:noFill/>
          <a:ln/>
        </p:spPr>
        <p:txBody>
          <a:bodyPr wrap="square" lIns="0" tIns="0" rIns="0" bIns="0" rtlCol="0" anchor="t"/>
          <a:lstStyle/>
          <a:p>
            <a:pPr indent="0" marL="0">
              <a:lnSpc>
                <a:spcPts val="1150"/>
              </a:lnSpc>
              <a:buNone/>
            </a:pPr>
            <a:r>
              <a:rPr lang="en-US" sz="950" b="1" dirty="0">
                <a:solidFill>
                  <a:srgbClr val="111111"/>
                </a:solidFill>
                <a:latin typeface="Calibri" pitchFamily="34" charset="0"/>
                <a:ea typeface="Calibri" pitchFamily="34" charset="-122"/>
                <a:cs typeface="Calibri" pitchFamily="34" charset="-120"/>
              </a:rPr>
              <a:t>TLEs carry no covariance</a:t>
            </a:r>
            <a:endParaRPr lang="en-US" sz="950" dirty="0"/>
          </a:p>
        </p:txBody>
      </p:sp>
      <p:sp>
        <p:nvSpPr>
          <p:cNvPr id="35" name="Text 32"/>
          <p:cNvSpPr/>
          <p:nvPr/>
        </p:nvSpPr>
        <p:spPr>
          <a:xfrm>
            <a:off x="2706624" y="3236976"/>
            <a:ext cx="3108960" cy="73152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The 1σ uncertainty behind collision probability has to be assumed, and the ranking rests on it.</a:t>
            </a:r>
            <a:endParaRPr lang="en-US" sz="950" dirty="0"/>
          </a:p>
        </p:txBody>
      </p:sp>
      <p:sp>
        <p:nvSpPr>
          <p:cNvPr id="36" name="Text 33"/>
          <p:cNvSpPr/>
          <p:nvPr/>
        </p:nvSpPr>
        <p:spPr>
          <a:xfrm>
            <a:off x="5925312" y="3236976"/>
            <a:ext cx="4700016" cy="73152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Disclosed at every point of use and exposed as a control you can sweep. Exported CDMs declare COVARIANCE_METHOD = DEFAULT. A measured path — successive TLE differencing — is implemented and recovers a known perturbation to 1.00×.</a:t>
            </a:r>
            <a:endParaRPr lang="en-US" sz="950" dirty="0"/>
          </a:p>
        </p:txBody>
      </p:sp>
      <p:sp>
        <p:nvSpPr>
          <p:cNvPr id="37" name="Shape 34"/>
          <p:cNvSpPr/>
          <p:nvPr/>
        </p:nvSpPr>
        <p:spPr>
          <a:xfrm>
            <a:off x="310896" y="3968496"/>
            <a:ext cx="10058400" cy="0"/>
          </a:xfrm>
          <a:prstGeom prst="line">
            <a:avLst/>
          </a:prstGeom>
          <a:noFill/>
          <a:ln w="9525">
            <a:solidFill>
              <a:srgbClr val="EAEEF3"/>
            </a:solidFill>
            <a:prstDash val="solid"/>
          </a:ln>
        </p:spPr>
      </p:sp>
      <p:sp>
        <p:nvSpPr>
          <p:cNvPr id="38" name="Text 35"/>
          <p:cNvSpPr/>
          <p:nvPr/>
        </p:nvSpPr>
        <p:spPr>
          <a:xfrm>
            <a:off x="310896" y="4023360"/>
            <a:ext cx="2286000" cy="731520"/>
          </a:xfrm>
          <a:prstGeom prst="rect">
            <a:avLst/>
          </a:prstGeom>
          <a:noFill/>
          <a:ln/>
        </p:spPr>
        <p:txBody>
          <a:bodyPr wrap="square" lIns="0" tIns="0" rIns="0" bIns="0" rtlCol="0" anchor="t"/>
          <a:lstStyle/>
          <a:p>
            <a:pPr indent="0" marL="0">
              <a:lnSpc>
                <a:spcPts val="1150"/>
              </a:lnSpc>
              <a:buNone/>
            </a:pPr>
            <a:r>
              <a:rPr lang="en-US" sz="950" b="1" dirty="0">
                <a:solidFill>
                  <a:srgbClr val="111111"/>
                </a:solidFill>
                <a:latin typeface="Calibri" pitchFamily="34" charset="0"/>
                <a:ea typeface="Calibri" pitchFamily="34" charset="-122"/>
                <a:cs typeface="Calibri" pitchFamily="34" charset="-120"/>
              </a:rPr>
              <a:t>Screening a full 30,000-object catalogue</a:t>
            </a:r>
            <a:endParaRPr lang="en-US" sz="950" dirty="0"/>
          </a:p>
        </p:txBody>
      </p:sp>
      <p:sp>
        <p:nvSpPr>
          <p:cNvPr id="39" name="Text 36"/>
          <p:cNvSpPr/>
          <p:nvPr/>
        </p:nvSpPr>
        <p:spPr>
          <a:xfrm>
            <a:off x="2706624" y="4023360"/>
            <a:ext cx="3108960" cy="73152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All-pairs cost grows quadratically; a naive screen would not finish.</a:t>
            </a:r>
            <a:endParaRPr lang="en-US" sz="950" dirty="0"/>
          </a:p>
        </p:txBody>
      </p:sp>
      <p:sp>
        <p:nvSpPr>
          <p:cNvPr id="40" name="Text 37"/>
          <p:cNvSpPr/>
          <p:nvPr/>
        </p:nvSpPr>
        <p:spPr>
          <a:xfrm>
            <a:off x="5925312" y="4023360"/>
            <a:ext cx="4700016" cy="73152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Cascade measured at exponent ≈1.73 — 1.70–1.74 across runs, since it is fitted to elapsed times — so sub-quadratic. Next step is spatial binning per time step instead of a pair loop.</a:t>
            </a:r>
            <a:endParaRPr lang="en-US" sz="950" dirty="0"/>
          </a:p>
        </p:txBody>
      </p:sp>
      <p:sp>
        <p:nvSpPr>
          <p:cNvPr id="41" name="Shape 38"/>
          <p:cNvSpPr/>
          <p:nvPr/>
        </p:nvSpPr>
        <p:spPr>
          <a:xfrm>
            <a:off x="310896" y="4754880"/>
            <a:ext cx="10058400" cy="0"/>
          </a:xfrm>
          <a:prstGeom prst="line">
            <a:avLst/>
          </a:prstGeom>
          <a:noFill/>
          <a:ln w="9525">
            <a:solidFill>
              <a:srgbClr val="EAEEF3"/>
            </a:solidFill>
            <a:prstDash val="solid"/>
          </a:ln>
        </p:spPr>
      </p:sp>
      <p:sp>
        <p:nvSpPr>
          <p:cNvPr id="42" name="Text 39"/>
          <p:cNvSpPr/>
          <p:nvPr/>
        </p:nvSpPr>
        <p:spPr>
          <a:xfrm>
            <a:off x="310896" y="4809744"/>
            <a:ext cx="2286000" cy="731520"/>
          </a:xfrm>
          <a:prstGeom prst="rect">
            <a:avLst/>
          </a:prstGeom>
          <a:noFill/>
          <a:ln/>
        </p:spPr>
        <p:txBody>
          <a:bodyPr wrap="square" lIns="0" tIns="0" rIns="0" bIns="0" rtlCol="0" anchor="t"/>
          <a:lstStyle/>
          <a:p>
            <a:pPr indent="0" marL="0">
              <a:lnSpc>
                <a:spcPts val="1150"/>
              </a:lnSpc>
              <a:buNone/>
            </a:pPr>
            <a:r>
              <a:rPr lang="en-US" sz="950" b="1" dirty="0">
                <a:solidFill>
                  <a:srgbClr val="111111"/>
                </a:solidFill>
                <a:latin typeface="Calibri" pitchFamily="34" charset="0"/>
                <a:ea typeface="Calibri" pitchFamily="34" charset="-122"/>
                <a:cs typeface="Calibri" pitchFamily="34" charset="-120"/>
              </a:rPr>
              <a:t>SGP4 drifts away from its epoch</a:t>
            </a:r>
            <a:endParaRPr lang="en-US" sz="950" dirty="0"/>
          </a:p>
        </p:txBody>
      </p:sp>
      <p:sp>
        <p:nvSpPr>
          <p:cNvPr id="43" name="Text 40"/>
          <p:cNvSpPr/>
          <p:nvPr/>
        </p:nvSpPr>
        <p:spPr>
          <a:xfrm>
            <a:off x="2706624" y="4809744"/>
            <a:ext cx="3108960" cy="73152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Element sets are only trustworthy near the time they were fitted.</a:t>
            </a:r>
            <a:endParaRPr lang="en-US" sz="950" dirty="0"/>
          </a:p>
        </p:txBody>
      </p:sp>
      <p:sp>
        <p:nvSpPr>
          <p:cNvPr id="44" name="Text 41"/>
          <p:cNvSpPr/>
          <p:nvPr/>
        </p:nvSpPr>
        <p:spPr>
          <a:xfrm>
            <a:off x="5925312" y="4809744"/>
            <a:ext cx="4700016" cy="73152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Element-set age is shown per object, feeds the uncertainty model, and the console clock is anchored to the snapshot instant rather than the wall clock.</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19456" y="146304"/>
            <a:ext cx="1060704" cy="566928"/>
          </a:xfrm>
          <a:prstGeom prst="ellipse">
            <a:avLst/>
          </a:prstGeom>
          <a:solidFill>
            <a:srgbClr val="FFFFFF"/>
          </a:solidFill>
          <a:ln w="12700">
            <a:solidFill>
              <a:srgbClr val="B4A3C8"/>
            </a:solidFill>
            <a:prstDash val="solid"/>
          </a:ln>
        </p:spPr>
      </p:sp>
      <p:sp>
        <p:nvSpPr>
          <p:cNvPr id="3" name="Text 1"/>
          <p:cNvSpPr/>
          <p:nvPr/>
        </p:nvSpPr>
        <p:spPr>
          <a:xfrm>
            <a:off x="219456" y="146304"/>
            <a:ext cx="1060704" cy="566928"/>
          </a:xfrm>
          <a:prstGeom prst="rect">
            <a:avLst/>
          </a:prstGeom>
          <a:noFill/>
          <a:ln/>
        </p:spPr>
        <p:txBody>
          <a:bodyPr wrap="square" lIns="0" tIns="0" rIns="0" bIns="0" rtlCol="0" anchor="ctr"/>
          <a:lstStyle/>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Team</a:t>
            </a:r>
            <a:endParaRPr lang="en-US" sz="1050" dirty="0"/>
          </a:p>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Name</a:t>
            </a:r>
            <a:endParaRPr lang="en-US" sz="1050" dirty="0"/>
          </a:p>
        </p:txBody>
      </p:sp>
      <p:sp>
        <p:nvSpPr>
          <p:cNvPr id="4" name="Text 2"/>
          <p:cNvSpPr/>
          <p:nvPr/>
        </p:nvSpPr>
        <p:spPr>
          <a:xfrm>
            <a:off x="1389888" y="146304"/>
            <a:ext cx="7059168" cy="585216"/>
          </a:xfrm>
          <a:prstGeom prst="rect">
            <a:avLst/>
          </a:prstGeom>
          <a:noFill/>
          <a:ln/>
        </p:spPr>
        <p:txBody>
          <a:bodyPr wrap="square" lIns="0" tIns="0" rIns="0" bIns="0" rtlCol="0" anchor="ctr"/>
          <a:lstStyle/>
          <a:p>
            <a:pPr algn="ctr" indent="0" marL="0">
              <a:buNone/>
            </a:pPr>
            <a:r>
              <a:rPr lang="en-US" sz="2700" b="1" dirty="0">
                <a:solidFill>
                  <a:srgbClr val="111111"/>
                </a:solidFill>
                <a:latin typeface="Calibri" pitchFamily="34" charset="0"/>
                <a:ea typeface="Calibri" pitchFamily="34" charset="-122"/>
                <a:cs typeface="Calibri" pitchFamily="34" charset="-120"/>
              </a:rPr>
              <a:t>IMPACT AND BENEFITS</a:t>
            </a:r>
            <a:endParaRPr lang="en-US" sz="2700" dirty="0"/>
          </a:p>
        </p:txBody>
      </p:sp>
      <p:pic>
        <p:nvPicPr>
          <p:cNvPr id="5" name="Image 0" descr="preencoded.png">    </p:cNvPr>
          <p:cNvPicPr>
            <a:picLocks noChangeAspect="1"/>
          </p:cNvPicPr>
          <p:nvPr/>
        </p:nvPicPr>
        <p:blipFill>
          <a:blip r:embed="rId1"/>
          <a:stretch>
            <a:fillRect/>
          </a:stretch>
        </p:blipFill>
        <p:spPr>
          <a:xfrm>
            <a:off x="8796528" y="137160"/>
            <a:ext cx="517434" cy="566928"/>
          </a:xfrm>
          <a:prstGeom prst="rect">
            <a:avLst/>
          </a:prstGeom>
        </p:spPr>
      </p:pic>
      <p:sp>
        <p:nvSpPr>
          <p:cNvPr id="6" name="Text 3"/>
          <p:cNvSpPr/>
          <p:nvPr/>
        </p:nvSpPr>
        <p:spPr>
          <a:xfrm>
            <a:off x="9400032" y="146304"/>
            <a:ext cx="1115568" cy="548640"/>
          </a:xfrm>
          <a:prstGeom prst="rect">
            <a:avLst/>
          </a:prstGeom>
          <a:noFill/>
          <a:ln/>
        </p:spPr>
        <p:txBody>
          <a:bodyPr wrap="square" lIns="0" tIns="0" rIns="0" bIns="0" rtlCol="0" anchor="ctr"/>
          <a:lstStyle/>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SMART INDIA</a:t>
            </a:r>
            <a:endParaRPr lang="en-US" sz="950" dirty="0"/>
          </a:p>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HACKATHON 2026</a:t>
            </a:r>
            <a:endParaRPr lang="en-US" sz="950" dirty="0"/>
          </a:p>
        </p:txBody>
      </p:sp>
      <p:sp>
        <p:nvSpPr>
          <p:cNvPr id="7" name="Shape 4"/>
          <p:cNvSpPr/>
          <p:nvPr/>
        </p:nvSpPr>
        <p:spPr>
          <a:xfrm>
            <a:off x="0" y="5708599"/>
            <a:ext cx="10692994" cy="310896"/>
          </a:xfrm>
          <a:prstGeom prst="rect">
            <a:avLst/>
          </a:prstGeom>
          <a:solidFill>
            <a:srgbClr val="0070C0"/>
          </a:solidFill>
          <a:ln/>
        </p:spPr>
      </p:sp>
      <p:sp>
        <p:nvSpPr>
          <p:cNvPr id="8" name="Text 5"/>
          <p:cNvSpPr/>
          <p:nvPr/>
        </p:nvSpPr>
        <p:spPr>
          <a:xfrm>
            <a:off x="3200400" y="5708599"/>
            <a:ext cx="429768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@SIH Idea submission- Template</a:t>
            </a:r>
            <a:endParaRPr lang="en-US" sz="1050" dirty="0"/>
          </a:p>
        </p:txBody>
      </p:sp>
      <p:sp>
        <p:nvSpPr>
          <p:cNvPr id="9" name="Text 6"/>
          <p:cNvSpPr/>
          <p:nvPr/>
        </p:nvSpPr>
        <p:spPr>
          <a:xfrm>
            <a:off x="9915754" y="5708599"/>
            <a:ext cx="457200"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0" name="Text 7"/>
          <p:cNvSpPr/>
          <p:nvPr/>
        </p:nvSpPr>
        <p:spPr>
          <a:xfrm>
            <a:off x="310896" y="896112"/>
            <a:ext cx="292608" cy="292608"/>
          </a:xfrm>
          <a:prstGeom prst="rect">
            <a:avLst/>
          </a:prstGeom>
          <a:noFill/>
          <a:ln/>
        </p:spPr>
        <p:txBody>
          <a:bodyPr wrap="square" lIns="0" tIns="0" rIns="0" bIns="0" rtlCol="0" anchor="ctr"/>
          <a:lstStyle/>
          <a:p>
            <a:pPr indent="0" marL="0">
              <a:buNone/>
            </a:pPr>
            <a:r>
              <a:rPr lang="en-US" sz="1500" dirty="0">
                <a:solidFill>
                  <a:srgbClr val="1F497D"/>
                </a:solidFill>
                <a:latin typeface="Calibri" pitchFamily="34" charset="0"/>
                <a:ea typeface="Calibri" pitchFamily="34" charset="-122"/>
                <a:cs typeface="Calibri" pitchFamily="34" charset="-120"/>
              </a:rPr>
              <a:t>❖</a:t>
            </a:r>
            <a:endParaRPr lang="en-US" sz="1500" dirty="0"/>
          </a:p>
        </p:txBody>
      </p:sp>
      <p:sp>
        <p:nvSpPr>
          <p:cNvPr id="11" name="Text 8"/>
          <p:cNvSpPr/>
          <p:nvPr/>
        </p:nvSpPr>
        <p:spPr>
          <a:xfrm>
            <a:off x="621792" y="896112"/>
            <a:ext cx="9692640" cy="292608"/>
          </a:xfrm>
          <a:prstGeom prst="rect">
            <a:avLst/>
          </a:prstGeom>
          <a:noFill/>
          <a:ln/>
        </p:spPr>
        <p:txBody>
          <a:bodyPr wrap="square" lIns="0" tIns="0" rIns="0" bIns="0" rtlCol="0" anchor="ctr"/>
          <a:lstStyle/>
          <a:p>
            <a:pPr indent="0" marL="0">
              <a:buNone/>
            </a:pPr>
            <a:r>
              <a:rPr lang="en-US" sz="1650" b="1" u="sng" dirty="0">
                <a:solidFill>
                  <a:srgbClr val="1F497D"/>
                </a:solidFill>
                <a:latin typeface="Calibri" pitchFamily="34" charset="0"/>
                <a:ea typeface="Calibri" pitchFamily="34" charset="-122"/>
                <a:cs typeface="Calibri" pitchFamily="34" charset="-120"/>
              </a:rPr>
              <a:t>Potential impact on the target audience</a:t>
            </a:r>
            <a:endParaRPr lang="en-US" sz="1650" dirty="0"/>
          </a:p>
        </p:txBody>
      </p:sp>
      <p:sp>
        <p:nvSpPr>
          <p:cNvPr id="12" name="Shape 9"/>
          <p:cNvSpPr/>
          <p:nvPr/>
        </p:nvSpPr>
        <p:spPr>
          <a:xfrm>
            <a:off x="310896" y="1298448"/>
            <a:ext cx="10058400" cy="1097280"/>
          </a:xfrm>
          <a:prstGeom prst="roundRect">
            <a:avLst>
              <a:gd name="adj" fmla="val 2500"/>
            </a:avLst>
          </a:prstGeom>
          <a:solidFill>
            <a:srgbClr val="FFFFFF"/>
          </a:solidFill>
          <a:ln w="9525">
            <a:solidFill>
              <a:srgbClr val="D4DAE2"/>
            </a:solidFill>
            <a:prstDash val="solid"/>
          </a:ln>
        </p:spPr>
      </p:sp>
      <p:sp>
        <p:nvSpPr>
          <p:cNvPr id="13" name="Text 10"/>
          <p:cNvSpPr/>
          <p:nvPr/>
        </p:nvSpPr>
        <p:spPr>
          <a:xfrm>
            <a:off x="457200" y="1426464"/>
            <a:ext cx="566928" cy="219456"/>
          </a:xfrm>
          <a:prstGeom prst="rect">
            <a:avLst/>
          </a:prstGeom>
          <a:solidFill>
            <a:srgbClr val="B25E00"/>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HIGH</a:t>
            </a:r>
            <a:endParaRPr lang="en-US" sz="950" dirty="0"/>
          </a:p>
        </p:txBody>
      </p:sp>
      <p:sp>
        <p:nvSpPr>
          <p:cNvPr id="14" name="Text 11"/>
          <p:cNvSpPr/>
          <p:nvPr/>
        </p:nvSpPr>
        <p:spPr>
          <a:xfrm>
            <a:off x="1133856" y="1389888"/>
            <a:ext cx="4297680" cy="292608"/>
          </a:xfrm>
          <a:prstGeom prst="rect">
            <a:avLst/>
          </a:prstGeom>
          <a:noFill/>
          <a:ln/>
        </p:spPr>
        <p:txBody>
          <a:bodyPr wrap="square" lIns="0" tIns="0" rIns="0" bIns="0" rtlCol="0" anchor="ctr"/>
          <a:lstStyle/>
          <a:p>
            <a:pPr indent="0" marL="0">
              <a:buNone/>
            </a:pPr>
            <a:r>
              <a:rPr lang="en-US" sz="1550" b="1" dirty="0">
                <a:solidFill>
                  <a:srgbClr val="111111"/>
                </a:solidFill>
                <a:latin typeface="Calibri" pitchFamily="34" charset="0"/>
                <a:ea typeface="Calibri" pitchFamily="34" charset="-122"/>
                <a:cs typeface="Calibri" pitchFamily="34" charset="-120"/>
              </a:rPr>
              <a:t>CARTOSAT-2C  ×  COSMOS 2251 DEB</a:t>
            </a:r>
            <a:endParaRPr lang="en-US" sz="1550" dirty="0"/>
          </a:p>
        </p:txBody>
      </p:sp>
      <p:sp>
        <p:nvSpPr>
          <p:cNvPr id="15" name="Text 12"/>
          <p:cNvSpPr/>
          <p:nvPr/>
        </p:nvSpPr>
        <p:spPr>
          <a:xfrm>
            <a:off x="1133856" y="1737360"/>
            <a:ext cx="4572000" cy="512064"/>
          </a:xfrm>
          <a:prstGeom prst="rect">
            <a:avLst/>
          </a:prstGeom>
          <a:noFill/>
          <a:ln/>
        </p:spPr>
        <p:txBody>
          <a:bodyPr wrap="square" lIns="0" tIns="0" rIns="0" bIns="0" rtlCol="0" anchor="ctr"/>
          <a:lstStyle/>
          <a:p>
            <a:pPr indent="0" marL="0">
              <a:lnSpc>
                <a:spcPts val="1200"/>
              </a:lnSpc>
              <a:buNone/>
            </a:pPr>
            <a:r>
              <a:rPr lang="en-US" sz="1000" dirty="0">
                <a:solidFill>
                  <a:srgbClr val="333333"/>
                </a:solidFill>
                <a:latin typeface="Calibri" pitchFamily="34" charset="0"/>
                <a:ea typeface="Calibri" pitchFamily="34" charset="-122"/>
                <a:cs typeface="Calibri" pitchFamily="34" charset="-120"/>
              </a:rPr>
              <a:t>An ISRO earth-observation satellite against a fragment of the 2009 Iridium 33 / Cosmos 2251 collision — found by our engine in a 72-hour screening run.</a:t>
            </a:r>
            <a:endParaRPr lang="en-US" sz="1000" dirty="0"/>
          </a:p>
        </p:txBody>
      </p:sp>
      <p:sp>
        <p:nvSpPr>
          <p:cNvPr id="16" name="Text 13"/>
          <p:cNvSpPr/>
          <p:nvPr/>
        </p:nvSpPr>
        <p:spPr>
          <a:xfrm>
            <a:off x="5888736" y="1426464"/>
            <a:ext cx="1097280" cy="292608"/>
          </a:xfrm>
          <a:prstGeom prst="rect">
            <a:avLst/>
          </a:prstGeom>
          <a:noFill/>
          <a:ln/>
        </p:spPr>
        <p:txBody>
          <a:bodyPr wrap="square" lIns="0" tIns="0" rIns="0" bIns="0" rtlCol="0" anchor="ctr"/>
          <a:lstStyle/>
          <a:p>
            <a:pPr indent="0" marL="0">
              <a:buNone/>
            </a:pPr>
            <a:r>
              <a:rPr lang="en-US" sz="1400" b="1" dirty="0">
                <a:solidFill>
                  <a:srgbClr val="1F497D"/>
                </a:solidFill>
                <a:latin typeface="Arial" pitchFamily="34" charset="0"/>
                <a:ea typeface="Arial" pitchFamily="34" charset="-122"/>
                <a:cs typeface="Arial" pitchFamily="34" charset="-120"/>
              </a:rPr>
              <a:t>1.911 km</a:t>
            </a:r>
            <a:endParaRPr lang="en-US" sz="1400" dirty="0"/>
          </a:p>
        </p:txBody>
      </p:sp>
      <p:sp>
        <p:nvSpPr>
          <p:cNvPr id="17" name="Text 14"/>
          <p:cNvSpPr/>
          <p:nvPr/>
        </p:nvSpPr>
        <p:spPr>
          <a:xfrm>
            <a:off x="5888736" y="1737360"/>
            <a:ext cx="1097280" cy="384048"/>
          </a:xfrm>
          <a:prstGeom prst="rect">
            <a:avLst/>
          </a:prstGeom>
          <a:noFill/>
          <a:ln/>
        </p:spPr>
        <p:txBody>
          <a:bodyPr wrap="square" lIns="0" tIns="0" rIns="0" bIns="0" rtlCol="0" anchor="ctr"/>
          <a:lstStyle/>
          <a:p>
            <a:pPr indent="0" marL="0">
              <a:lnSpc>
                <a:spcPts val="1050"/>
              </a:lnSpc>
              <a:buNone/>
            </a:pPr>
            <a:r>
              <a:rPr lang="en-US" sz="900" dirty="0">
                <a:solidFill>
                  <a:srgbClr val="5A6673"/>
                </a:solidFill>
                <a:latin typeface="Calibri" pitchFamily="34" charset="0"/>
                <a:ea typeface="Calibri" pitchFamily="34" charset="-122"/>
                <a:cs typeface="Calibri" pitchFamily="34" charset="-120"/>
              </a:rPr>
              <a:t>Miss distance</a:t>
            </a:r>
            <a:endParaRPr lang="en-US" sz="900" dirty="0"/>
          </a:p>
        </p:txBody>
      </p:sp>
      <p:sp>
        <p:nvSpPr>
          <p:cNvPr id="18" name="Text 15"/>
          <p:cNvSpPr/>
          <p:nvPr/>
        </p:nvSpPr>
        <p:spPr>
          <a:xfrm>
            <a:off x="7022592" y="1426464"/>
            <a:ext cx="1097280" cy="292608"/>
          </a:xfrm>
          <a:prstGeom prst="rect">
            <a:avLst/>
          </a:prstGeom>
          <a:noFill/>
          <a:ln/>
        </p:spPr>
        <p:txBody>
          <a:bodyPr wrap="square" lIns="0" tIns="0" rIns="0" bIns="0" rtlCol="0" anchor="ctr"/>
          <a:lstStyle/>
          <a:p>
            <a:pPr indent="0" marL="0">
              <a:buNone/>
            </a:pPr>
            <a:r>
              <a:rPr lang="en-US" sz="1400" b="1" dirty="0">
                <a:solidFill>
                  <a:srgbClr val="1F497D"/>
                </a:solidFill>
                <a:latin typeface="Arial" pitchFamily="34" charset="0"/>
                <a:ea typeface="Arial" pitchFamily="34" charset="-122"/>
                <a:cs typeface="Arial" pitchFamily="34" charset="-120"/>
              </a:rPr>
              <a:t>4.834 km/s</a:t>
            </a:r>
            <a:endParaRPr lang="en-US" sz="1400" dirty="0"/>
          </a:p>
        </p:txBody>
      </p:sp>
      <p:sp>
        <p:nvSpPr>
          <p:cNvPr id="19" name="Text 16"/>
          <p:cNvSpPr/>
          <p:nvPr/>
        </p:nvSpPr>
        <p:spPr>
          <a:xfrm>
            <a:off x="7022592" y="1737360"/>
            <a:ext cx="1097280" cy="384048"/>
          </a:xfrm>
          <a:prstGeom prst="rect">
            <a:avLst/>
          </a:prstGeom>
          <a:noFill/>
          <a:ln/>
        </p:spPr>
        <p:txBody>
          <a:bodyPr wrap="square" lIns="0" tIns="0" rIns="0" bIns="0" rtlCol="0" anchor="ctr"/>
          <a:lstStyle/>
          <a:p>
            <a:pPr indent="0" marL="0">
              <a:lnSpc>
                <a:spcPts val="1050"/>
              </a:lnSpc>
              <a:buNone/>
            </a:pPr>
            <a:r>
              <a:rPr lang="en-US" sz="900" dirty="0">
                <a:solidFill>
                  <a:srgbClr val="5A6673"/>
                </a:solidFill>
                <a:latin typeface="Calibri" pitchFamily="34" charset="0"/>
                <a:ea typeface="Calibri" pitchFamily="34" charset="-122"/>
                <a:cs typeface="Calibri" pitchFamily="34" charset="-120"/>
              </a:rPr>
              <a:t>Closing speed</a:t>
            </a:r>
            <a:endParaRPr lang="en-US" sz="900" dirty="0"/>
          </a:p>
        </p:txBody>
      </p:sp>
      <p:sp>
        <p:nvSpPr>
          <p:cNvPr id="20" name="Text 17"/>
          <p:cNvSpPr/>
          <p:nvPr/>
        </p:nvSpPr>
        <p:spPr>
          <a:xfrm>
            <a:off x="8156448" y="1426464"/>
            <a:ext cx="1097280" cy="292608"/>
          </a:xfrm>
          <a:prstGeom prst="rect">
            <a:avLst/>
          </a:prstGeom>
          <a:noFill/>
          <a:ln/>
        </p:spPr>
        <p:txBody>
          <a:bodyPr wrap="square" lIns="0" tIns="0" rIns="0" bIns="0" rtlCol="0" anchor="ctr"/>
          <a:lstStyle/>
          <a:p>
            <a:pPr indent="0" marL="0">
              <a:buNone/>
            </a:pPr>
            <a:r>
              <a:rPr lang="en-US" sz="1400" b="1" dirty="0">
                <a:solidFill>
                  <a:srgbClr val="B25E00"/>
                </a:solidFill>
                <a:latin typeface="Arial" pitchFamily="34" charset="0"/>
                <a:ea typeface="Arial" pitchFamily="34" charset="-122"/>
                <a:cs typeface="Arial" pitchFamily="34" charset="-120"/>
              </a:rPr>
              <a:t>4.9×10⁻⁴</a:t>
            </a:r>
            <a:endParaRPr lang="en-US" sz="1400" dirty="0"/>
          </a:p>
        </p:txBody>
      </p:sp>
      <p:sp>
        <p:nvSpPr>
          <p:cNvPr id="21" name="Text 18"/>
          <p:cNvSpPr/>
          <p:nvPr/>
        </p:nvSpPr>
        <p:spPr>
          <a:xfrm>
            <a:off x="8156448" y="1737360"/>
            <a:ext cx="1097280" cy="384048"/>
          </a:xfrm>
          <a:prstGeom prst="rect">
            <a:avLst/>
          </a:prstGeom>
          <a:noFill/>
          <a:ln/>
        </p:spPr>
        <p:txBody>
          <a:bodyPr wrap="square" lIns="0" tIns="0" rIns="0" bIns="0" rtlCol="0" anchor="ctr"/>
          <a:lstStyle/>
          <a:p>
            <a:pPr indent="0" marL="0">
              <a:lnSpc>
                <a:spcPts val="1050"/>
              </a:lnSpc>
              <a:buNone/>
            </a:pPr>
            <a:r>
              <a:rPr lang="en-US" sz="900" dirty="0">
                <a:solidFill>
                  <a:srgbClr val="5A6673"/>
                </a:solidFill>
                <a:latin typeface="Calibri" pitchFamily="34" charset="0"/>
                <a:ea typeface="Calibri" pitchFamily="34" charset="-122"/>
                <a:cs typeface="Calibri" pitchFamily="34" charset="-120"/>
              </a:rPr>
              <a:t>Collision probability</a:t>
            </a:r>
            <a:endParaRPr lang="en-US" sz="900" dirty="0"/>
          </a:p>
        </p:txBody>
      </p:sp>
      <p:sp>
        <p:nvSpPr>
          <p:cNvPr id="22" name="Text 19"/>
          <p:cNvSpPr/>
          <p:nvPr/>
        </p:nvSpPr>
        <p:spPr>
          <a:xfrm>
            <a:off x="9290304" y="1426464"/>
            <a:ext cx="1097280" cy="292608"/>
          </a:xfrm>
          <a:prstGeom prst="rect">
            <a:avLst/>
          </a:prstGeom>
          <a:noFill/>
          <a:ln/>
        </p:spPr>
        <p:txBody>
          <a:bodyPr wrap="square" lIns="0" tIns="0" rIns="0" bIns="0" rtlCol="0" anchor="ctr"/>
          <a:lstStyle/>
          <a:p>
            <a:pPr indent="0" marL="0">
              <a:buNone/>
            </a:pPr>
            <a:r>
              <a:rPr lang="en-US" sz="1400" b="1" dirty="0">
                <a:solidFill>
                  <a:srgbClr val="1E7A4C"/>
                </a:solidFill>
                <a:latin typeface="Arial" pitchFamily="34" charset="0"/>
                <a:ea typeface="Arial" pitchFamily="34" charset="-122"/>
                <a:cs typeface="Arial" pitchFamily="34" charset="-120"/>
              </a:rPr>
              <a:t>3.16 km</a:t>
            </a:r>
            <a:endParaRPr lang="en-US" sz="1400" dirty="0"/>
          </a:p>
        </p:txBody>
      </p:sp>
      <p:sp>
        <p:nvSpPr>
          <p:cNvPr id="23" name="Text 20"/>
          <p:cNvSpPr/>
          <p:nvPr/>
        </p:nvSpPr>
        <p:spPr>
          <a:xfrm>
            <a:off x="9290304" y="1737360"/>
            <a:ext cx="1097280" cy="384048"/>
          </a:xfrm>
          <a:prstGeom prst="rect">
            <a:avLst/>
          </a:prstGeom>
          <a:noFill/>
          <a:ln/>
        </p:spPr>
        <p:txBody>
          <a:bodyPr wrap="square" lIns="0" tIns="0" rIns="0" bIns="0" rtlCol="0" anchor="ctr"/>
          <a:lstStyle/>
          <a:p>
            <a:pPr indent="0" marL="0">
              <a:lnSpc>
                <a:spcPts val="1050"/>
              </a:lnSpc>
              <a:buNone/>
            </a:pPr>
            <a:r>
              <a:rPr lang="en-US" sz="900" dirty="0">
                <a:solidFill>
                  <a:srgbClr val="5A6673"/>
                </a:solidFill>
                <a:latin typeface="Calibri" pitchFamily="34" charset="0"/>
                <a:ea typeface="Calibri" pitchFamily="34" charset="-122"/>
                <a:cs typeface="Calibri" pitchFamily="34" charset="-120"/>
              </a:rPr>
              <a:t>Would drop it a band</a:t>
            </a:r>
            <a:endParaRPr lang="en-US" sz="900" dirty="0"/>
          </a:p>
        </p:txBody>
      </p:sp>
      <p:sp>
        <p:nvSpPr>
          <p:cNvPr id="24" name="Shape 21"/>
          <p:cNvSpPr/>
          <p:nvPr/>
        </p:nvSpPr>
        <p:spPr>
          <a:xfrm>
            <a:off x="310896" y="2523744"/>
            <a:ext cx="3255264" cy="969264"/>
          </a:xfrm>
          <a:prstGeom prst="roundRect">
            <a:avLst>
              <a:gd name="adj" fmla="val 2830"/>
            </a:avLst>
          </a:prstGeom>
          <a:solidFill>
            <a:srgbClr val="F2F6FA"/>
          </a:solidFill>
          <a:ln w="9525">
            <a:solidFill>
              <a:srgbClr val="D4DAE2"/>
            </a:solidFill>
            <a:prstDash val="solid"/>
          </a:ln>
        </p:spPr>
      </p:sp>
      <p:sp>
        <p:nvSpPr>
          <p:cNvPr id="25" name="Text 22"/>
          <p:cNvSpPr/>
          <p:nvPr/>
        </p:nvSpPr>
        <p:spPr>
          <a:xfrm>
            <a:off x="457200" y="2633472"/>
            <a:ext cx="2962656" cy="237744"/>
          </a:xfrm>
          <a:prstGeom prst="rect">
            <a:avLst/>
          </a:prstGeom>
          <a:noFill/>
          <a:ln/>
        </p:spPr>
        <p:txBody>
          <a:bodyPr wrap="square" lIns="0" tIns="0" rIns="0" bIns="0" rtlCol="0" anchor="ctr"/>
          <a:lstStyle/>
          <a:p>
            <a:pPr indent="0" marL="0">
              <a:buNone/>
            </a:pPr>
            <a:r>
              <a:rPr lang="en-US" sz="1100" b="1" dirty="0">
                <a:solidFill>
                  <a:srgbClr val="1F497D"/>
                </a:solidFill>
                <a:latin typeface="Calibri" pitchFamily="34" charset="0"/>
                <a:ea typeface="Calibri" pitchFamily="34" charset="-122"/>
                <a:cs typeface="Calibri" pitchFamily="34" charset="-120"/>
              </a:rPr>
              <a:t>ISRO / IS4OM</a:t>
            </a:r>
            <a:endParaRPr lang="en-US" sz="1100" dirty="0"/>
          </a:p>
        </p:txBody>
      </p:sp>
      <p:sp>
        <p:nvSpPr>
          <p:cNvPr id="26" name="Text 23"/>
          <p:cNvSpPr/>
          <p:nvPr/>
        </p:nvSpPr>
        <p:spPr>
          <a:xfrm>
            <a:off x="457200" y="2889504"/>
            <a:ext cx="2999232" cy="530352"/>
          </a:xfrm>
          <a:prstGeom prst="rect">
            <a:avLst/>
          </a:prstGeom>
          <a:noFill/>
          <a:ln/>
        </p:spPr>
        <p:txBody>
          <a:bodyPr wrap="square" lIns="0" tIns="0" rIns="0" bIns="0" rtlCol="0" anchor="ctr"/>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A triage layer over the 53,000 alerts already arriving each year — and a second opinion that states its own uncertainty.</a:t>
            </a:r>
            <a:endParaRPr lang="en-US" sz="950" dirty="0"/>
          </a:p>
        </p:txBody>
      </p:sp>
      <p:sp>
        <p:nvSpPr>
          <p:cNvPr id="27" name="Shape 24"/>
          <p:cNvSpPr/>
          <p:nvPr/>
        </p:nvSpPr>
        <p:spPr>
          <a:xfrm>
            <a:off x="3712464" y="2523744"/>
            <a:ext cx="3255264" cy="969264"/>
          </a:xfrm>
          <a:prstGeom prst="roundRect">
            <a:avLst>
              <a:gd name="adj" fmla="val 2830"/>
            </a:avLst>
          </a:prstGeom>
          <a:solidFill>
            <a:srgbClr val="F2F6FA"/>
          </a:solidFill>
          <a:ln w="9525">
            <a:solidFill>
              <a:srgbClr val="D4DAE2"/>
            </a:solidFill>
            <a:prstDash val="solid"/>
          </a:ln>
        </p:spPr>
      </p:sp>
      <p:sp>
        <p:nvSpPr>
          <p:cNvPr id="28" name="Text 25"/>
          <p:cNvSpPr/>
          <p:nvPr/>
        </p:nvSpPr>
        <p:spPr>
          <a:xfrm>
            <a:off x="3858768" y="2633472"/>
            <a:ext cx="2962656" cy="237744"/>
          </a:xfrm>
          <a:prstGeom prst="rect">
            <a:avLst/>
          </a:prstGeom>
          <a:noFill/>
          <a:ln/>
        </p:spPr>
        <p:txBody>
          <a:bodyPr wrap="square" lIns="0" tIns="0" rIns="0" bIns="0" rtlCol="0" anchor="ctr"/>
          <a:lstStyle/>
          <a:p>
            <a:pPr indent="0" marL="0">
              <a:buNone/>
            </a:pPr>
            <a:r>
              <a:rPr lang="en-US" sz="1100" b="1" dirty="0">
                <a:solidFill>
                  <a:srgbClr val="1F497D"/>
                </a:solidFill>
                <a:latin typeface="Calibri" pitchFamily="34" charset="0"/>
                <a:ea typeface="Calibri" pitchFamily="34" charset="-122"/>
                <a:cs typeface="Calibri" pitchFamily="34" charset="-120"/>
              </a:rPr>
              <a:t>Universities &amp; cubesat teams</a:t>
            </a:r>
            <a:endParaRPr lang="en-US" sz="1100" dirty="0"/>
          </a:p>
        </p:txBody>
      </p:sp>
      <p:sp>
        <p:nvSpPr>
          <p:cNvPr id="29" name="Text 26"/>
          <p:cNvSpPr/>
          <p:nvPr/>
        </p:nvSpPr>
        <p:spPr>
          <a:xfrm>
            <a:off x="3858768" y="2889504"/>
            <a:ext cx="2999232" cy="530352"/>
          </a:xfrm>
          <a:prstGeom prst="rect">
            <a:avLst/>
          </a:prstGeom>
          <a:noFill/>
          <a:ln/>
        </p:spPr>
        <p:txBody>
          <a:bodyPr wrap="square" lIns="0" tIns="0" rIns="0" bIns="0" rtlCol="0" anchor="ctr"/>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The same pipeline as a large operator, with no licence, no analyst and no procurement. This is the access gap PS-04 names.</a:t>
            </a:r>
            <a:endParaRPr lang="en-US" sz="950" dirty="0"/>
          </a:p>
        </p:txBody>
      </p:sp>
      <p:sp>
        <p:nvSpPr>
          <p:cNvPr id="30" name="Shape 27"/>
          <p:cNvSpPr/>
          <p:nvPr/>
        </p:nvSpPr>
        <p:spPr>
          <a:xfrm>
            <a:off x="7114032" y="2523744"/>
            <a:ext cx="3255264" cy="969264"/>
          </a:xfrm>
          <a:prstGeom prst="roundRect">
            <a:avLst>
              <a:gd name="adj" fmla="val 2830"/>
            </a:avLst>
          </a:prstGeom>
          <a:solidFill>
            <a:srgbClr val="F2F6FA"/>
          </a:solidFill>
          <a:ln w="9525">
            <a:solidFill>
              <a:srgbClr val="D4DAE2"/>
            </a:solidFill>
            <a:prstDash val="solid"/>
          </a:ln>
        </p:spPr>
      </p:sp>
      <p:sp>
        <p:nvSpPr>
          <p:cNvPr id="31" name="Text 28"/>
          <p:cNvSpPr/>
          <p:nvPr/>
        </p:nvSpPr>
        <p:spPr>
          <a:xfrm>
            <a:off x="7260336" y="2633472"/>
            <a:ext cx="2962656" cy="237744"/>
          </a:xfrm>
          <a:prstGeom prst="rect">
            <a:avLst/>
          </a:prstGeom>
          <a:noFill/>
          <a:ln/>
        </p:spPr>
        <p:txBody>
          <a:bodyPr wrap="square" lIns="0" tIns="0" rIns="0" bIns="0" rtlCol="0" anchor="ctr"/>
          <a:lstStyle/>
          <a:p>
            <a:pPr indent="0" marL="0">
              <a:buNone/>
            </a:pPr>
            <a:r>
              <a:rPr lang="en-US" sz="1100" b="1" dirty="0">
                <a:solidFill>
                  <a:srgbClr val="1F497D"/>
                </a:solidFill>
                <a:latin typeface="Calibri" pitchFamily="34" charset="0"/>
                <a:ea typeface="Calibri" pitchFamily="34" charset="-122"/>
                <a:cs typeface="Calibri" pitchFamily="34" charset="-120"/>
              </a:rPr>
              <a:t>Indian NewSpace startups</a:t>
            </a:r>
            <a:endParaRPr lang="en-US" sz="1100" dirty="0"/>
          </a:p>
        </p:txBody>
      </p:sp>
      <p:sp>
        <p:nvSpPr>
          <p:cNvPr id="32" name="Text 29"/>
          <p:cNvSpPr/>
          <p:nvPr/>
        </p:nvSpPr>
        <p:spPr>
          <a:xfrm>
            <a:off x="7260336" y="2889504"/>
            <a:ext cx="2999232" cy="530352"/>
          </a:xfrm>
          <a:prstGeom prst="rect">
            <a:avLst/>
          </a:prstGeom>
          <a:noFill/>
          <a:ln/>
        </p:spPr>
        <p:txBody>
          <a:bodyPr wrap="square" lIns="0" tIns="0" rIns="0" bIns="0" rtlCol="0" anchor="ctr"/>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20 of India’s 22 active LEO satellites face elevated collision risk. A first-launch operator can screen before and after deployment.</a:t>
            </a:r>
            <a:endParaRPr lang="en-US" sz="950" dirty="0"/>
          </a:p>
        </p:txBody>
      </p:sp>
      <p:sp>
        <p:nvSpPr>
          <p:cNvPr id="33" name="Text 30"/>
          <p:cNvSpPr/>
          <p:nvPr/>
        </p:nvSpPr>
        <p:spPr>
          <a:xfrm>
            <a:off x="310896" y="3639312"/>
            <a:ext cx="292608" cy="292608"/>
          </a:xfrm>
          <a:prstGeom prst="rect">
            <a:avLst/>
          </a:prstGeom>
          <a:noFill/>
          <a:ln/>
        </p:spPr>
        <p:txBody>
          <a:bodyPr wrap="square" lIns="0" tIns="0" rIns="0" bIns="0" rtlCol="0" anchor="ctr"/>
          <a:lstStyle/>
          <a:p>
            <a:pPr indent="0" marL="0">
              <a:buNone/>
            </a:pPr>
            <a:r>
              <a:rPr lang="en-US" sz="1500" dirty="0">
                <a:solidFill>
                  <a:srgbClr val="1F497D"/>
                </a:solidFill>
                <a:latin typeface="Calibri" pitchFamily="34" charset="0"/>
                <a:ea typeface="Calibri" pitchFamily="34" charset="-122"/>
                <a:cs typeface="Calibri" pitchFamily="34" charset="-120"/>
              </a:rPr>
              <a:t>❖</a:t>
            </a:r>
            <a:endParaRPr lang="en-US" sz="1500" dirty="0"/>
          </a:p>
        </p:txBody>
      </p:sp>
      <p:sp>
        <p:nvSpPr>
          <p:cNvPr id="34" name="Text 31"/>
          <p:cNvSpPr/>
          <p:nvPr/>
        </p:nvSpPr>
        <p:spPr>
          <a:xfrm>
            <a:off x="621792" y="3639312"/>
            <a:ext cx="9692640" cy="292608"/>
          </a:xfrm>
          <a:prstGeom prst="rect">
            <a:avLst/>
          </a:prstGeom>
          <a:noFill/>
          <a:ln/>
        </p:spPr>
        <p:txBody>
          <a:bodyPr wrap="square" lIns="0" tIns="0" rIns="0" bIns="0" rtlCol="0" anchor="ctr"/>
          <a:lstStyle/>
          <a:p>
            <a:pPr indent="0" marL="0">
              <a:buNone/>
            </a:pPr>
            <a:r>
              <a:rPr lang="en-US" sz="1650" b="1" u="sng" dirty="0">
                <a:solidFill>
                  <a:srgbClr val="1F497D"/>
                </a:solidFill>
                <a:latin typeface="Calibri" pitchFamily="34" charset="0"/>
                <a:ea typeface="Calibri" pitchFamily="34" charset="-122"/>
                <a:cs typeface="Calibri" pitchFamily="34" charset="-120"/>
              </a:rPr>
              <a:t>Benefits of the solution (social, economic, environmental)</a:t>
            </a:r>
            <a:endParaRPr lang="en-US" sz="1650" dirty="0"/>
          </a:p>
        </p:txBody>
      </p:sp>
      <p:sp>
        <p:nvSpPr>
          <p:cNvPr id="35" name="Shape 32"/>
          <p:cNvSpPr/>
          <p:nvPr/>
        </p:nvSpPr>
        <p:spPr>
          <a:xfrm>
            <a:off x="310896" y="4087368"/>
            <a:ext cx="91440" cy="91440"/>
          </a:xfrm>
          <a:prstGeom prst="rect">
            <a:avLst/>
          </a:prstGeom>
          <a:solidFill>
            <a:srgbClr val="1E7A4C"/>
          </a:solidFill>
          <a:ln/>
        </p:spPr>
      </p:sp>
      <p:sp>
        <p:nvSpPr>
          <p:cNvPr id="36" name="Text 33"/>
          <p:cNvSpPr/>
          <p:nvPr/>
        </p:nvSpPr>
        <p:spPr>
          <a:xfrm>
            <a:off x="493776" y="4023360"/>
            <a:ext cx="2286000" cy="219456"/>
          </a:xfrm>
          <a:prstGeom prst="rect">
            <a:avLst/>
          </a:prstGeom>
          <a:noFill/>
          <a:ln/>
        </p:spPr>
        <p:txBody>
          <a:bodyPr wrap="square" lIns="0" tIns="0" rIns="0" bIns="0" rtlCol="0" anchor="ctr"/>
          <a:lstStyle/>
          <a:p>
            <a:pPr indent="0" marL="0">
              <a:buNone/>
            </a:pPr>
            <a:r>
              <a:rPr lang="en-US" sz="950" b="1" spc="80" kern="0" dirty="0">
                <a:solidFill>
                  <a:srgbClr val="1E7A4C"/>
                </a:solidFill>
                <a:latin typeface="Calibri" pitchFamily="34" charset="0"/>
                <a:ea typeface="Calibri" pitchFamily="34" charset="-122"/>
                <a:cs typeface="Calibri" pitchFamily="34" charset="-120"/>
              </a:rPr>
              <a:t>SOCIAL</a:t>
            </a:r>
            <a:endParaRPr lang="en-US" sz="950" dirty="0"/>
          </a:p>
        </p:txBody>
      </p:sp>
      <p:sp>
        <p:nvSpPr>
          <p:cNvPr id="37" name="Text 34"/>
          <p:cNvSpPr/>
          <p:nvPr/>
        </p:nvSpPr>
        <p:spPr>
          <a:xfrm>
            <a:off x="310896" y="4261104"/>
            <a:ext cx="2450592" cy="109728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Protects the satellites behind weather warning, disaster response, crop monitoring and navigation. A lost earth-observation satellite is a lost public service.</a:t>
            </a:r>
            <a:endParaRPr lang="en-US" sz="950" dirty="0"/>
          </a:p>
        </p:txBody>
      </p:sp>
      <p:sp>
        <p:nvSpPr>
          <p:cNvPr id="38" name="Shape 35"/>
          <p:cNvSpPr/>
          <p:nvPr/>
        </p:nvSpPr>
        <p:spPr>
          <a:xfrm>
            <a:off x="2916936" y="4087368"/>
            <a:ext cx="91440" cy="91440"/>
          </a:xfrm>
          <a:prstGeom prst="rect">
            <a:avLst/>
          </a:prstGeom>
          <a:solidFill>
            <a:srgbClr val="1F497D"/>
          </a:solidFill>
          <a:ln/>
        </p:spPr>
      </p:sp>
      <p:sp>
        <p:nvSpPr>
          <p:cNvPr id="39" name="Text 36"/>
          <p:cNvSpPr/>
          <p:nvPr/>
        </p:nvSpPr>
        <p:spPr>
          <a:xfrm>
            <a:off x="3099816" y="4023360"/>
            <a:ext cx="2286000" cy="219456"/>
          </a:xfrm>
          <a:prstGeom prst="rect">
            <a:avLst/>
          </a:prstGeom>
          <a:noFill/>
          <a:ln/>
        </p:spPr>
        <p:txBody>
          <a:bodyPr wrap="square" lIns="0" tIns="0" rIns="0" bIns="0" rtlCol="0" anchor="ctr"/>
          <a:lstStyle/>
          <a:p>
            <a:pPr indent="0" marL="0">
              <a:buNone/>
            </a:pPr>
            <a:r>
              <a:rPr lang="en-US" sz="950" b="1" spc="80" kern="0" dirty="0">
                <a:solidFill>
                  <a:srgbClr val="1F497D"/>
                </a:solidFill>
                <a:latin typeface="Calibri" pitchFamily="34" charset="0"/>
                <a:ea typeface="Calibri" pitchFamily="34" charset="-122"/>
                <a:cs typeface="Calibri" pitchFamily="34" charset="-120"/>
              </a:rPr>
              <a:t>ECONOMIC</a:t>
            </a:r>
            <a:endParaRPr lang="en-US" sz="950" dirty="0"/>
          </a:p>
        </p:txBody>
      </p:sp>
      <p:sp>
        <p:nvSpPr>
          <p:cNvPr id="40" name="Text 37"/>
          <p:cNvSpPr/>
          <p:nvPr/>
        </p:nvSpPr>
        <p:spPr>
          <a:xfrm>
            <a:off x="2916936" y="4261104"/>
            <a:ext cx="2450592" cy="109728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Commercial conjunction services are priced for large operators. Free public data plus an open engine removes both the licence and the analyst from the cost.</a:t>
            </a:r>
            <a:endParaRPr lang="en-US" sz="950" dirty="0"/>
          </a:p>
        </p:txBody>
      </p:sp>
      <p:sp>
        <p:nvSpPr>
          <p:cNvPr id="41" name="Shape 38"/>
          <p:cNvSpPr/>
          <p:nvPr/>
        </p:nvSpPr>
        <p:spPr>
          <a:xfrm>
            <a:off x="5522976" y="4087368"/>
            <a:ext cx="91440" cy="91440"/>
          </a:xfrm>
          <a:prstGeom prst="rect">
            <a:avLst/>
          </a:prstGeom>
          <a:solidFill>
            <a:srgbClr val="0070C0"/>
          </a:solidFill>
          <a:ln/>
        </p:spPr>
      </p:sp>
      <p:sp>
        <p:nvSpPr>
          <p:cNvPr id="42" name="Text 39"/>
          <p:cNvSpPr/>
          <p:nvPr/>
        </p:nvSpPr>
        <p:spPr>
          <a:xfrm>
            <a:off x="5705856" y="4023360"/>
            <a:ext cx="2286000" cy="219456"/>
          </a:xfrm>
          <a:prstGeom prst="rect">
            <a:avLst/>
          </a:prstGeom>
          <a:noFill/>
          <a:ln/>
        </p:spPr>
        <p:txBody>
          <a:bodyPr wrap="square" lIns="0" tIns="0" rIns="0" bIns="0" rtlCol="0" anchor="ctr"/>
          <a:lstStyle/>
          <a:p>
            <a:pPr indent="0" marL="0">
              <a:buNone/>
            </a:pPr>
            <a:r>
              <a:rPr lang="en-US" sz="950" b="1" spc="80" kern="0" dirty="0">
                <a:solidFill>
                  <a:srgbClr val="0070C0"/>
                </a:solidFill>
                <a:latin typeface="Calibri" pitchFamily="34" charset="0"/>
                <a:ea typeface="Calibri" pitchFamily="34" charset="-122"/>
                <a:cs typeface="Calibri" pitchFamily="34" charset="-120"/>
              </a:rPr>
              <a:t>ENVIRONMENTAL</a:t>
            </a:r>
            <a:endParaRPr lang="en-US" sz="950" dirty="0"/>
          </a:p>
        </p:txBody>
      </p:sp>
      <p:sp>
        <p:nvSpPr>
          <p:cNvPr id="43" name="Text 40"/>
          <p:cNvSpPr/>
          <p:nvPr/>
        </p:nvSpPr>
        <p:spPr>
          <a:xfrm>
            <a:off x="5522976" y="4261104"/>
            <a:ext cx="2450592" cy="109728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Debris outlives the collision: 813 fragments of the 2009 Iridium 33 / Cosmos 2251 crash are still in our snapshot 15 years on. Screening this one event models 19 new trackable fragments and an added collision rate on all 33 assets we assess.</a:t>
            </a:r>
            <a:endParaRPr lang="en-US" sz="950" dirty="0"/>
          </a:p>
        </p:txBody>
      </p:sp>
      <p:sp>
        <p:nvSpPr>
          <p:cNvPr id="44" name="Shape 41"/>
          <p:cNvSpPr/>
          <p:nvPr/>
        </p:nvSpPr>
        <p:spPr>
          <a:xfrm>
            <a:off x="8129016" y="4087368"/>
            <a:ext cx="91440" cy="91440"/>
          </a:xfrm>
          <a:prstGeom prst="rect">
            <a:avLst/>
          </a:prstGeom>
          <a:solidFill>
            <a:srgbClr val="B25E00"/>
          </a:solidFill>
          <a:ln/>
        </p:spPr>
      </p:sp>
      <p:sp>
        <p:nvSpPr>
          <p:cNvPr id="45" name="Text 42"/>
          <p:cNvSpPr/>
          <p:nvPr/>
        </p:nvSpPr>
        <p:spPr>
          <a:xfrm>
            <a:off x="8311896" y="4023360"/>
            <a:ext cx="2286000" cy="219456"/>
          </a:xfrm>
          <a:prstGeom prst="rect">
            <a:avLst/>
          </a:prstGeom>
          <a:noFill/>
          <a:ln/>
        </p:spPr>
        <p:txBody>
          <a:bodyPr wrap="square" lIns="0" tIns="0" rIns="0" bIns="0" rtlCol="0" anchor="ctr"/>
          <a:lstStyle/>
          <a:p>
            <a:pPr indent="0" marL="0">
              <a:buNone/>
            </a:pPr>
            <a:r>
              <a:rPr lang="en-US" sz="950" b="1" spc="80" kern="0" dirty="0">
                <a:solidFill>
                  <a:srgbClr val="B25E00"/>
                </a:solidFill>
                <a:latin typeface="Calibri" pitchFamily="34" charset="0"/>
                <a:ea typeface="Calibri" pitchFamily="34" charset="-122"/>
                <a:cs typeface="Calibri" pitchFamily="34" charset="-120"/>
              </a:rPr>
              <a:t>STRATEGIC</a:t>
            </a:r>
            <a:endParaRPr lang="en-US" sz="950" dirty="0"/>
          </a:p>
        </p:txBody>
      </p:sp>
      <p:sp>
        <p:nvSpPr>
          <p:cNvPr id="46" name="Text 43"/>
          <p:cNvSpPr/>
          <p:nvPr/>
        </p:nvSpPr>
        <p:spPr>
          <a:xfrm>
            <a:off x="8129016" y="4261104"/>
            <a:ext cx="2450592" cy="1097280"/>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Screening you can run yourself, on open data, is sovereign capability — supporting India’s Debris Free Space Missions target for 2030.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219456" y="146304"/>
            <a:ext cx="1060704" cy="566928"/>
          </a:xfrm>
          <a:prstGeom prst="ellipse">
            <a:avLst/>
          </a:prstGeom>
          <a:solidFill>
            <a:srgbClr val="FFFFFF"/>
          </a:solidFill>
          <a:ln w="12700">
            <a:solidFill>
              <a:srgbClr val="B4A3C8"/>
            </a:solidFill>
            <a:prstDash val="solid"/>
          </a:ln>
        </p:spPr>
      </p:sp>
      <p:sp>
        <p:nvSpPr>
          <p:cNvPr id="3" name="Text 1"/>
          <p:cNvSpPr/>
          <p:nvPr/>
        </p:nvSpPr>
        <p:spPr>
          <a:xfrm>
            <a:off x="219456" y="146304"/>
            <a:ext cx="1060704" cy="566928"/>
          </a:xfrm>
          <a:prstGeom prst="rect">
            <a:avLst/>
          </a:prstGeom>
          <a:noFill/>
          <a:ln/>
        </p:spPr>
        <p:txBody>
          <a:bodyPr wrap="square" lIns="0" tIns="0" rIns="0" bIns="0" rtlCol="0" anchor="ctr"/>
          <a:lstStyle/>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Team</a:t>
            </a:r>
            <a:endParaRPr lang="en-US" sz="1050" dirty="0"/>
          </a:p>
          <a:p>
            <a:pPr algn="ctr" indent="0" marL="0">
              <a:lnSpc>
                <a:spcPts val="1200"/>
              </a:lnSpc>
              <a:buNone/>
            </a:pPr>
            <a:r>
              <a:rPr lang="en-US" sz="1050" dirty="0">
                <a:solidFill>
                  <a:srgbClr val="111111"/>
                </a:solidFill>
                <a:latin typeface="Calibri" pitchFamily="34" charset="0"/>
                <a:ea typeface="Calibri" pitchFamily="34" charset="-122"/>
                <a:cs typeface="Calibri" pitchFamily="34" charset="-120"/>
              </a:rPr>
              <a:t>Name</a:t>
            </a:r>
            <a:endParaRPr lang="en-US" sz="1050" dirty="0"/>
          </a:p>
        </p:txBody>
      </p:sp>
      <p:sp>
        <p:nvSpPr>
          <p:cNvPr id="4" name="Text 2"/>
          <p:cNvSpPr/>
          <p:nvPr/>
        </p:nvSpPr>
        <p:spPr>
          <a:xfrm>
            <a:off x="1389888" y="146304"/>
            <a:ext cx="7059168" cy="585216"/>
          </a:xfrm>
          <a:prstGeom prst="rect">
            <a:avLst/>
          </a:prstGeom>
          <a:noFill/>
          <a:ln/>
        </p:spPr>
        <p:txBody>
          <a:bodyPr wrap="square" lIns="0" tIns="0" rIns="0" bIns="0" rtlCol="0" anchor="ctr"/>
          <a:lstStyle/>
          <a:p>
            <a:pPr algn="ctr" indent="0" marL="0">
              <a:buNone/>
            </a:pPr>
            <a:r>
              <a:rPr lang="en-US" sz="2700" b="1" dirty="0">
                <a:solidFill>
                  <a:srgbClr val="111111"/>
                </a:solidFill>
                <a:latin typeface="Calibri" pitchFamily="34" charset="0"/>
                <a:ea typeface="Calibri" pitchFamily="34" charset="-122"/>
                <a:cs typeface="Calibri" pitchFamily="34" charset="-120"/>
              </a:rPr>
              <a:t>RESEARCH AND REFERENCES</a:t>
            </a:r>
            <a:endParaRPr lang="en-US" sz="2700" dirty="0"/>
          </a:p>
        </p:txBody>
      </p:sp>
      <p:pic>
        <p:nvPicPr>
          <p:cNvPr id="5" name="Image 0" descr="preencoded.png">    </p:cNvPr>
          <p:cNvPicPr>
            <a:picLocks noChangeAspect="1"/>
          </p:cNvPicPr>
          <p:nvPr/>
        </p:nvPicPr>
        <p:blipFill>
          <a:blip r:embed="rId1"/>
          <a:stretch>
            <a:fillRect/>
          </a:stretch>
        </p:blipFill>
        <p:spPr>
          <a:xfrm>
            <a:off x="8796528" y="137160"/>
            <a:ext cx="517434" cy="566928"/>
          </a:xfrm>
          <a:prstGeom prst="rect">
            <a:avLst/>
          </a:prstGeom>
        </p:spPr>
      </p:pic>
      <p:sp>
        <p:nvSpPr>
          <p:cNvPr id="6" name="Text 3"/>
          <p:cNvSpPr/>
          <p:nvPr/>
        </p:nvSpPr>
        <p:spPr>
          <a:xfrm>
            <a:off x="9400032" y="146304"/>
            <a:ext cx="1115568" cy="548640"/>
          </a:xfrm>
          <a:prstGeom prst="rect">
            <a:avLst/>
          </a:prstGeom>
          <a:noFill/>
          <a:ln/>
        </p:spPr>
        <p:txBody>
          <a:bodyPr wrap="square" lIns="0" tIns="0" rIns="0" bIns="0" rtlCol="0" anchor="ctr"/>
          <a:lstStyle/>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SMART INDIA</a:t>
            </a:r>
            <a:endParaRPr lang="en-US" sz="950" dirty="0"/>
          </a:p>
          <a:p>
            <a:pPr indent="0" marL="0">
              <a:lnSpc>
                <a:spcPts val="1100"/>
              </a:lnSpc>
              <a:buNone/>
            </a:pPr>
            <a:r>
              <a:rPr lang="en-US" sz="950" b="1" dirty="0">
                <a:solidFill>
                  <a:srgbClr val="3E4A56"/>
                </a:solidFill>
                <a:latin typeface="Calibri" pitchFamily="34" charset="0"/>
                <a:ea typeface="Calibri" pitchFamily="34" charset="-122"/>
                <a:cs typeface="Calibri" pitchFamily="34" charset="-120"/>
              </a:rPr>
              <a:t>HACKATHON 2026</a:t>
            </a:r>
            <a:endParaRPr lang="en-US" sz="950" dirty="0"/>
          </a:p>
        </p:txBody>
      </p:sp>
      <p:sp>
        <p:nvSpPr>
          <p:cNvPr id="7" name="Shape 4"/>
          <p:cNvSpPr/>
          <p:nvPr/>
        </p:nvSpPr>
        <p:spPr>
          <a:xfrm>
            <a:off x="0" y="5708599"/>
            <a:ext cx="10692994" cy="310896"/>
          </a:xfrm>
          <a:prstGeom prst="rect">
            <a:avLst/>
          </a:prstGeom>
          <a:solidFill>
            <a:srgbClr val="0070C0"/>
          </a:solidFill>
          <a:ln/>
        </p:spPr>
      </p:sp>
      <p:sp>
        <p:nvSpPr>
          <p:cNvPr id="8" name="Text 5"/>
          <p:cNvSpPr/>
          <p:nvPr/>
        </p:nvSpPr>
        <p:spPr>
          <a:xfrm>
            <a:off x="3200400" y="5708599"/>
            <a:ext cx="429768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@SIH Idea submission- Template</a:t>
            </a:r>
            <a:endParaRPr lang="en-US" sz="1050" dirty="0"/>
          </a:p>
        </p:txBody>
      </p:sp>
      <p:sp>
        <p:nvSpPr>
          <p:cNvPr id="9" name="Text 6"/>
          <p:cNvSpPr/>
          <p:nvPr/>
        </p:nvSpPr>
        <p:spPr>
          <a:xfrm>
            <a:off x="9915754" y="5708599"/>
            <a:ext cx="457200" cy="31089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0" name="Text 7"/>
          <p:cNvSpPr/>
          <p:nvPr/>
        </p:nvSpPr>
        <p:spPr>
          <a:xfrm>
            <a:off x="310896" y="896112"/>
            <a:ext cx="292608" cy="292608"/>
          </a:xfrm>
          <a:prstGeom prst="rect">
            <a:avLst/>
          </a:prstGeom>
          <a:noFill/>
          <a:ln/>
        </p:spPr>
        <p:txBody>
          <a:bodyPr wrap="square" lIns="0" tIns="0" rIns="0" bIns="0" rtlCol="0" anchor="ctr"/>
          <a:lstStyle/>
          <a:p>
            <a:pPr indent="0" marL="0">
              <a:buNone/>
            </a:pPr>
            <a:r>
              <a:rPr lang="en-US" sz="1500" dirty="0">
                <a:solidFill>
                  <a:srgbClr val="1F497D"/>
                </a:solidFill>
                <a:latin typeface="Calibri" pitchFamily="34" charset="0"/>
                <a:ea typeface="Calibri" pitchFamily="34" charset="-122"/>
                <a:cs typeface="Calibri" pitchFamily="34" charset="-120"/>
              </a:rPr>
              <a:t>❖</a:t>
            </a:r>
            <a:endParaRPr lang="en-US" sz="1500" dirty="0"/>
          </a:p>
        </p:txBody>
      </p:sp>
      <p:sp>
        <p:nvSpPr>
          <p:cNvPr id="11" name="Text 8"/>
          <p:cNvSpPr/>
          <p:nvPr/>
        </p:nvSpPr>
        <p:spPr>
          <a:xfrm>
            <a:off x="621792" y="896112"/>
            <a:ext cx="9692640" cy="292608"/>
          </a:xfrm>
          <a:prstGeom prst="rect">
            <a:avLst/>
          </a:prstGeom>
          <a:noFill/>
          <a:ln/>
        </p:spPr>
        <p:txBody>
          <a:bodyPr wrap="square" lIns="0" tIns="0" rIns="0" bIns="0" rtlCol="0" anchor="ctr"/>
          <a:lstStyle/>
          <a:p>
            <a:pPr indent="0" marL="0">
              <a:buNone/>
            </a:pPr>
            <a:r>
              <a:rPr lang="en-US" sz="1650" b="1" u="sng" dirty="0">
                <a:solidFill>
                  <a:srgbClr val="1F497D"/>
                </a:solidFill>
                <a:latin typeface="Calibri" pitchFamily="34" charset="0"/>
                <a:ea typeface="Calibri" pitchFamily="34" charset="-122"/>
                <a:cs typeface="Calibri" pitchFamily="34" charset="-120"/>
              </a:rPr>
              <a:t>Details / Links of the reference and research work</a:t>
            </a:r>
            <a:endParaRPr lang="en-US" sz="1650" dirty="0"/>
          </a:p>
        </p:txBody>
      </p:sp>
      <p:sp>
        <p:nvSpPr>
          <p:cNvPr id="12" name="Text 9"/>
          <p:cNvSpPr/>
          <p:nvPr/>
        </p:nvSpPr>
        <p:spPr>
          <a:xfrm>
            <a:off x="310896" y="1298448"/>
            <a:ext cx="5029200" cy="182880"/>
          </a:xfrm>
          <a:prstGeom prst="rect">
            <a:avLst/>
          </a:prstGeom>
          <a:noFill/>
          <a:ln/>
        </p:spPr>
        <p:txBody>
          <a:bodyPr wrap="square" lIns="0" tIns="0" rIns="0" bIns="0" rtlCol="0" anchor="ctr"/>
          <a:lstStyle/>
          <a:p>
            <a:pPr indent="0" marL="0">
              <a:buNone/>
            </a:pPr>
            <a:r>
              <a:rPr lang="en-US" sz="850" b="1" spc="90" kern="0" dirty="0">
                <a:solidFill>
                  <a:srgbClr val="1F497D"/>
                </a:solidFill>
                <a:latin typeface="Calibri" pitchFamily="34" charset="0"/>
                <a:ea typeface="Calibri" pitchFamily="34" charset="-122"/>
                <a:cs typeface="Calibri" pitchFamily="34" charset="-120"/>
              </a:rPr>
              <a:t>MODELS AND STANDARDS IMPLEMENTED IN THE PROTOTYPE</a:t>
            </a:r>
            <a:endParaRPr lang="en-US" sz="850" dirty="0"/>
          </a:p>
        </p:txBody>
      </p:sp>
      <p:sp>
        <p:nvSpPr>
          <p:cNvPr id="13" name="Shape 10"/>
          <p:cNvSpPr/>
          <p:nvPr/>
        </p:nvSpPr>
        <p:spPr>
          <a:xfrm>
            <a:off x="329184" y="1600200"/>
            <a:ext cx="73152" cy="73152"/>
          </a:xfrm>
          <a:prstGeom prst="rect">
            <a:avLst/>
          </a:prstGeom>
          <a:solidFill>
            <a:srgbClr val="0070C0"/>
          </a:solidFill>
          <a:ln/>
        </p:spPr>
      </p:sp>
      <p:sp>
        <p:nvSpPr>
          <p:cNvPr id="14" name="Text 11"/>
          <p:cNvSpPr/>
          <p:nvPr/>
        </p:nvSpPr>
        <p:spPr>
          <a:xfrm>
            <a:off x="512064" y="1536192"/>
            <a:ext cx="1737360" cy="292608"/>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SGP4 propagation</a:t>
            </a:r>
            <a:endParaRPr lang="en-US" sz="950" dirty="0"/>
          </a:p>
        </p:txBody>
      </p:sp>
      <p:sp>
        <p:nvSpPr>
          <p:cNvPr id="15" name="Text 12"/>
          <p:cNvSpPr/>
          <p:nvPr/>
        </p:nvSpPr>
        <p:spPr>
          <a:xfrm>
            <a:off x="2267712" y="1536192"/>
            <a:ext cx="3218688" cy="292608"/>
          </a:xfrm>
          <a:prstGeom prst="rect">
            <a:avLst/>
          </a:prstGeom>
          <a:noFill/>
          <a:ln/>
        </p:spPr>
        <p:txBody>
          <a:bodyPr wrap="square" lIns="0" tIns="0" rIns="0" bIns="0" rtlCol="0" anchor="t"/>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Vallado &amp; Crawford, "Revisiting Spacetrack Report #3", AIAA 2006-6753</a:t>
            </a:r>
            <a:endParaRPr lang="en-US" sz="950" dirty="0"/>
          </a:p>
        </p:txBody>
      </p:sp>
      <p:sp>
        <p:nvSpPr>
          <p:cNvPr id="16" name="Shape 13"/>
          <p:cNvSpPr/>
          <p:nvPr/>
        </p:nvSpPr>
        <p:spPr>
          <a:xfrm>
            <a:off x="329184" y="1929384"/>
            <a:ext cx="73152" cy="73152"/>
          </a:xfrm>
          <a:prstGeom prst="rect">
            <a:avLst/>
          </a:prstGeom>
          <a:solidFill>
            <a:srgbClr val="0070C0"/>
          </a:solidFill>
          <a:ln/>
        </p:spPr>
      </p:sp>
      <p:sp>
        <p:nvSpPr>
          <p:cNvPr id="17" name="Text 14"/>
          <p:cNvSpPr/>
          <p:nvPr/>
        </p:nvSpPr>
        <p:spPr>
          <a:xfrm>
            <a:off x="512064" y="1865376"/>
            <a:ext cx="1737360" cy="292608"/>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Collision probability</a:t>
            </a:r>
            <a:endParaRPr lang="en-US" sz="950" dirty="0"/>
          </a:p>
        </p:txBody>
      </p:sp>
      <p:sp>
        <p:nvSpPr>
          <p:cNvPr id="18" name="Text 15"/>
          <p:cNvSpPr/>
          <p:nvPr/>
        </p:nvSpPr>
        <p:spPr>
          <a:xfrm>
            <a:off x="2267712" y="1865376"/>
            <a:ext cx="3218688" cy="292608"/>
          </a:xfrm>
          <a:prstGeom prst="rect">
            <a:avLst/>
          </a:prstGeom>
          <a:noFill/>
          <a:ln/>
        </p:spPr>
        <p:txBody>
          <a:bodyPr wrap="square" lIns="0" tIns="0" rIns="0" bIns="0" rtlCol="0" anchor="t"/>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Foster &amp; Estes, NASA JSC-25898, 1992 — the model our Pc uses</a:t>
            </a:r>
            <a:endParaRPr lang="en-US" sz="950" dirty="0"/>
          </a:p>
        </p:txBody>
      </p:sp>
      <p:sp>
        <p:nvSpPr>
          <p:cNvPr id="19" name="Shape 16"/>
          <p:cNvSpPr/>
          <p:nvPr/>
        </p:nvSpPr>
        <p:spPr>
          <a:xfrm>
            <a:off x="329184" y="2258568"/>
            <a:ext cx="73152" cy="73152"/>
          </a:xfrm>
          <a:prstGeom prst="rect">
            <a:avLst/>
          </a:prstGeom>
          <a:solidFill>
            <a:srgbClr val="0070C0"/>
          </a:solidFill>
          <a:ln/>
        </p:spPr>
      </p:sp>
      <p:sp>
        <p:nvSpPr>
          <p:cNvPr id="20" name="Text 17"/>
          <p:cNvSpPr/>
          <p:nvPr/>
        </p:nvSpPr>
        <p:spPr>
          <a:xfrm>
            <a:off x="512064" y="2194560"/>
            <a:ext cx="1737360" cy="292608"/>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Conjunction screening</a:t>
            </a:r>
            <a:endParaRPr lang="en-US" sz="950" dirty="0"/>
          </a:p>
        </p:txBody>
      </p:sp>
      <p:sp>
        <p:nvSpPr>
          <p:cNvPr id="21" name="Text 18"/>
          <p:cNvSpPr/>
          <p:nvPr/>
        </p:nvSpPr>
        <p:spPr>
          <a:xfrm>
            <a:off x="2267712" y="2194560"/>
            <a:ext cx="3218688" cy="292608"/>
          </a:xfrm>
          <a:prstGeom prst="rect">
            <a:avLst/>
          </a:prstGeom>
          <a:noFill/>
          <a:ln/>
        </p:spPr>
        <p:txBody>
          <a:bodyPr wrap="square" lIns="0" tIns="0" rIns="0" bIns="0" rtlCol="0" anchor="t"/>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Anilkumar et al., CLAPS — ISRO close-approach software, MCF Hassan</a:t>
            </a:r>
            <a:endParaRPr lang="en-US" sz="950" dirty="0"/>
          </a:p>
        </p:txBody>
      </p:sp>
      <p:sp>
        <p:nvSpPr>
          <p:cNvPr id="22" name="Shape 19"/>
          <p:cNvSpPr/>
          <p:nvPr/>
        </p:nvSpPr>
        <p:spPr>
          <a:xfrm>
            <a:off x="329184" y="2587752"/>
            <a:ext cx="73152" cy="73152"/>
          </a:xfrm>
          <a:prstGeom prst="rect">
            <a:avLst/>
          </a:prstGeom>
          <a:solidFill>
            <a:srgbClr val="0070C0"/>
          </a:solidFill>
          <a:ln/>
        </p:spPr>
      </p:sp>
      <p:sp>
        <p:nvSpPr>
          <p:cNvPr id="23" name="Text 20"/>
          <p:cNvSpPr/>
          <p:nvPr/>
        </p:nvSpPr>
        <p:spPr>
          <a:xfrm>
            <a:off x="512064" y="2523744"/>
            <a:ext cx="1737360" cy="292608"/>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Debris generation</a:t>
            </a:r>
            <a:endParaRPr lang="en-US" sz="950" dirty="0"/>
          </a:p>
        </p:txBody>
      </p:sp>
      <p:sp>
        <p:nvSpPr>
          <p:cNvPr id="24" name="Text 21"/>
          <p:cNvSpPr/>
          <p:nvPr/>
        </p:nvSpPr>
        <p:spPr>
          <a:xfrm>
            <a:off x="2267712" y="2523744"/>
            <a:ext cx="3218688" cy="292608"/>
          </a:xfrm>
          <a:prstGeom prst="rect">
            <a:avLst/>
          </a:prstGeom>
          <a:noFill/>
          <a:ln/>
        </p:spPr>
        <p:txBody>
          <a:bodyPr wrap="square" lIns="0" tIns="0" rIns="0" bIns="0" rtlCol="0" anchor="t"/>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Johnson et al., NASA Standard Breakup Model, EVOLVE 4.0, 2001</a:t>
            </a:r>
            <a:endParaRPr lang="en-US" sz="950" dirty="0"/>
          </a:p>
        </p:txBody>
      </p:sp>
      <p:sp>
        <p:nvSpPr>
          <p:cNvPr id="25" name="Shape 22"/>
          <p:cNvSpPr/>
          <p:nvPr/>
        </p:nvSpPr>
        <p:spPr>
          <a:xfrm>
            <a:off x="329184" y="2916936"/>
            <a:ext cx="73152" cy="73152"/>
          </a:xfrm>
          <a:prstGeom prst="rect">
            <a:avLst/>
          </a:prstGeom>
          <a:solidFill>
            <a:srgbClr val="0070C0"/>
          </a:solidFill>
          <a:ln/>
        </p:spPr>
      </p:sp>
      <p:sp>
        <p:nvSpPr>
          <p:cNvPr id="26" name="Text 23"/>
          <p:cNvSpPr/>
          <p:nvPr/>
        </p:nvSpPr>
        <p:spPr>
          <a:xfrm>
            <a:off x="512064" y="2852928"/>
            <a:ext cx="1737360" cy="292608"/>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Cascade risk</a:t>
            </a:r>
            <a:endParaRPr lang="en-US" sz="950" dirty="0"/>
          </a:p>
        </p:txBody>
      </p:sp>
      <p:sp>
        <p:nvSpPr>
          <p:cNvPr id="27" name="Text 24"/>
          <p:cNvSpPr/>
          <p:nvPr/>
        </p:nvSpPr>
        <p:spPr>
          <a:xfrm>
            <a:off x="2267712" y="2852928"/>
            <a:ext cx="3218688" cy="292608"/>
          </a:xfrm>
          <a:prstGeom prst="rect">
            <a:avLst/>
          </a:prstGeom>
          <a:noFill/>
          <a:ln/>
        </p:spPr>
        <p:txBody>
          <a:bodyPr wrap="square" lIns="0" tIns="0" rIns="0" bIns="0" rtlCol="0" anchor="t"/>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Kessler &amp; Cour-Palais, J. Geophys. Res. 83(A6), 1978</a:t>
            </a:r>
            <a:endParaRPr lang="en-US" sz="950" dirty="0"/>
          </a:p>
        </p:txBody>
      </p:sp>
      <p:sp>
        <p:nvSpPr>
          <p:cNvPr id="28" name="Shape 25"/>
          <p:cNvSpPr/>
          <p:nvPr/>
        </p:nvSpPr>
        <p:spPr>
          <a:xfrm>
            <a:off x="329184" y="3246120"/>
            <a:ext cx="73152" cy="73152"/>
          </a:xfrm>
          <a:prstGeom prst="rect">
            <a:avLst/>
          </a:prstGeom>
          <a:solidFill>
            <a:srgbClr val="0070C0"/>
          </a:solidFill>
          <a:ln/>
        </p:spPr>
      </p:sp>
      <p:sp>
        <p:nvSpPr>
          <p:cNvPr id="29" name="Text 26"/>
          <p:cNvSpPr/>
          <p:nvPr/>
        </p:nvSpPr>
        <p:spPr>
          <a:xfrm>
            <a:off x="512064" y="3182112"/>
            <a:ext cx="1737360" cy="292608"/>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Orbital decay &amp; re-entry</a:t>
            </a:r>
            <a:endParaRPr lang="en-US" sz="950" dirty="0"/>
          </a:p>
        </p:txBody>
      </p:sp>
      <p:sp>
        <p:nvSpPr>
          <p:cNvPr id="30" name="Text 27"/>
          <p:cNvSpPr/>
          <p:nvPr/>
        </p:nvSpPr>
        <p:spPr>
          <a:xfrm>
            <a:off x="2267712" y="3182112"/>
            <a:ext cx="3218688" cy="292608"/>
          </a:xfrm>
          <a:prstGeom prst="rect">
            <a:avLst/>
          </a:prstGeom>
          <a:noFill/>
          <a:ln/>
        </p:spPr>
        <p:txBody>
          <a:bodyPr wrap="square" lIns="0" tIns="0" rIns="0" bIns="0" rtlCol="0" anchor="t"/>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King-Hele drag decay; Sutton–Graves stagnation-point heating</a:t>
            </a:r>
            <a:endParaRPr lang="en-US" sz="950" dirty="0"/>
          </a:p>
        </p:txBody>
      </p:sp>
      <p:sp>
        <p:nvSpPr>
          <p:cNvPr id="31" name="Shape 28"/>
          <p:cNvSpPr/>
          <p:nvPr/>
        </p:nvSpPr>
        <p:spPr>
          <a:xfrm>
            <a:off x="329184" y="3575304"/>
            <a:ext cx="73152" cy="73152"/>
          </a:xfrm>
          <a:prstGeom prst="rect">
            <a:avLst/>
          </a:prstGeom>
          <a:solidFill>
            <a:srgbClr val="0070C0"/>
          </a:solidFill>
          <a:ln/>
        </p:spPr>
      </p:sp>
      <p:sp>
        <p:nvSpPr>
          <p:cNvPr id="32" name="Text 29"/>
          <p:cNvSpPr/>
          <p:nvPr/>
        </p:nvSpPr>
        <p:spPr>
          <a:xfrm>
            <a:off x="512064" y="3511296"/>
            <a:ext cx="1737360" cy="292608"/>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Message standard</a:t>
            </a:r>
            <a:endParaRPr lang="en-US" sz="950" dirty="0"/>
          </a:p>
        </p:txBody>
      </p:sp>
      <p:sp>
        <p:nvSpPr>
          <p:cNvPr id="33" name="Text 30"/>
          <p:cNvSpPr/>
          <p:nvPr/>
        </p:nvSpPr>
        <p:spPr>
          <a:xfrm>
            <a:off x="2267712" y="3511296"/>
            <a:ext cx="3218688" cy="292608"/>
          </a:xfrm>
          <a:prstGeom prst="rect">
            <a:avLst/>
          </a:prstGeom>
          <a:noFill/>
          <a:ln/>
        </p:spPr>
        <p:txBody>
          <a:bodyPr wrap="square" lIns="0" tIns="0" rIns="0" bIns="0" rtlCol="0" anchor="t"/>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CCSDS 508.0-B-1, Conjunction Data Message</a:t>
            </a:r>
            <a:endParaRPr lang="en-US" sz="950" dirty="0"/>
          </a:p>
        </p:txBody>
      </p:sp>
      <p:sp>
        <p:nvSpPr>
          <p:cNvPr id="34" name="Shape 31"/>
          <p:cNvSpPr/>
          <p:nvPr/>
        </p:nvSpPr>
        <p:spPr>
          <a:xfrm>
            <a:off x="329184" y="3904488"/>
            <a:ext cx="73152" cy="73152"/>
          </a:xfrm>
          <a:prstGeom prst="rect">
            <a:avLst/>
          </a:prstGeom>
          <a:solidFill>
            <a:srgbClr val="0070C0"/>
          </a:solidFill>
          <a:ln/>
        </p:spPr>
      </p:sp>
      <p:sp>
        <p:nvSpPr>
          <p:cNvPr id="35" name="Text 32"/>
          <p:cNvSpPr/>
          <p:nvPr/>
        </p:nvSpPr>
        <p:spPr>
          <a:xfrm>
            <a:off x="512064" y="3840480"/>
            <a:ext cx="1737360" cy="292608"/>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Uncertainty from TLEs</a:t>
            </a:r>
            <a:endParaRPr lang="en-US" sz="950" dirty="0"/>
          </a:p>
        </p:txBody>
      </p:sp>
      <p:sp>
        <p:nvSpPr>
          <p:cNvPr id="36" name="Text 33"/>
          <p:cNvSpPr/>
          <p:nvPr/>
        </p:nvSpPr>
        <p:spPr>
          <a:xfrm>
            <a:off x="2267712" y="3840480"/>
            <a:ext cx="3218688" cy="292608"/>
          </a:xfrm>
          <a:prstGeom prst="rect">
            <a:avLst/>
          </a:prstGeom>
          <a:noFill/>
          <a:ln/>
        </p:spPr>
        <p:txBody>
          <a:bodyPr wrap="square" lIns="0" tIns="0" rIns="0" bIns="0" rtlCol="0" anchor="t"/>
          <a:lstStyle/>
          <a:p>
            <a:pPr indent="0" marL="0">
              <a:lnSpc>
                <a:spcPts val="1100"/>
              </a:lnSpc>
              <a:buNone/>
            </a:pPr>
            <a:r>
              <a:rPr lang="en-US" sz="950" dirty="0">
                <a:solidFill>
                  <a:srgbClr val="333333"/>
                </a:solidFill>
                <a:latin typeface="Calibri" pitchFamily="34" charset="0"/>
                <a:ea typeface="Calibri" pitchFamily="34" charset="-122"/>
                <a:cs typeface="Calibri" pitchFamily="34" charset="-120"/>
              </a:rPr>
              <a:t>Flohrer et al., TLE orbit error categorisation, AMOS 2008</a:t>
            </a:r>
            <a:endParaRPr lang="en-US" sz="950" dirty="0"/>
          </a:p>
        </p:txBody>
      </p:sp>
      <p:sp>
        <p:nvSpPr>
          <p:cNvPr id="37" name="Text 34"/>
          <p:cNvSpPr/>
          <p:nvPr/>
        </p:nvSpPr>
        <p:spPr>
          <a:xfrm>
            <a:off x="5705856" y="1298448"/>
            <a:ext cx="4663440" cy="182880"/>
          </a:xfrm>
          <a:prstGeom prst="rect">
            <a:avLst/>
          </a:prstGeom>
          <a:noFill/>
          <a:ln/>
        </p:spPr>
        <p:txBody>
          <a:bodyPr wrap="square" lIns="0" tIns="0" rIns="0" bIns="0" rtlCol="0" anchor="ctr"/>
          <a:lstStyle/>
          <a:p>
            <a:pPr indent="0" marL="0">
              <a:buNone/>
            </a:pPr>
            <a:r>
              <a:rPr lang="en-US" sz="850" b="1" spc="90" kern="0" dirty="0">
                <a:solidFill>
                  <a:srgbClr val="1F497D"/>
                </a:solidFill>
                <a:latin typeface="Calibri" pitchFamily="34" charset="0"/>
                <a:ea typeface="Calibri" pitchFamily="34" charset="-122"/>
                <a:cs typeface="Calibri" pitchFamily="34" charset="-120"/>
              </a:rPr>
              <a:t>DATA SOURCES AND INDIAN CONTEXT</a:t>
            </a:r>
            <a:endParaRPr lang="en-US" sz="850" dirty="0"/>
          </a:p>
        </p:txBody>
      </p:sp>
      <p:sp>
        <p:nvSpPr>
          <p:cNvPr id="38" name="Shape 35"/>
          <p:cNvSpPr/>
          <p:nvPr/>
        </p:nvSpPr>
        <p:spPr>
          <a:xfrm>
            <a:off x="5724144" y="1600200"/>
            <a:ext cx="73152" cy="73152"/>
          </a:xfrm>
          <a:prstGeom prst="rect">
            <a:avLst/>
          </a:prstGeom>
          <a:solidFill>
            <a:srgbClr val="1E7A4C"/>
          </a:solidFill>
          <a:ln/>
        </p:spPr>
      </p:sp>
      <p:sp>
        <p:nvSpPr>
          <p:cNvPr id="39" name="Text 36"/>
          <p:cNvSpPr/>
          <p:nvPr/>
        </p:nvSpPr>
        <p:spPr>
          <a:xfrm>
            <a:off x="5907024" y="1536192"/>
            <a:ext cx="2011680" cy="365760"/>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CelesTrak GP catalogue</a:t>
            </a:r>
            <a:endParaRPr lang="en-US" sz="950" dirty="0"/>
          </a:p>
        </p:txBody>
      </p:sp>
      <p:sp>
        <p:nvSpPr>
          <p:cNvPr id="40" name="Text 37"/>
          <p:cNvSpPr/>
          <p:nvPr/>
        </p:nvSpPr>
        <p:spPr>
          <a:xfrm>
            <a:off x="7955280" y="1536192"/>
            <a:ext cx="2414016" cy="365760"/>
          </a:xfrm>
          <a:prstGeom prst="rect">
            <a:avLst/>
          </a:prstGeom>
          <a:noFill/>
          <a:ln/>
        </p:spPr>
        <p:txBody>
          <a:bodyPr wrap="square" lIns="0" tIns="0" rIns="0" bIns="0" rtlCol="0" anchor="t"/>
          <a:lstStyle/>
          <a:p>
            <a:pPr indent="0" marL="0">
              <a:lnSpc>
                <a:spcPts val="1050"/>
              </a:lnSpc>
              <a:buNone/>
            </a:pPr>
            <a:r>
              <a:rPr lang="en-US" sz="900" dirty="0">
                <a:solidFill>
                  <a:srgbClr val="333333"/>
                </a:solidFill>
                <a:latin typeface="Calibri" pitchFamily="34" charset="0"/>
                <a:ea typeface="Calibri" pitchFamily="34" charset="-122"/>
                <a:cs typeface="Calibri" pitchFamily="34" charset="-120"/>
              </a:rPr>
              <a:t>celestrak.org — free, no sign-up. 859 objects across 5 groups.</a:t>
            </a:r>
            <a:endParaRPr lang="en-US" sz="900" dirty="0"/>
          </a:p>
        </p:txBody>
      </p:sp>
      <p:sp>
        <p:nvSpPr>
          <p:cNvPr id="41" name="Shape 38"/>
          <p:cNvSpPr/>
          <p:nvPr/>
        </p:nvSpPr>
        <p:spPr>
          <a:xfrm>
            <a:off x="5724144" y="1984248"/>
            <a:ext cx="73152" cy="73152"/>
          </a:xfrm>
          <a:prstGeom prst="rect">
            <a:avLst/>
          </a:prstGeom>
          <a:solidFill>
            <a:srgbClr val="1E7A4C"/>
          </a:solidFill>
          <a:ln/>
        </p:spPr>
      </p:sp>
      <p:sp>
        <p:nvSpPr>
          <p:cNvPr id="42" name="Text 39"/>
          <p:cNvSpPr/>
          <p:nvPr/>
        </p:nvSpPr>
        <p:spPr>
          <a:xfrm>
            <a:off x="5907024" y="1920240"/>
            <a:ext cx="2011680" cy="365760"/>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ISSAR 2024</a:t>
            </a:r>
            <a:endParaRPr lang="en-US" sz="950" dirty="0"/>
          </a:p>
        </p:txBody>
      </p:sp>
      <p:sp>
        <p:nvSpPr>
          <p:cNvPr id="43" name="Text 40"/>
          <p:cNvSpPr/>
          <p:nvPr/>
        </p:nvSpPr>
        <p:spPr>
          <a:xfrm>
            <a:off x="7955280" y="1920240"/>
            <a:ext cx="2414016" cy="365760"/>
          </a:xfrm>
          <a:prstGeom prst="rect">
            <a:avLst/>
          </a:prstGeom>
          <a:noFill/>
          <a:ln/>
        </p:spPr>
        <p:txBody>
          <a:bodyPr wrap="square" lIns="0" tIns="0" rIns="0" bIns="0" rtlCol="0" anchor="t"/>
          <a:lstStyle/>
          <a:p>
            <a:pPr indent="0" marL="0">
              <a:lnSpc>
                <a:spcPts val="1050"/>
              </a:lnSpc>
              <a:buNone/>
            </a:pPr>
            <a:r>
              <a:rPr lang="en-US" sz="900" dirty="0">
                <a:solidFill>
                  <a:srgbClr val="333333"/>
                </a:solidFill>
                <a:latin typeface="Calibri" pitchFamily="34" charset="0"/>
                <a:ea typeface="Calibri" pitchFamily="34" charset="-122"/>
                <a:cs typeface="Calibri" pitchFamily="34" charset="-120"/>
              </a:rPr>
              <a:t>isro.gov.in/ISSAR_2024.html — 53,000+ alerts, 10 CAMs in 2024</a:t>
            </a:r>
            <a:endParaRPr lang="en-US" sz="900" dirty="0"/>
          </a:p>
        </p:txBody>
      </p:sp>
      <p:sp>
        <p:nvSpPr>
          <p:cNvPr id="44" name="Shape 41"/>
          <p:cNvSpPr/>
          <p:nvPr/>
        </p:nvSpPr>
        <p:spPr>
          <a:xfrm>
            <a:off x="5724144" y="2368296"/>
            <a:ext cx="73152" cy="73152"/>
          </a:xfrm>
          <a:prstGeom prst="rect">
            <a:avLst/>
          </a:prstGeom>
          <a:solidFill>
            <a:srgbClr val="1E7A4C"/>
          </a:solidFill>
          <a:ln/>
        </p:spPr>
      </p:sp>
      <p:sp>
        <p:nvSpPr>
          <p:cNvPr id="45" name="Text 42"/>
          <p:cNvSpPr/>
          <p:nvPr/>
        </p:nvSpPr>
        <p:spPr>
          <a:xfrm>
            <a:off x="5907024" y="2304288"/>
            <a:ext cx="2011680" cy="365760"/>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Lok Sabha reply, Aug 2026</a:t>
            </a:r>
            <a:endParaRPr lang="en-US" sz="950" dirty="0"/>
          </a:p>
        </p:txBody>
      </p:sp>
      <p:sp>
        <p:nvSpPr>
          <p:cNvPr id="46" name="Text 43"/>
          <p:cNvSpPr/>
          <p:nvPr/>
        </p:nvSpPr>
        <p:spPr>
          <a:xfrm>
            <a:off x="7955280" y="2304288"/>
            <a:ext cx="2414016" cy="365760"/>
          </a:xfrm>
          <a:prstGeom prst="rect">
            <a:avLst/>
          </a:prstGeom>
          <a:noFill/>
          <a:ln/>
        </p:spPr>
        <p:txBody>
          <a:bodyPr wrap="square" lIns="0" tIns="0" rIns="0" bIns="0" rtlCol="0" anchor="t"/>
          <a:lstStyle/>
          <a:p>
            <a:pPr indent="0" marL="0">
              <a:lnSpc>
                <a:spcPts val="1050"/>
              </a:lnSpc>
              <a:buNone/>
            </a:pPr>
            <a:r>
              <a:rPr lang="en-US" sz="900" dirty="0">
                <a:solidFill>
                  <a:srgbClr val="333333"/>
                </a:solidFill>
                <a:latin typeface="Calibri" pitchFamily="34" charset="0"/>
                <a:ea typeface="Calibri" pitchFamily="34" charset="-122"/>
                <a:cs typeface="Calibri" pitchFamily="34" charset="-120"/>
              </a:rPr>
              <a:t>20 of 22 active Indian LEO satellites at elevated risk; 20 CAMs flown in 2025</a:t>
            </a:r>
            <a:endParaRPr lang="en-US" sz="900" dirty="0"/>
          </a:p>
        </p:txBody>
      </p:sp>
      <p:sp>
        <p:nvSpPr>
          <p:cNvPr id="47" name="Shape 44"/>
          <p:cNvSpPr/>
          <p:nvPr/>
        </p:nvSpPr>
        <p:spPr>
          <a:xfrm>
            <a:off x="5724144" y="2752344"/>
            <a:ext cx="73152" cy="73152"/>
          </a:xfrm>
          <a:prstGeom prst="rect">
            <a:avLst/>
          </a:prstGeom>
          <a:solidFill>
            <a:srgbClr val="1E7A4C"/>
          </a:solidFill>
          <a:ln/>
        </p:spPr>
      </p:sp>
      <p:sp>
        <p:nvSpPr>
          <p:cNvPr id="48" name="Text 45"/>
          <p:cNvSpPr/>
          <p:nvPr/>
        </p:nvSpPr>
        <p:spPr>
          <a:xfrm>
            <a:off x="5907024" y="2688336"/>
            <a:ext cx="2011680" cy="365760"/>
          </a:xfrm>
          <a:prstGeom prst="rect">
            <a:avLst/>
          </a:prstGeom>
          <a:noFill/>
          <a:ln/>
        </p:spPr>
        <p:txBody>
          <a:bodyPr wrap="square" lIns="0" tIns="0" rIns="0" bIns="0" rtlCol="0" anchor="t"/>
          <a:lstStyle/>
          <a:p>
            <a:pPr indent="0" marL="0">
              <a:lnSpc>
                <a:spcPts val="1100"/>
              </a:lnSpc>
              <a:buNone/>
            </a:pPr>
            <a:r>
              <a:rPr lang="en-US" sz="950" b="1" dirty="0">
                <a:solidFill>
                  <a:srgbClr val="111111"/>
                </a:solidFill>
                <a:latin typeface="Calibri" pitchFamily="34" charset="0"/>
                <a:ea typeface="Calibri" pitchFamily="34" charset="-122"/>
                <a:cs typeface="Calibri" pitchFamily="34" charset="-120"/>
              </a:rPr>
              <a:t>Debris Free Space Missions</a:t>
            </a:r>
            <a:endParaRPr lang="en-US" sz="950" dirty="0"/>
          </a:p>
        </p:txBody>
      </p:sp>
      <p:sp>
        <p:nvSpPr>
          <p:cNvPr id="49" name="Text 46"/>
          <p:cNvSpPr/>
          <p:nvPr/>
        </p:nvSpPr>
        <p:spPr>
          <a:xfrm>
            <a:off x="7955280" y="2688336"/>
            <a:ext cx="2414016" cy="365760"/>
          </a:xfrm>
          <a:prstGeom prst="rect">
            <a:avLst/>
          </a:prstGeom>
          <a:noFill/>
          <a:ln/>
        </p:spPr>
        <p:txBody>
          <a:bodyPr wrap="square" lIns="0" tIns="0" rIns="0" bIns="0" rtlCol="0" anchor="t"/>
          <a:lstStyle/>
          <a:p>
            <a:pPr indent="0" marL="0">
              <a:lnSpc>
                <a:spcPts val="1050"/>
              </a:lnSpc>
              <a:buNone/>
            </a:pPr>
            <a:r>
              <a:rPr lang="en-US" sz="900" dirty="0">
                <a:solidFill>
                  <a:srgbClr val="333333"/>
                </a:solidFill>
                <a:latin typeface="Calibri" pitchFamily="34" charset="0"/>
                <a:ea typeface="Calibri" pitchFamily="34" charset="-122"/>
                <a:cs typeface="Calibri" pitchFamily="34" charset="-120"/>
              </a:rPr>
              <a:t>isro.gov.in/Debris_Free_Space_Missions.html — India’s 2030 target</a:t>
            </a:r>
            <a:endParaRPr lang="en-US" sz="900" dirty="0"/>
          </a:p>
        </p:txBody>
      </p:sp>
      <p:sp>
        <p:nvSpPr>
          <p:cNvPr id="50" name="Shape 47"/>
          <p:cNvSpPr/>
          <p:nvPr/>
        </p:nvSpPr>
        <p:spPr>
          <a:xfrm>
            <a:off x="5705856" y="3163824"/>
            <a:ext cx="4663440" cy="1097280"/>
          </a:xfrm>
          <a:prstGeom prst="roundRect">
            <a:avLst>
              <a:gd name="adj" fmla="val 2500"/>
            </a:avLst>
          </a:prstGeom>
          <a:solidFill>
            <a:srgbClr val="FFFFFF"/>
          </a:solidFill>
          <a:ln w="9525">
            <a:solidFill>
              <a:srgbClr val="D4DAE2"/>
            </a:solidFill>
            <a:prstDash val="solid"/>
          </a:ln>
        </p:spPr>
      </p:sp>
      <p:sp>
        <p:nvSpPr>
          <p:cNvPr id="51" name="Text 48"/>
          <p:cNvSpPr/>
          <p:nvPr/>
        </p:nvSpPr>
        <p:spPr>
          <a:xfrm>
            <a:off x="5907024" y="3291840"/>
            <a:ext cx="4206240" cy="182880"/>
          </a:xfrm>
          <a:prstGeom prst="rect">
            <a:avLst/>
          </a:prstGeom>
          <a:noFill/>
          <a:ln/>
        </p:spPr>
        <p:txBody>
          <a:bodyPr wrap="square" lIns="0" tIns="0" rIns="0" bIns="0" rtlCol="0" anchor="ctr"/>
          <a:lstStyle/>
          <a:p>
            <a:pPr indent="0" marL="0">
              <a:buNone/>
            </a:pPr>
            <a:r>
              <a:rPr lang="en-US" sz="850" b="1" spc="90" kern="0" dirty="0">
                <a:solidFill>
                  <a:srgbClr val="B3261E"/>
                </a:solidFill>
                <a:latin typeface="Calibri" pitchFamily="34" charset="0"/>
                <a:ea typeface="Calibri" pitchFamily="34" charset="-122"/>
                <a:cs typeface="Calibri" pitchFamily="34" charset="-120"/>
              </a:rPr>
              <a:t>WHY THERE IS NO MACHINE-LEARNING MODEL</a:t>
            </a:r>
            <a:endParaRPr lang="en-US" sz="850" dirty="0"/>
          </a:p>
        </p:txBody>
      </p:sp>
      <p:sp>
        <p:nvSpPr>
          <p:cNvPr id="52" name="Text 49"/>
          <p:cNvSpPr/>
          <p:nvPr/>
        </p:nvSpPr>
        <p:spPr>
          <a:xfrm>
            <a:off x="5907024" y="3511296"/>
            <a:ext cx="4261104" cy="676656"/>
          </a:xfrm>
          <a:prstGeom prst="rect">
            <a:avLst/>
          </a:prstGeom>
          <a:noFill/>
          <a:ln/>
        </p:spPr>
        <p:txBody>
          <a:bodyPr wrap="square" lIns="0" tIns="0" rIns="0" bIns="0" rtlCol="0" anchor="t"/>
          <a:lstStyle/>
          <a:p>
            <a:pPr indent="0" marL="0">
              <a:lnSpc>
                <a:spcPts val="1150"/>
              </a:lnSpc>
              <a:buNone/>
            </a:pPr>
            <a:r>
              <a:rPr lang="en-US" sz="950" dirty="0">
                <a:solidFill>
                  <a:srgbClr val="333333"/>
                </a:solidFill>
                <a:latin typeface="Calibri" pitchFamily="34" charset="0"/>
                <a:ea typeface="Calibri" pitchFamily="34" charset="-122"/>
                <a:cs typeface="Calibri" pitchFamily="34" charset="-120"/>
              </a:rPr>
              <a:t>ESA ran this exact competition on 13,154 real conjunction events. The naive baseline — reuse the risk in the most recent CDM — beat almost every model submitted; a later benchmark found roughly 1 model in 5,000 beat it, by 1.4%. We spent that effort on measuring uncertainty instead.</a:t>
            </a:r>
            <a:endParaRPr lang="en-US" sz="950" dirty="0"/>
          </a:p>
        </p:txBody>
      </p:sp>
      <p:sp>
        <p:nvSpPr>
          <p:cNvPr id="53" name="Shape 50"/>
          <p:cNvSpPr/>
          <p:nvPr/>
        </p:nvSpPr>
        <p:spPr>
          <a:xfrm>
            <a:off x="310896" y="4352544"/>
            <a:ext cx="10058400" cy="1115568"/>
          </a:xfrm>
          <a:prstGeom prst="roundRect">
            <a:avLst>
              <a:gd name="adj" fmla="val 2459"/>
            </a:avLst>
          </a:prstGeom>
          <a:solidFill>
            <a:srgbClr val="F2F6FA"/>
          </a:solidFill>
          <a:ln w="9525">
            <a:solidFill>
              <a:srgbClr val="D4DAE2"/>
            </a:solidFill>
            <a:prstDash val="solid"/>
          </a:ln>
        </p:spPr>
      </p:sp>
      <p:sp>
        <p:nvSpPr>
          <p:cNvPr id="54" name="Shape 51"/>
          <p:cNvSpPr/>
          <p:nvPr/>
        </p:nvSpPr>
        <p:spPr>
          <a:xfrm>
            <a:off x="310896" y="4352544"/>
            <a:ext cx="64008" cy="1115568"/>
          </a:xfrm>
          <a:prstGeom prst="rect">
            <a:avLst/>
          </a:prstGeom>
          <a:solidFill>
            <a:srgbClr val="1F497D"/>
          </a:solidFill>
          <a:ln/>
        </p:spPr>
      </p:sp>
      <p:sp>
        <p:nvSpPr>
          <p:cNvPr id="55" name="Text 52"/>
          <p:cNvSpPr/>
          <p:nvPr/>
        </p:nvSpPr>
        <p:spPr>
          <a:xfrm>
            <a:off x="512064" y="4443984"/>
            <a:ext cx="9509760" cy="182880"/>
          </a:xfrm>
          <a:prstGeom prst="rect">
            <a:avLst/>
          </a:prstGeom>
          <a:noFill/>
          <a:ln/>
        </p:spPr>
        <p:txBody>
          <a:bodyPr wrap="square" lIns="0" tIns="0" rIns="0" bIns="0" rtlCol="0" anchor="ctr"/>
          <a:lstStyle/>
          <a:p>
            <a:pPr indent="0" marL="0">
              <a:buNone/>
            </a:pPr>
            <a:r>
              <a:rPr lang="en-US" sz="850" b="1" spc="90" kern="0" dirty="0">
                <a:solidFill>
                  <a:srgbClr val="1F497D"/>
                </a:solidFill>
                <a:latin typeface="Calibri" pitchFamily="34" charset="0"/>
                <a:ea typeface="Calibri" pitchFamily="34" charset="-122"/>
                <a:cs typeface="Calibri" pitchFamily="34" charset="-120"/>
              </a:rPr>
              <a:t>PROTOTYPE, ENGINE AND EVERY FIGURE IN THIS DECK</a:t>
            </a:r>
            <a:endParaRPr lang="en-US" sz="850" dirty="0"/>
          </a:p>
        </p:txBody>
      </p:sp>
      <p:sp>
        <p:nvSpPr>
          <p:cNvPr id="56" name="Text 53"/>
          <p:cNvSpPr/>
          <p:nvPr/>
        </p:nvSpPr>
        <p:spPr>
          <a:xfrm>
            <a:off x="512064" y="4626864"/>
            <a:ext cx="4754880" cy="256032"/>
          </a:xfrm>
          <a:prstGeom prst="rect">
            <a:avLst/>
          </a:prstGeom>
          <a:noFill/>
          <a:ln/>
        </p:spPr>
        <p:txBody>
          <a:bodyPr wrap="square" lIns="0" tIns="0" rIns="0" bIns="0" rtlCol="0" anchor="ctr"/>
          <a:lstStyle/>
          <a:p>
            <a:pPr indent="0" marL="0">
              <a:buNone/>
            </a:pPr>
            <a:r>
              <a:rPr lang="en-US" sz="1250" b="1" dirty="0">
                <a:solidFill>
                  <a:srgbClr val="0070C0"/>
                </a:solidFill>
                <a:latin typeface="Calibri" pitchFamily="34" charset="0"/>
                <a:ea typeface="Calibri" pitchFamily="34" charset="-122"/>
                <a:cs typeface="Calibri" pitchFamily="34" charset="-120"/>
              </a:rPr>
              <a:t>github.com/agpriyanshu07/SIH-Internal-NITR-2</a:t>
            </a:r>
            <a:endParaRPr lang="en-US" sz="1250" dirty="0"/>
          </a:p>
        </p:txBody>
      </p:sp>
      <p:sp>
        <p:nvSpPr>
          <p:cNvPr id="57" name="Text 54"/>
          <p:cNvSpPr/>
          <p:nvPr/>
        </p:nvSpPr>
        <p:spPr>
          <a:xfrm>
            <a:off x="512064" y="4901184"/>
            <a:ext cx="9692640" cy="237744"/>
          </a:xfrm>
          <a:prstGeom prst="rect">
            <a:avLst/>
          </a:prstGeom>
          <a:noFill/>
          <a:ln/>
        </p:spPr>
        <p:txBody>
          <a:bodyPr wrap="square" lIns="0" tIns="0" rIns="0" bIns="0" rtlCol="0" anchor="ctr"/>
          <a:lstStyle/>
          <a:p>
            <a:pPr indent="0" marL="0">
              <a:buNone/>
            </a:pPr>
            <a:r>
              <a:rPr lang="en-US" sz="950" dirty="0">
                <a:solidFill>
                  <a:srgbClr val="333333"/>
                </a:solidFill>
                <a:latin typeface="Calibri" pitchFamily="34" charset="0"/>
                <a:ea typeface="Calibri" pitchFamily="34" charset="-122"/>
                <a:cs typeface="Calibri" pitchFamily="34" charset="-120"/>
              </a:rPr>
              <a:t>npm run validate  reproduces all 62 engine checks  ·  npm run screen  reproduces all 3,032 events  ·  npm run scaling  re-measures the ≈1.73 scaling exponent</a:t>
            </a:r>
            <a:endParaRPr lang="en-US" sz="950" dirty="0"/>
          </a:p>
        </p:txBody>
      </p:sp>
      <p:sp>
        <p:nvSpPr>
          <p:cNvPr id="58" name="Text 55"/>
          <p:cNvSpPr/>
          <p:nvPr/>
        </p:nvSpPr>
        <p:spPr>
          <a:xfrm>
            <a:off x="512064" y="5157216"/>
            <a:ext cx="9692640" cy="237744"/>
          </a:xfrm>
          <a:prstGeom prst="rect">
            <a:avLst/>
          </a:prstGeom>
          <a:noFill/>
          <a:ln/>
        </p:spPr>
        <p:txBody>
          <a:bodyPr wrap="square" lIns="0" tIns="0" rIns="0" bIns="0" rtlCol="0" anchor="ctr"/>
          <a:lstStyle/>
          <a:p>
            <a:pPr indent="0" marL="0">
              <a:buNone/>
            </a:pPr>
            <a:r>
              <a:rPr lang="en-US" sz="950" i="1" dirty="0">
                <a:solidFill>
                  <a:srgbClr val="5A6673"/>
                </a:solidFill>
                <a:latin typeface="Calibri" pitchFamily="34" charset="0"/>
                <a:ea typeface="Calibri" pitchFamily="34" charset="-122"/>
                <a:cs typeface="Calibri" pitchFamily="34" charset="-120"/>
              </a:rPr>
              <a:t>No figure in this presentation is estimated, projected or illustrative. Each one is either measured by the prototype or cited above.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2026-08-26T16:05:29Z</dcterms:created>
  <dcterms:modified xsi:type="dcterms:W3CDTF">2026-08-26T16:05:29Z</dcterms:modified>
</cp:coreProperties>
</file>