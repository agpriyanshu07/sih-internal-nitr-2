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2139696"/>
            <a:ext cx="4956048" cy="228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900"/>
              </a:lnSpc>
              <a:spcAft>
                <a:spcPts val="650"/>
              </a:spcAft>
            </a:pPr>
            <a:r>
              <a:rPr sz="1450" b="1">
                <a:solidFill>
                  <a:srgbClr val="152233"/>
                </a:solidFill>
                <a:latin typeface="Arial"/>
              </a:rPr>
              <a:t>Problem Statement ID – </a:t>
            </a:r>
            <a:r>
              <a:rPr sz="1450" b="0">
                <a:solidFill>
                  <a:srgbClr val="44546A"/>
                </a:solidFill>
                <a:latin typeface="Arial"/>
              </a:rPr>
              <a:t>PS-04</a:t>
            </a:r>
            <a:endParaRPr lang="en-US" dirty="0"/>
          </a:p>
          <a:p>
            <a:pPr>
              <a:lnSpc>
                <a:spcPts val="1900"/>
              </a:lnSpc>
              <a:spcAft>
                <a:spcPts val="650"/>
              </a:spcAft>
            </a:pPr>
            <a:r>
              <a:rPr sz="1450" b="1">
                <a:solidFill>
                  <a:srgbClr val="152233"/>
                </a:solidFill>
                <a:latin typeface="Arial"/>
              </a:rPr>
              <a:t>Problem Statement Title – </a:t>
            </a:r>
            <a:r>
              <a:rPr sz="1450" b="0">
                <a:solidFill>
                  <a:srgbClr val="44546A"/>
                </a:solidFill>
                <a:latin typeface="Arial"/>
              </a:rPr>
              <a:t>Space Debris Tracking &amp; Satellite Collision Risk Prediction Dashboard</a:t>
            </a:r>
          </a:p>
          <a:p>
            <a:pPr>
              <a:lnSpc>
                <a:spcPts val="1900"/>
              </a:lnSpc>
              <a:spcAft>
                <a:spcPts val="650"/>
              </a:spcAft>
            </a:pPr>
            <a:r>
              <a:rPr sz="1450" b="1">
                <a:solidFill>
                  <a:srgbClr val="152233"/>
                </a:solidFill>
                <a:latin typeface="Arial"/>
              </a:rPr>
              <a:t>Theme – </a:t>
            </a:r>
            <a:r>
              <a:rPr sz="1450" b="0">
                <a:solidFill>
                  <a:srgbClr val="44546A"/>
                </a:solidFill>
                <a:latin typeface="Arial"/>
              </a:rPr>
              <a:t>Space Technology</a:t>
            </a:r>
          </a:p>
          <a:p>
            <a:pPr>
              <a:lnSpc>
                <a:spcPts val="1900"/>
              </a:lnSpc>
              <a:spcAft>
                <a:spcPts val="650"/>
              </a:spcAft>
            </a:pPr>
            <a:r>
              <a:rPr sz="1450" b="1">
                <a:solidFill>
                  <a:srgbClr val="152233"/>
                </a:solidFill>
                <a:latin typeface="Arial"/>
              </a:rPr>
              <a:t>PS Category – </a:t>
            </a:r>
            <a:r>
              <a:rPr sz="1450" b="0">
                <a:solidFill>
                  <a:srgbClr val="44546A"/>
                </a:solidFill>
                <a:latin typeface="Arial"/>
              </a:rPr>
              <a:t>Software</a:t>
            </a:r>
          </a:p>
          <a:p>
            <a:pPr>
              <a:lnSpc>
                <a:spcPts val="1900"/>
              </a:lnSpc>
              <a:spcAft>
                <a:spcPts val="650"/>
              </a:spcAft>
            </a:pPr>
            <a:r>
              <a:rPr sz="1450" b="1">
                <a:solidFill>
                  <a:srgbClr val="152233"/>
                </a:solidFill>
                <a:latin typeface="Arial"/>
              </a:rPr>
              <a:t>Team ID – </a:t>
            </a:r>
            <a:r>
              <a:rPr sz="1450" b="0">
                <a:solidFill>
                  <a:srgbClr val="44546A"/>
                </a:solidFill>
                <a:latin typeface="Arial"/>
              </a:rPr>
              <a:t>&lt;TEAM ID&gt;</a:t>
            </a:r>
          </a:p>
          <a:p>
            <a:pPr>
              <a:lnSpc>
                <a:spcPts val="1900"/>
              </a:lnSpc>
              <a:spcAft>
                <a:spcPts val="650"/>
              </a:spcAft>
            </a:pPr>
            <a:r>
              <a:rPr sz="1450" b="1">
                <a:solidFill>
                  <a:srgbClr val="152233"/>
                </a:solidFill>
                <a:latin typeface="Arial"/>
              </a:rPr>
              <a:t>Team Name (Registered on portal) – </a:t>
            </a:r>
            <a:r>
              <a:rPr sz="1450" b="0">
                <a:solidFill>
                  <a:srgbClr val="44546A"/>
                </a:solidFill>
                <a:latin typeface="Arial"/>
              </a:rPr>
              <a:t>&lt;TEAM NAME&gt;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566928" y="4572000"/>
            <a:ext cx="4956048" cy="1755648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4572000"/>
            <a:ext cx="32004" cy="1755648"/>
          </a:xfrm>
          <a:prstGeom prst="rect">
            <a:avLst/>
          </a:prstGeom>
          <a:solidFill>
            <a:srgbClr val="F29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4745736"/>
            <a:ext cx="4480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40" b="1" i="0" spc="160">
                <a:solidFill>
                  <a:srgbClr val="F2913F"/>
                </a:solidFill>
                <a:latin typeface="Arial"/>
              </a:rPr>
              <a:t>THE IDEA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" y="4937760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 spc="70">
                <a:solidFill>
                  <a:srgbClr val="EEF3F9"/>
                </a:solidFill>
                <a:latin typeface="Arial"/>
              </a:rPr>
              <a:t>KESSLER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" y="5376672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9DAEC1"/>
                </a:solidFill>
                <a:latin typeface="Arial"/>
              </a:rPr>
              <a:t>A conjunction screening console that ranks which close approaches are worth acting on — and says what would have to be true for each one to stop mattering.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" y="597103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EEF3F9"/>
                </a:solidFill>
                <a:latin typeface="Arial"/>
              </a:rPr>
              <a:t>859 OBJECTS</a:t>
            </a:r>
            <a:r>
              <a:rPr sz="780" b="0" i="0">
                <a:solidFill>
                  <a:srgbClr val="6B7F94"/>
                </a:solidFill>
                <a:latin typeface="Arial"/>
              </a:rPr>
              <a:t>   ·   </a:t>
            </a:r>
            <a:r>
              <a:rPr sz="780" b="1" i="0">
                <a:solidFill>
                  <a:srgbClr val="EEF3F9"/>
                </a:solidFill>
                <a:latin typeface="Arial"/>
              </a:rPr>
              <a:t>3,032 EVENTS / 72 h</a:t>
            </a:r>
            <a:r>
              <a:rPr sz="780" b="0" i="0">
                <a:solidFill>
                  <a:srgbClr val="6B7F94"/>
                </a:solidFill>
                <a:latin typeface="Arial"/>
              </a:rPr>
              <a:t>   ·   </a:t>
            </a:r>
            <a:r>
              <a:rPr sz="780" b="1" i="0">
                <a:solidFill>
                  <a:srgbClr val="F2913F"/>
                </a:solidFill>
                <a:latin typeface="Arial"/>
              </a:rPr>
              <a:t>NO BACKEND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anchor="ctr"/>
          <a:lstStyle/>
          <a:p>
            <a:pPr eaLnBrk="1" hangingPunct="1" algn="ctr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00000"/>
                </a:solidFill>
                <a:latin typeface="Times New Roman"/>
              </a:rPr>
              <a:t>KESSLER</a:t>
            </a:r>
          </a:p>
          <a:p>
            <a:pPr algn="ctr">
              <a:lnSpc>
                <a:spcPts val="1600"/>
              </a:lnSpc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44546A"/>
                </a:solidFill>
                <a:latin typeface="Arial"/>
              </a:rPr>
              <a:t>Conjunction screening console for Low Earth Orbit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sz="1100" b="1">
                <a:solidFill>
                  <a:srgbClr val="333333"/>
                </a:solidFill>
                <a:latin typeface="Arial"/>
              </a:rPr>
              <a:t>&lt;TEAM NAME&gt;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384048" y="1170432"/>
            <a:ext cx="11420856" cy="73152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63" name="Rectangle 15362"/>
          <p:cNvSpPr/>
          <p:nvPr/>
        </p:nvSpPr>
        <p:spPr>
          <a:xfrm>
            <a:off x="384048" y="1170432"/>
            <a:ext cx="32004" cy="731520"/>
          </a:xfrm>
          <a:prstGeom prst="rect">
            <a:avLst/>
          </a:prstGeom>
          <a:solidFill>
            <a:srgbClr val="F29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64" name="TextBox 15363"/>
          <p:cNvSpPr txBox="1"/>
          <p:nvPr/>
        </p:nvSpPr>
        <p:spPr>
          <a:xfrm>
            <a:off x="621792" y="1257300"/>
            <a:ext cx="73609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60" b="1" i="0" spc="145">
                <a:solidFill>
                  <a:srgbClr val="F2913F"/>
                </a:solidFill>
                <a:latin typeface="Arial"/>
              </a:rPr>
              <a:t>PROPOSED SOLUTION · DESCRIBE YOUR IDEA / SOLUTION / PROTOTYPE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621792" y="1440180"/>
            <a:ext cx="7360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9DAEC1"/>
                </a:solidFill>
                <a:latin typeface="Arial"/>
              </a:rPr>
              <a:t>An operations console for Low Earth Orbit: </a:t>
            </a:r>
            <a:r>
              <a:rPr sz="1260" b="1" i="0">
                <a:solidFill>
                  <a:srgbClr val="EEF3F9"/>
                </a:solidFill>
                <a:latin typeface="Arial"/>
              </a:rPr>
              <a:t>it finds every close approach in the catalogue, ranks them, and defends the ranking.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10799064" y="1330452"/>
            <a:ext cx="78638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EF3F9"/>
                </a:solidFill>
                <a:latin typeface="Arial"/>
              </a:rPr>
              <a:t>15.1 s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10799064" y="1604772"/>
            <a:ext cx="78638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90" b="1" i="0" spc="80">
                <a:solidFill>
                  <a:srgbClr val="6B7F94"/>
                </a:solidFill>
                <a:latin typeface="Arial"/>
              </a:rPr>
              <a:t>FULL RUN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9598914" y="1330452"/>
            <a:ext cx="92583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EF3F9"/>
                </a:solidFill>
                <a:latin typeface="Arial"/>
              </a:rPr>
              <a:t>3,032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9598914" y="1604772"/>
            <a:ext cx="92583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90" b="1" i="0" spc="80">
                <a:solidFill>
                  <a:srgbClr val="6B7F94"/>
                </a:solidFill>
                <a:latin typeface="Arial"/>
              </a:rPr>
              <a:t>EVENTS / 72 H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8538210" y="1330452"/>
            <a:ext cx="78638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EF3F9"/>
                </a:solidFill>
                <a:latin typeface="Arial"/>
              </a:rPr>
              <a:t>859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8538210" y="1604772"/>
            <a:ext cx="78638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90" b="1" i="0" spc="80">
                <a:solidFill>
                  <a:srgbClr val="6B7F94"/>
                </a:solidFill>
                <a:latin typeface="Arial"/>
              </a:rPr>
              <a:t>OBJECTS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384048" y="1993392"/>
            <a:ext cx="2304288" cy="23957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3" name="Rectangle 15372"/>
          <p:cNvSpPr/>
          <p:nvPr/>
        </p:nvSpPr>
        <p:spPr>
          <a:xfrm>
            <a:off x="384048" y="2093976"/>
            <a:ext cx="25603" cy="219456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4" name="TextBox 15373"/>
          <p:cNvSpPr txBox="1"/>
          <p:nvPr/>
        </p:nvSpPr>
        <p:spPr>
          <a:xfrm>
            <a:off x="525780" y="2112264"/>
            <a:ext cx="2020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94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10">
                <a:solidFill>
                  <a:srgbClr val="7F8FA2"/>
                </a:solidFill>
                <a:latin typeface="Arial"/>
              </a:rPr>
              <a:t>DETAILED EXPLANATION OF THE PROPOSED SOLUTION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525780" y="2386584"/>
            <a:ext cx="20208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52233"/>
                </a:solidFill>
                <a:latin typeface="Arial"/>
              </a:rPr>
              <a:t>Screen, rank, explain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525780" y="2807208"/>
            <a:ext cx="2020824" cy="1453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0C0"/>
                </a:solidFill>
                <a:latin typeface="Arial"/>
              </a:rPr>
              <a:t>▪  </a:t>
            </a:r>
            <a:r>
              <a:rPr sz="900" b="1" i="0">
                <a:solidFill>
                  <a:srgbClr val="152233"/>
                </a:solidFill>
                <a:latin typeface="Arial"/>
              </a:rPr>
              <a:t>Public CelesTrak TLEs</a:t>
            </a:r>
            <a:r>
              <a:rPr sz="900" b="0" i="0">
                <a:solidFill>
                  <a:srgbClr val="44546A"/>
                </a:solidFill>
                <a:latin typeface="Arial"/>
              </a:rPr>
              <a:t> → SGP4 propagation → exact time of closest approach → a 0–100 risk score.</a:t>
            </a:r>
          </a:p>
          <a:p>
            <a:pPr>
              <a:lnSpc>
                <a:spcPts val="1160"/>
              </a:lnSpc>
              <a:spcBef>
                <a:spcPts val="459"/>
              </a:spcBef>
              <a:spcAft>
                <a:spcPts val="0"/>
              </a:spcAft>
            </a:pPr>
            <a:r>
              <a:rPr sz="900" b="1" i="0">
                <a:solidFill>
                  <a:srgbClr val="0070C0"/>
                </a:solidFill>
                <a:latin typeface="Arial"/>
              </a:rPr>
              <a:t>▪  </a:t>
            </a:r>
            <a:r>
              <a:rPr sz="900" b="0" i="0">
                <a:solidFill>
                  <a:srgbClr val="44546A"/>
                </a:solidFill>
                <a:latin typeface="Arial"/>
              </a:rPr>
              <a:t>A cascade takes </a:t>
            </a:r>
            <a:r>
              <a:rPr sz="900" b="1" i="0">
                <a:solidFill>
                  <a:srgbClr val="152233"/>
                </a:solidFill>
                <a:latin typeface="Arial"/>
              </a:rPr>
              <a:t>368,511 pairs to 3,032 events</a:t>
            </a:r>
            <a:r>
              <a:rPr sz="900" b="0" i="0">
                <a:solidFill>
                  <a:srgbClr val="44546A"/>
                </a:solidFill>
                <a:latin typeface="Arial"/>
              </a:rPr>
              <a:t> in 15 s — in the browser.</a:t>
            </a:r>
          </a:p>
          <a:p>
            <a:pPr>
              <a:lnSpc>
                <a:spcPts val="1160"/>
              </a:lnSpc>
              <a:spcBef>
                <a:spcPts val="459"/>
              </a:spcBef>
              <a:spcAft>
                <a:spcPts val="0"/>
              </a:spcAft>
            </a:pPr>
            <a:r>
              <a:rPr sz="900" b="1" i="0">
                <a:solidFill>
                  <a:srgbClr val="0070C0"/>
                </a:solidFill>
                <a:latin typeface="Arial"/>
              </a:rPr>
              <a:t>▪  </a:t>
            </a:r>
            <a:r>
              <a:rPr sz="900" b="0" i="0">
                <a:solidFill>
                  <a:srgbClr val="44546A"/>
                </a:solidFill>
                <a:latin typeface="Arial"/>
              </a:rPr>
              <a:t>Every figure is </a:t>
            </a:r>
            <a:r>
              <a:rPr sz="900" b="1" i="0">
                <a:solidFill>
                  <a:srgbClr val="152233"/>
                </a:solidFill>
                <a:latin typeface="Arial"/>
              </a:rPr>
              <a:t>measured</a:t>
            </a:r>
            <a:r>
              <a:rPr sz="900" b="0" i="0">
                <a:solidFill>
                  <a:srgbClr val="44546A"/>
                </a:solidFill>
                <a:latin typeface="Arial"/>
              </a:rPr>
              <a:t>; the one assumed input, σ, is shown where it is used.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2820924" y="1993392"/>
            <a:ext cx="2304288" cy="23957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8" name="Rectangle 15377"/>
          <p:cNvSpPr/>
          <p:nvPr/>
        </p:nvSpPr>
        <p:spPr>
          <a:xfrm>
            <a:off x="2820924" y="2093976"/>
            <a:ext cx="25603" cy="2194560"/>
          </a:xfrm>
          <a:prstGeom prst="rect">
            <a:avLst/>
          </a:prstGeom>
          <a:solidFill>
            <a:srgbClr val="F29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9" name="TextBox 15378"/>
          <p:cNvSpPr txBox="1"/>
          <p:nvPr/>
        </p:nvSpPr>
        <p:spPr>
          <a:xfrm>
            <a:off x="2962656" y="2112264"/>
            <a:ext cx="2020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94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10">
                <a:solidFill>
                  <a:srgbClr val="7F8FA2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2962656" y="2386584"/>
            <a:ext cx="20208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52233"/>
                </a:solidFill>
                <a:latin typeface="Arial"/>
              </a:rPr>
              <a:t>Triage, not detection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2962656" y="2807208"/>
            <a:ext cx="2020824" cy="1453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2913F"/>
                </a:solidFill>
                <a:latin typeface="Arial"/>
              </a:rPr>
              <a:t>▪  </a:t>
            </a:r>
            <a:r>
              <a:rPr sz="900" b="0" i="0">
                <a:solidFill>
                  <a:srgbClr val="44546A"/>
                </a:solidFill>
                <a:latin typeface="Arial"/>
              </a:rPr>
              <a:t>Nobody needs help </a:t>
            </a:r>
            <a:r>
              <a:rPr sz="900" b="1" i="0">
                <a:solidFill>
                  <a:srgbClr val="152233"/>
                </a:solidFill>
                <a:latin typeface="Arial"/>
              </a:rPr>
              <a:t>finding</a:t>
            </a:r>
            <a:r>
              <a:rPr sz="900" b="0" i="0">
                <a:solidFill>
                  <a:srgbClr val="44546A"/>
                </a:solidFill>
                <a:latin typeface="Arial"/>
              </a:rPr>
              <a:t> conjunctions — 53,000 arrive unbidden. Judgement is scarce.</a:t>
            </a:r>
          </a:p>
          <a:p>
            <a:pPr>
              <a:lnSpc>
                <a:spcPts val="1160"/>
              </a:lnSpc>
              <a:spcBef>
                <a:spcPts val="459"/>
              </a:spcBef>
              <a:spcAft>
                <a:spcPts val="0"/>
              </a:spcAft>
            </a:pPr>
            <a:r>
              <a:rPr sz="900" b="1" i="0">
                <a:solidFill>
                  <a:srgbClr val="F2913F"/>
                </a:solidFill>
                <a:latin typeface="Arial"/>
              </a:rPr>
              <a:t>▪  </a:t>
            </a:r>
            <a:r>
              <a:rPr sz="900" b="0" i="0">
                <a:solidFill>
                  <a:srgbClr val="44546A"/>
                </a:solidFill>
                <a:latin typeface="Arial"/>
              </a:rPr>
              <a:t>Each event carries a </a:t>
            </a:r>
            <a:r>
              <a:rPr sz="900" b="1" i="0">
                <a:solidFill>
                  <a:srgbClr val="152233"/>
                </a:solidFill>
                <a:latin typeface="Arial"/>
              </a:rPr>
              <a:t>triage verdict</a:t>
            </a:r>
            <a:r>
              <a:rPr sz="900" b="0" i="0">
                <a:solidFill>
                  <a:srgbClr val="44546A"/>
                </a:solidFill>
                <a:latin typeface="Arial"/>
              </a:rPr>
              <a:t>: what would have to change for it to stop mattering.</a:t>
            </a:r>
          </a:p>
          <a:p>
            <a:pPr>
              <a:lnSpc>
                <a:spcPts val="1160"/>
              </a:lnSpc>
              <a:spcBef>
                <a:spcPts val="459"/>
              </a:spcBef>
              <a:spcAft>
                <a:spcPts val="0"/>
              </a:spcAft>
            </a:pPr>
            <a:r>
              <a:rPr sz="900" b="1" i="0">
                <a:solidFill>
                  <a:srgbClr val="F2913F"/>
                </a:solidFill>
                <a:latin typeface="Arial"/>
              </a:rPr>
              <a:t>▪  </a:t>
            </a:r>
            <a:r>
              <a:rPr sz="900" b="1" i="0">
                <a:solidFill>
                  <a:srgbClr val="D9741F"/>
                </a:solidFill>
                <a:latin typeface="Arial"/>
              </a:rPr>
              <a:t>CARTOSAT-2C</a:t>
            </a:r>
            <a:r>
              <a:rPr sz="900" b="0" i="0">
                <a:solidFill>
                  <a:srgbClr val="44546A"/>
                </a:solidFill>
                <a:latin typeface="Arial"/>
              </a:rPr>
              <a:t> would need to miss by 3.16 km, not 1.911 — that one is measurable.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5257800" y="1993392"/>
            <a:ext cx="2304288" cy="23957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3" name="Rectangle 15382"/>
          <p:cNvSpPr/>
          <p:nvPr/>
        </p:nvSpPr>
        <p:spPr>
          <a:xfrm>
            <a:off x="5257800" y="2093976"/>
            <a:ext cx="25603" cy="219456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4" name="TextBox 15383"/>
          <p:cNvSpPr txBox="1"/>
          <p:nvPr/>
        </p:nvSpPr>
        <p:spPr>
          <a:xfrm>
            <a:off x="5399532" y="2112264"/>
            <a:ext cx="2020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94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10">
                <a:solidFill>
                  <a:srgbClr val="7F8FA2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5399532" y="2386584"/>
            <a:ext cx="20208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52233"/>
                </a:solidFill>
                <a:latin typeface="Arial"/>
              </a:rPr>
              <a:t>An interface that cannot overstate itself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5399532" y="2807208"/>
            <a:ext cx="2020824" cy="1453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9E6B"/>
                </a:solidFill>
                <a:latin typeface="Arial"/>
              </a:rPr>
              <a:t>▪  </a:t>
            </a:r>
            <a:r>
              <a:rPr sz="900" b="0" i="0">
                <a:solidFill>
                  <a:srgbClr val="44546A"/>
                </a:solidFill>
                <a:latin typeface="Arial"/>
              </a:rPr>
              <a:t>One registry declares every capability </a:t>
            </a:r>
            <a:r>
              <a:rPr sz="900" b="1" i="0">
                <a:solidFill>
                  <a:srgbClr val="152233"/>
                </a:solidFill>
                <a:latin typeface="Arial"/>
              </a:rPr>
              <a:t>live / partial / not built</a:t>
            </a:r>
            <a:r>
              <a:rPr sz="900" b="0" i="0">
                <a:solidFill>
                  <a:srgbClr val="44546A"/>
                </a:solidFill>
                <a:latin typeface="Arial"/>
              </a:rPr>
              <a:t> — the UI renders from it.</a:t>
            </a:r>
          </a:p>
          <a:p>
            <a:pPr>
              <a:lnSpc>
                <a:spcPts val="1160"/>
              </a:lnSpc>
              <a:spcBef>
                <a:spcPts val="459"/>
              </a:spcBef>
              <a:spcAft>
                <a:spcPts val="0"/>
              </a:spcAft>
            </a:pPr>
            <a:r>
              <a:rPr sz="900" b="1" i="0">
                <a:solidFill>
                  <a:srgbClr val="2E9E6B"/>
                </a:solidFill>
                <a:latin typeface="Arial"/>
              </a:rPr>
              <a:t>▪  </a:t>
            </a:r>
            <a:r>
              <a:rPr sz="900" b="0" i="0">
                <a:solidFill>
                  <a:srgbClr val="44546A"/>
                </a:solidFill>
                <a:latin typeface="Arial"/>
              </a:rPr>
              <a:t>It continues </a:t>
            </a:r>
            <a:r>
              <a:rPr sz="900" b="1" i="0">
                <a:solidFill>
                  <a:srgbClr val="152233"/>
                </a:solidFill>
                <a:latin typeface="Arial"/>
              </a:rPr>
              <a:t>past the conjunction</a:t>
            </a:r>
            <a:r>
              <a:rPr sz="900" b="0" i="0">
                <a:solidFill>
                  <a:srgbClr val="44546A"/>
                </a:solidFill>
                <a:latin typeface="Arial"/>
              </a:rPr>
              <a:t>: breakup, decay, re-entry survival, cascade rate.</a:t>
            </a:r>
          </a:p>
          <a:p>
            <a:pPr>
              <a:lnSpc>
                <a:spcPts val="1160"/>
              </a:lnSpc>
              <a:spcBef>
                <a:spcPts val="459"/>
              </a:spcBef>
              <a:spcAft>
                <a:spcPts val="0"/>
              </a:spcAft>
            </a:pPr>
            <a:r>
              <a:rPr sz="900" b="1" i="0">
                <a:solidFill>
                  <a:srgbClr val="2E9E6B"/>
                </a:solidFill>
                <a:latin typeface="Arial"/>
              </a:rPr>
              <a:t>▪  </a:t>
            </a:r>
            <a:r>
              <a:rPr sz="900" b="0" i="0">
                <a:solidFill>
                  <a:srgbClr val="44546A"/>
                </a:solidFill>
                <a:latin typeface="Arial"/>
              </a:rPr>
              <a:t>Exports </a:t>
            </a:r>
            <a:r>
              <a:rPr sz="900" b="1" i="0">
                <a:solidFill>
                  <a:srgbClr val="152233"/>
                </a:solidFill>
                <a:latin typeface="Arial"/>
              </a:rPr>
              <a:t>CCSDS CDMs</a:t>
            </a:r>
            <a:r>
              <a:rPr sz="900" b="0" i="0">
                <a:solidFill>
                  <a:srgbClr val="44546A"/>
                </a:solidFill>
                <a:latin typeface="Arial"/>
              </a:rPr>
              <a:t> — output enters an operator’s existing pipeline.</a:t>
            </a:r>
          </a:p>
        </p:txBody>
      </p:sp>
      <p:pic>
        <p:nvPicPr>
          <p:cNvPr id="15387" name="Picture 15386" descr="shot_view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993392"/>
            <a:ext cx="4050791" cy="2221992"/>
          </a:xfrm>
          <a:prstGeom prst="rect">
            <a:avLst/>
          </a:prstGeom>
        </p:spPr>
      </p:pic>
      <p:sp>
        <p:nvSpPr>
          <p:cNvPr id="15388" name="TextBox 15387"/>
          <p:cNvSpPr txBox="1"/>
          <p:nvPr/>
        </p:nvSpPr>
        <p:spPr>
          <a:xfrm>
            <a:off x="7754112" y="4242816"/>
            <a:ext cx="40507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70" b="1" i="0" spc="60">
                <a:solidFill>
                  <a:srgbClr val="7F8FA2"/>
                </a:solidFill>
                <a:latin typeface="Arial"/>
              </a:rPr>
              <a:t>2D ORBITAL VIEWER · FLAGGED-CONJUNCTION LAYER · REAL ELEMENT SETS</a:t>
            </a:r>
          </a:p>
        </p:txBody>
      </p:sp>
      <p:pic>
        <p:nvPicPr>
          <p:cNvPr id="15389" name="Picture 15388" descr="funn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443984"/>
            <a:ext cx="11420856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sz="1100" b="1">
                <a:solidFill>
                  <a:srgbClr val="333333"/>
                </a:solidFill>
                <a:latin typeface="Arial"/>
              </a:rPr>
              <a:t>&lt;TEAM NAME&gt;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84048" y="1170432"/>
            <a:ext cx="11420856" cy="73152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384048" y="1170432"/>
            <a:ext cx="32004" cy="731520"/>
          </a:xfrm>
          <a:prstGeom prst="rect">
            <a:avLst/>
          </a:prstGeom>
          <a:solidFill>
            <a:srgbClr val="F29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621792" y="1257300"/>
            <a:ext cx="73609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60" b="1" i="0" spc="145">
                <a:solidFill>
                  <a:srgbClr val="F2913F"/>
                </a:solidFill>
                <a:latin typeface="Arial"/>
              </a:rPr>
              <a:t>TECHNOLOGIES TO BE USED · METHODOLOGY AND PROCESS FOR IMPLEMENTATION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21792" y="1440180"/>
            <a:ext cx="7360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9DAEC1"/>
                </a:solidFill>
                <a:latin typeface="Arial"/>
              </a:rPr>
              <a:t>Four stages, each one derived rather than tuned — </a:t>
            </a:r>
            <a:r>
              <a:rPr sz="1260" b="1" i="0">
                <a:solidFill>
                  <a:srgbClr val="EEF3F9"/>
                </a:solidFill>
                <a:latin typeface="Arial"/>
              </a:rPr>
              <a:t>the same cascade ISRO’s CLAPS uses, reached from the physics and then found to match.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0773918" y="1330452"/>
            <a:ext cx="81153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EF3F9"/>
                </a:solidFill>
                <a:latin typeface="Arial"/>
              </a:rPr>
              <a:t>62/62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0773918" y="1604772"/>
            <a:ext cx="81153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90" b="1" i="0" spc="80">
                <a:solidFill>
                  <a:srgbClr val="6B7F94"/>
                </a:solidFill>
                <a:latin typeface="Arial"/>
              </a:rPr>
              <a:t>CHECKS PASS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9402318" y="1330452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EF3F9"/>
                </a:solidFill>
                <a:latin typeface="Arial"/>
              </a:rPr>
              <a:t>3.7 M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9402318" y="1604772"/>
            <a:ext cx="10972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90" b="1" i="0" spc="80">
                <a:solidFill>
                  <a:srgbClr val="6B7F94"/>
                </a:solidFill>
                <a:latin typeface="Arial"/>
              </a:rPr>
              <a:t>SGP4 CALLS / RUN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087868" y="1330452"/>
            <a:ext cx="104013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EF3F9"/>
                </a:solidFill>
                <a:latin typeface="Arial"/>
              </a:rPr>
              <a:t>~400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8087868" y="1604772"/>
            <a:ext cx="104013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90" b="1" i="0" spc="80">
                <a:solidFill>
                  <a:srgbClr val="6B7F94"/>
                </a:solidFill>
                <a:latin typeface="Arial"/>
              </a:rPr>
              <a:t>LINES OF ENGINE</a:t>
            </a:r>
          </a:p>
        </p:txBody>
      </p:sp>
      <p:pic>
        <p:nvPicPr>
          <p:cNvPr id="17420" name="Picture 17419" descr="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011680"/>
            <a:ext cx="11420856" cy="2377440"/>
          </a:xfrm>
          <a:prstGeom prst="rect">
            <a:avLst/>
          </a:prstGeom>
        </p:spPr>
      </p:pic>
      <p:pic>
        <p:nvPicPr>
          <p:cNvPr id="17421" name="Picture 17420" descr="st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443984"/>
            <a:ext cx="6720840" cy="1792224"/>
          </a:xfrm>
          <a:prstGeom prst="rect">
            <a:avLst/>
          </a:prstGeom>
        </p:spPr>
      </p:pic>
      <p:pic>
        <p:nvPicPr>
          <p:cNvPr id="17422" name="Picture 17421" descr="shot_da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3488" y="4443984"/>
            <a:ext cx="4471416" cy="1792224"/>
          </a:xfrm>
          <a:prstGeom prst="rect">
            <a:avLst/>
          </a:prstGeom>
        </p:spPr>
      </p:pic>
      <p:sp>
        <p:nvSpPr>
          <p:cNvPr id="17423" name="Rectangle 17422"/>
          <p:cNvSpPr/>
          <p:nvPr/>
        </p:nvSpPr>
        <p:spPr>
          <a:xfrm>
            <a:off x="7333488" y="4443984"/>
            <a:ext cx="1700784" cy="182880"/>
          </a:xfrm>
          <a:prstGeom prst="rect">
            <a:avLst/>
          </a:prstGeom>
          <a:solidFill>
            <a:srgbClr val="F29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 i="0" spc="80">
                <a:solidFill>
                  <a:srgbClr val="1A0E02"/>
                </a:solidFill>
                <a:latin typeface="Arial"/>
              </a:rPr>
              <a:t>WORKING PROTOTYPE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sz="1100" b="1">
                <a:solidFill>
                  <a:srgbClr val="333333"/>
                </a:solidFill>
                <a:latin typeface="Arial"/>
              </a:rPr>
              <a:t>&lt;TEAM NAME&gt;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84048" y="1170432"/>
            <a:ext cx="11420856" cy="73152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384048" y="1170432"/>
            <a:ext cx="32004" cy="731520"/>
          </a:xfrm>
          <a:prstGeom prst="rect">
            <a:avLst/>
          </a:prstGeom>
          <a:solidFill>
            <a:srgbClr val="F29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621792" y="1257300"/>
            <a:ext cx="73609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60" b="1" i="0" spc="145">
                <a:solidFill>
                  <a:srgbClr val="F2913F"/>
                </a:solidFill>
                <a:latin typeface="Arial"/>
              </a:rPr>
              <a:t>ANALYSIS OF FEASIBILITY · POTENTIAL CHALLENGES AND RISKS · STRATEGIES TO OVERCOME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21792" y="1440180"/>
            <a:ext cx="7360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9DAEC1"/>
                </a:solidFill>
                <a:latin typeface="Arial"/>
              </a:rPr>
              <a:t>It is already built and already measured — </a:t>
            </a:r>
            <a:r>
              <a:rPr sz="1260" b="1" i="0">
                <a:solidFill>
                  <a:srgbClr val="EEF3F9"/>
                </a:solidFill>
                <a:latin typeface="Arial"/>
              </a:rPr>
              <a:t>the full pipeline runs offline, on free data, from a fresh clone.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0659618" y="1330452"/>
            <a:ext cx="92583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EF3F9"/>
                </a:solidFill>
                <a:latin typeface="Arial"/>
              </a:rPr>
              <a:t>0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0659618" y="1604772"/>
            <a:ext cx="92583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90" b="1" i="0" spc="80">
                <a:solidFill>
                  <a:srgbClr val="6B7F94"/>
                </a:solidFill>
                <a:latin typeface="Arial"/>
              </a:rPr>
              <a:t>NETWORK CALLS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9516618" y="1330452"/>
            <a:ext cx="8686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EF3F9"/>
                </a:solidFill>
                <a:latin typeface="Arial"/>
              </a:rPr>
              <a:t>₹0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9516618" y="1604772"/>
            <a:ext cx="868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90" b="1" i="0" spc="80">
                <a:solidFill>
                  <a:srgbClr val="6B7F94"/>
                </a:solidFill>
                <a:latin typeface="Arial"/>
              </a:rPr>
              <a:t>DATA LICENCE</a:t>
            </a:r>
          </a:p>
        </p:txBody>
      </p:sp>
      <p:pic>
        <p:nvPicPr>
          <p:cNvPr id="17418" name="Picture 17417" descr="sca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011680"/>
            <a:ext cx="5532120" cy="2322576"/>
          </a:xfrm>
          <a:prstGeom prst="rect">
            <a:avLst/>
          </a:prstGeom>
        </p:spPr>
      </p:pic>
      <p:sp>
        <p:nvSpPr>
          <p:cNvPr id="17419" name="Rounded Rectangle 17418"/>
          <p:cNvSpPr/>
          <p:nvPr/>
        </p:nvSpPr>
        <p:spPr>
          <a:xfrm>
            <a:off x="6144768" y="2011680"/>
            <a:ext cx="5660136" cy="23225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0" name="Rectangle 17419"/>
          <p:cNvSpPr/>
          <p:nvPr/>
        </p:nvSpPr>
        <p:spPr>
          <a:xfrm>
            <a:off x="6144768" y="2112264"/>
            <a:ext cx="25603" cy="21214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6327648" y="2148840"/>
            <a:ext cx="5294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1" i="0" spc="110">
                <a:solidFill>
                  <a:srgbClr val="7F8FA2"/>
                </a:solidFill>
                <a:latin typeface="Arial"/>
              </a:rPr>
              <a:t>WHY WE KNOW IT WORKS · NPM RUN VALIDATE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327648" y="2350008"/>
            <a:ext cx="52943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52233"/>
                </a:solidFill>
                <a:latin typeface="Arial"/>
              </a:rPr>
              <a:t>62 of 62 known-answer checks pass from a fresh clone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327648" y="2670048"/>
            <a:ext cx="5294376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19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9E6B"/>
                </a:solidFill>
                <a:latin typeface="Arial"/>
              </a:rPr>
              <a:t>▪  </a:t>
            </a:r>
            <a:r>
              <a:rPr sz="900" b="1" i="0">
                <a:solidFill>
                  <a:srgbClr val="152233"/>
                </a:solidFill>
                <a:latin typeface="Arial"/>
              </a:rPr>
              <a:t>Cascade vs brute force </a:t>
            </a:r>
            <a:r>
              <a:rPr sz="900" b="0" i="0">
                <a:solidFill>
                  <a:srgbClr val="44546A"/>
                </a:solidFill>
                <a:latin typeface="Arial"/>
              </a:rPr>
              <a:t>— 505 candidates both ways, 0 missed, 0 extra; minimum distances agree to </a:t>
            </a:r>
            <a:r>
              <a:rPr sz="900" b="1" i="0">
                <a:solidFill>
                  <a:srgbClr val="D9741F"/>
                </a:solidFill>
                <a:latin typeface="Arial"/>
              </a:rPr>
              <a:t>1.14 × 10⁻¹³ km</a:t>
            </a:r>
            <a:r>
              <a:rPr sz="900" b="0" i="0">
                <a:solidFill>
                  <a:srgbClr val="44546A"/>
                </a:solidFill>
                <a:latin typeface="Arial"/>
              </a:rPr>
              <a:t>.</a:t>
            </a:r>
          </a:p>
          <a:p>
            <a:pPr>
              <a:lnSpc>
                <a:spcPts val="1190"/>
              </a:lnSpc>
              <a:spcBef>
                <a:spcPts val="520"/>
              </a:spcBef>
              <a:spcAft>
                <a:spcPts val="0"/>
              </a:spcAft>
            </a:pPr>
            <a:r>
              <a:rPr sz="900" b="1" i="0">
                <a:solidFill>
                  <a:srgbClr val="2E9E6B"/>
                </a:solidFill>
                <a:latin typeface="Arial"/>
              </a:rPr>
              <a:t>▪  </a:t>
            </a:r>
            <a:r>
              <a:rPr sz="900" b="1" i="0">
                <a:solidFill>
                  <a:srgbClr val="152233"/>
                </a:solidFill>
                <a:latin typeface="Arial"/>
              </a:rPr>
              <a:t>Breakup model vs three real events </a:t>
            </a:r>
            <a:r>
              <a:rPr sz="900" b="0" i="0">
                <a:solidFill>
                  <a:srgbClr val="44546A"/>
                </a:solidFill>
                <a:latin typeface="Arial"/>
              </a:rPr>
              <a:t>— Cosmos 1408 0.80×, Iridium/Cosmos 0.53×, Fengyun-1C 0.33×. The disagreement prints on every test run rather than being tuned away.</a:t>
            </a:r>
          </a:p>
          <a:p>
            <a:pPr>
              <a:lnSpc>
                <a:spcPts val="1190"/>
              </a:lnSpc>
              <a:spcBef>
                <a:spcPts val="520"/>
              </a:spcBef>
              <a:spcAft>
                <a:spcPts val="0"/>
              </a:spcAft>
            </a:pPr>
            <a:r>
              <a:rPr sz="900" b="1" i="0">
                <a:solidFill>
                  <a:srgbClr val="2E9E6B"/>
                </a:solidFill>
                <a:latin typeface="Arial"/>
              </a:rPr>
              <a:t>▪  </a:t>
            </a:r>
            <a:r>
              <a:rPr sz="900" b="1" i="0">
                <a:solidFill>
                  <a:srgbClr val="152233"/>
                </a:solidFill>
                <a:latin typeface="Arial"/>
              </a:rPr>
              <a:t>Burn advisor </a:t>
            </a:r>
            <a:r>
              <a:rPr sz="900" b="0" i="0">
                <a:solidFill>
                  <a:srgbClr val="44546A"/>
                </a:solidFill>
                <a:latin typeface="Arial"/>
              </a:rPr>
              <a:t>— re-propagated displacement agrees with the closed form to 3.9%.</a:t>
            </a:r>
          </a:p>
          <a:p>
            <a:pPr>
              <a:lnSpc>
                <a:spcPts val="1190"/>
              </a:lnSpc>
              <a:spcBef>
                <a:spcPts val="520"/>
              </a:spcBef>
              <a:spcAft>
                <a:spcPts val="0"/>
              </a:spcAft>
            </a:pPr>
            <a:r>
              <a:rPr sz="900" b="1" i="0">
                <a:solidFill>
                  <a:srgbClr val="2E9E6B"/>
                </a:solidFill>
                <a:latin typeface="Arial"/>
              </a:rPr>
              <a:t>▪  </a:t>
            </a:r>
            <a:r>
              <a:rPr sz="900" b="1" i="0">
                <a:solidFill>
                  <a:srgbClr val="152233"/>
                </a:solidFill>
                <a:latin typeface="Arial"/>
              </a:rPr>
              <a:t>Deterministic </a:t>
            </a:r>
            <a:r>
              <a:rPr sz="900" b="0" i="0">
                <a:solidFill>
                  <a:srgbClr val="44546A"/>
                </a:solidFill>
                <a:latin typeface="Arial"/>
              </a:rPr>
              <a:t>— re-running the screen reproduces all 3,032 events byte for byte.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384048" y="4407408"/>
            <a:ext cx="2754630" cy="18653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5" name="Rectangle 17424"/>
          <p:cNvSpPr/>
          <p:nvPr/>
        </p:nvSpPr>
        <p:spPr>
          <a:xfrm>
            <a:off x="384048" y="4407408"/>
            <a:ext cx="2754630" cy="41148"/>
          </a:xfrm>
          <a:prstGeom prst="rect">
            <a:avLst/>
          </a:prstGeom>
          <a:solidFill>
            <a:srgbClr val="D85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530352" y="4526280"/>
            <a:ext cx="246202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20" b="1" i="0" spc="110">
                <a:solidFill>
                  <a:srgbClr val="D8544A"/>
                </a:solidFill>
                <a:latin typeface="Arial"/>
              </a:rPr>
              <a:t>RISK 01 · DATA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30352" y="4700016"/>
            <a:ext cx="246202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52233"/>
                </a:solidFill>
                <a:latin typeface="Arial"/>
              </a:rPr>
              <a:t>TLEs are not precision ephemerides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530352" y="5056632"/>
            <a:ext cx="246202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4546A"/>
                </a:solidFill>
                <a:latin typeface="Arial"/>
              </a:rPr>
              <a:t>SGP4 along-track error is kilometre-scale and grows with element-set age — the same size as the miss distances reported.</a:t>
            </a:r>
          </a:p>
        </p:txBody>
      </p:sp>
      <p:sp>
        <p:nvSpPr>
          <p:cNvPr id="17429" name="Rectangle 17428"/>
          <p:cNvSpPr/>
          <p:nvPr/>
        </p:nvSpPr>
        <p:spPr>
          <a:xfrm>
            <a:off x="530352" y="5504688"/>
            <a:ext cx="2462022" cy="7315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530352" y="5559552"/>
            <a:ext cx="246202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90" b="1" i="0" spc="110">
                <a:solidFill>
                  <a:srgbClr val="2E9E6B"/>
                </a:solidFill>
                <a:latin typeface="Arial"/>
              </a:rPr>
              <a:t>MITIGATION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530352" y="5715000"/>
            <a:ext cx="24620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D9741F"/>
                </a:solidFill>
                <a:latin typeface="Arial"/>
              </a:rPr>
              <a:t>σ = 0.9 km + 0.055·age</a:t>
            </a:r>
            <a:r>
              <a:rPr sz="840" b="0" i="0">
                <a:solidFill>
                  <a:srgbClr val="44546A"/>
                </a:solidFill>
                <a:latin typeface="Arial"/>
              </a:rPr>
              <a:t> feeds every score, and a max-age threshold withholds stale predictions rather than showing them.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3275838" y="4407408"/>
            <a:ext cx="2754630" cy="18653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3" name="Rectangle 17432"/>
          <p:cNvSpPr/>
          <p:nvPr/>
        </p:nvSpPr>
        <p:spPr>
          <a:xfrm>
            <a:off x="3275838" y="4407408"/>
            <a:ext cx="2754630" cy="41148"/>
          </a:xfrm>
          <a:prstGeom prst="rect">
            <a:avLst/>
          </a:prstGeom>
          <a:solidFill>
            <a:srgbClr val="D85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3422142" y="4526280"/>
            <a:ext cx="246202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20" b="1" i="0" spc="110">
                <a:solidFill>
                  <a:srgbClr val="D8544A"/>
                </a:solidFill>
                <a:latin typeface="Arial"/>
              </a:rPr>
              <a:t>RISK 02 · MODEL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3422142" y="4700016"/>
            <a:ext cx="246202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52233"/>
                </a:solidFill>
                <a:latin typeface="Arial"/>
              </a:rPr>
              <a:t>A TLE carries no covariance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3422142" y="5056632"/>
            <a:ext cx="246202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4546A"/>
                </a:solidFill>
                <a:latin typeface="Arial"/>
              </a:rPr>
              <a:t>Pc rests on an </a:t>
            </a:r>
            <a:r>
              <a:rPr sz="840" b="1" i="0">
                <a:solidFill>
                  <a:srgbClr val="152233"/>
                </a:solidFill>
                <a:latin typeface="Arial"/>
              </a:rPr>
              <a:t>assumed</a:t>
            </a:r>
            <a:r>
              <a:rPr sz="840" b="0" i="0">
                <a:solidFill>
                  <a:srgbClr val="44546A"/>
                </a:solidFill>
                <a:latin typeface="Arial"/>
              </a:rPr>
              <a:t> σ — the weakest link in the ranking, and the easiest one to hide.</a:t>
            </a:r>
          </a:p>
        </p:txBody>
      </p:sp>
      <p:sp>
        <p:nvSpPr>
          <p:cNvPr id="17437" name="Rectangle 17436"/>
          <p:cNvSpPr/>
          <p:nvPr/>
        </p:nvSpPr>
        <p:spPr>
          <a:xfrm>
            <a:off x="3422142" y="5504688"/>
            <a:ext cx="2462022" cy="7315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3422142" y="5559552"/>
            <a:ext cx="246202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90" b="1" i="0" spc="110">
                <a:solidFill>
                  <a:srgbClr val="2E9E6B"/>
                </a:solidFill>
                <a:latin typeface="Arial"/>
              </a:rPr>
              <a:t>MITIGATION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3422142" y="5715000"/>
            <a:ext cx="24620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4546A"/>
                </a:solidFill>
                <a:latin typeface="Arial"/>
              </a:rPr>
              <a:t>Every CDM declares </a:t>
            </a:r>
            <a:r>
              <a:rPr sz="840" b="1" i="0">
                <a:solidFill>
                  <a:srgbClr val="D9741F"/>
                </a:solidFill>
                <a:latin typeface="Arial"/>
              </a:rPr>
              <a:t>COVARIANCE_METHOD = DEFAULT</a:t>
            </a:r>
            <a:r>
              <a:rPr sz="840" b="0" i="0">
                <a:solidFill>
                  <a:srgbClr val="44546A"/>
                </a:solidFill>
                <a:latin typeface="Arial"/>
              </a:rPr>
              <a:t>; σ is a live control that re-bands the whole board on screen.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6167628" y="4407408"/>
            <a:ext cx="2754630" cy="18653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1" name="Rectangle 17440"/>
          <p:cNvSpPr/>
          <p:nvPr/>
        </p:nvSpPr>
        <p:spPr>
          <a:xfrm>
            <a:off x="6167628" y="4407408"/>
            <a:ext cx="2754630" cy="41148"/>
          </a:xfrm>
          <a:prstGeom prst="rect">
            <a:avLst/>
          </a:prstGeom>
          <a:solidFill>
            <a:srgbClr val="D85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2" name="TextBox 17441"/>
          <p:cNvSpPr txBox="1"/>
          <p:nvPr/>
        </p:nvSpPr>
        <p:spPr>
          <a:xfrm>
            <a:off x="6313932" y="4526280"/>
            <a:ext cx="246202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20" b="1" i="0" spc="110">
                <a:solidFill>
                  <a:srgbClr val="D8544A"/>
                </a:solidFill>
                <a:latin typeface="Arial"/>
              </a:rPr>
              <a:t>RISK 03 · SCALE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6313932" y="4700016"/>
            <a:ext cx="246202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52233"/>
                </a:solidFill>
                <a:latin typeface="Arial"/>
              </a:rPr>
              <a:t>The real catalogue is 30,000 objects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6313932" y="5056632"/>
            <a:ext cx="246202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4546A"/>
                </a:solidFill>
                <a:latin typeface="Arial"/>
              </a:rPr>
              <a:t>All-pairs is O(n²): 30,000 objects is roughly 450 million pairs, not 368,511.</a:t>
            </a:r>
          </a:p>
        </p:txBody>
      </p:sp>
      <p:sp>
        <p:nvSpPr>
          <p:cNvPr id="17445" name="Rectangle 17444"/>
          <p:cNvSpPr/>
          <p:nvPr/>
        </p:nvSpPr>
        <p:spPr>
          <a:xfrm>
            <a:off x="6313932" y="5504688"/>
            <a:ext cx="2462022" cy="7315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6313932" y="5559552"/>
            <a:ext cx="246202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90" b="1" i="0" spc="110">
                <a:solidFill>
                  <a:srgbClr val="2E9E6B"/>
                </a:solidFill>
                <a:latin typeface="Arial"/>
              </a:rPr>
              <a:t>MITIGATION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6313932" y="5715000"/>
            <a:ext cx="24620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4546A"/>
                </a:solidFill>
                <a:latin typeface="Arial"/>
              </a:rPr>
              <a:t>Measured, not asserted — exponent </a:t>
            </a:r>
            <a:r>
              <a:rPr sz="840" b="1" i="0">
                <a:solidFill>
                  <a:srgbClr val="D9741F"/>
                </a:solidFill>
                <a:latin typeface="Arial"/>
              </a:rPr>
              <a:t>1.738</a:t>
            </a:r>
            <a:r>
              <a:rPr sz="840" b="0" i="0">
                <a:solidFill>
                  <a:srgbClr val="44546A"/>
                </a:solidFill>
                <a:latin typeface="Arial"/>
              </a:rPr>
              <a:t> over six catalogue sizes. Next step is spatial binning per time step.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9059418" y="4407408"/>
            <a:ext cx="2754630" cy="18653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9" name="Rectangle 17448"/>
          <p:cNvSpPr/>
          <p:nvPr/>
        </p:nvSpPr>
        <p:spPr>
          <a:xfrm>
            <a:off x="9059418" y="4407408"/>
            <a:ext cx="2754630" cy="41148"/>
          </a:xfrm>
          <a:prstGeom prst="rect">
            <a:avLst/>
          </a:prstGeom>
          <a:solidFill>
            <a:srgbClr val="D85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0" name="TextBox 17449"/>
          <p:cNvSpPr txBox="1"/>
          <p:nvPr/>
        </p:nvSpPr>
        <p:spPr>
          <a:xfrm>
            <a:off x="9205722" y="4526280"/>
            <a:ext cx="246202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20" b="1" i="0" spc="110">
                <a:solidFill>
                  <a:srgbClr val="D8544A"/>
                </a:solidFill>
                <a:latin typeface="Arial"/>
              </a:rPr>
              <a:t>RISK 04 · INPUTS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9205722" y="4700016"/>
            <a:ext cx="246202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52233"/>
                </a:solidFill>
                <a:latin typeface="Arial"/>
              </a:rPr>
              <a:t>Masses and cross-sections are assumed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9205722" y="5056632"/>
            <a:ext cx="246202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4546A"/>
                </a:solidFill>
                <a:latin typeface="Arial"/>
              </a:rPr>
              <a:t>Fragment count scales as mass</a:t>
            </a:r>
            <a:r>
              <a:rPr sz="840" b="0" i="0">
                <a:solidFill>
                  <a:srgbClr val="44546A"/>
                </a:solidFill>
                <a:latin typeface="Arial"/>
              </a:rPr>
              <a:t>⁰·⁷⁵</a:t>
            </a:r>
            <a:r>
              <a:rPr sz="840" b="0" i="0">
                <a:solidFill>
                  <a:srgbClr val="44546A"/>
                </a:solidFill>
                <a:latin typeface="Arial"/>
              </a:rPr>
              <a:t>, and a TLE carries neither mass nor geometry.</a:t>
            </a:r>
          </a:p>
        </p:txBody>
      </p:sp>
      <p:sp>
        <p:nvSpPr>
          <p:cNvPr id="17453" name="Rectangle 17452"/>
          <p:cNvSpPr/>
          <p:nvPr/>
        </p:nvSpPr>
        <p:spPr>
          <a:xfrm>
            <a:off x="9205722" y="5504688"/>
            <a:ext cx="2462022" cy="7315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4" name="TextBox 17453"/>
          <p:cNvSpPr txBox="1"/>
          <p:nvPr/>
        </p:nvSpPr>
        <p:spPr>
          <a:xfrm>
            <a:off x="9205722" y="5559552"/>
            <a:ext cx="246202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90" b="1" i="0" spc="110">
                <a:solidFill>
                  <a:srgbClr val="2E9E6B"/>
                </a:solidFill>
                <a:latin typeface="Arial"/>
              </a:rPr>
              <a:t>MITIGATION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9205722" y="5715000"/>
            <a:ext cx="24620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4546A"/>
                </a:solidFill>
                <a:latin typeface="Arial"/>
              </a:rPr>
              <a:t>Every such assumption is a </a:t>
            </a:r>
            <a:r>
              <a:rPr sz="840" b="1" i="0">
                <a:solidFill>
                  <a:srgbClr val="152233"/>
                </a:solidFill>
                <a:latin typeface="Arial"/>
              </a:rPr>
              <a:t>slider, not a constant</a:t>
            </a:r>
            <a:r>
              <a:rPr sz="840" b="0" i="0">
                <a:solidFill>
                  <a:srgbClr val="44546A"/>
                </a:solidFill>
                <a:latin typeface="Arial"/>
              </a:rPr>
              <a:t> — sweep it and watch the answer move.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sz="1100" b="1">
                <a:solidFill>
                  <a:srgbClr val="333333"/>
                </a:solidFill>
                <a:latin typeface="Arial"/>
              </a:rPr>
              <a:t>&lt;TEAM NAME&gt;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84048" y="1170432"/>
            <a:ext cx="11420856" cy="73152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384048" y="1170432"/>
            <a:ext cx="32004" cy="731520"/>
          </a:xfrm>
          <a:prstGeom prst="rect">
            <a:avLst/>
          </a:prstGeom>
          <a:solidFill>
            <a:srgbClr val="F29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621792" y="1257300"/>
            <a:ext cx="73609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60" b="1" i="0" spc="145">
                <a:solidFill>
                  <a:srgbClr val="F2913F"/>
                </a:solidFill>
                <a:latin typeface="Arial"/>
              </a:rPr>
              <a:t>POTENTIAL IMPACT ON THE TARGET AUDIENCE · BENEFITS OF THE SOLUTION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21792" y="1440180"/>
            <a:ext cx="7360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9DAEC1"/>
                </a:solidFill>
                <a:latin typeface="Arial"/>
              </a:rPr>
              <a:t>The operators who most need conjunction screening are exactly the ones who </a:t>
            </a:r>
            <a:r>
              <a:rPr sz="1260" b="1" i="0">
                <a:solidFill>
                  <a:srgbClr val="EEF3F9"/>
                </a:solidFill>
                <a:latin typeface="Arial"/>
              </a:rPr>
              <a:t>cannot buy it.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0602468" y="1330452"/>
            <a:ext cx="9829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EF3F9"/>
                </a:solidFill>
                <a:latin typeface="Arial"/>
              </a:rPr>
              <a:t>₹0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0602468" y="1604772"/>
            <a:ext cx="9829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90" b="1" i="0" spc="80">
                <a:solidFill>
                  <a:srgbClr val="6B7F94"/>
                </a:solidFill>
                <a:latin typeface="Arial"/>
              </a:rPr>
              <a:t>LICENCE + DATA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9059418" y="1330452"/>
            <a:ext cx="126873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EF3F9"/>
                </a:solidFill>
                <a:latin typeface="Arial"/>
              </a:rPr>
              <a:t>5,300 : 1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9059418" y="1604772"/>
            <a:ext cx="126873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90" b="1" i="0" spc="80">
                <a:solidFill>
                  <a:srgbClr val="6B7F94"/>
                </a:solidFill>
                <a:latin typeface="Arial"/>
              </a:rPr>
              <a:t>ALERTS PER DECISION</a:t>
            </a:r>
          </a:p>
        </p:txBody>
      </p:sp>
      <p:pic>
        <p:nvPicPr>
          <p:cNvPr id="17418" name="Picture 17417" descr="rat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011680"/>
            <a:ext cx="6309360" cy="2414016"/>
          </a:xfrm>
          <a:prstGeom prst="rect">
            <a:avLst/>
          </a:prstGeom>
        </p:spPr>
      </p:pic>
      <p:sp>
        <p:nvSpPr>
          <p:cNvPr id="17419" name="Rounded Rectangle 17418"/>
          <p:cNvSpPr/>
          <p:nvPr/>
        </p:nvSpPr>
        <p:spPr>
          <a:xfrm>
            <a:off x="6858000" y="2011680"/>
            <a:ext cx="4946904" cy="772668"/>
          </a:xfrm>
          <a:prstGeom prst="roundRect">
            <a:avLst>
              <a:gd name="adj" fmla="val 7000"/>
            </a:avLst>
          </a:prstGeom>
          <a:solidFill>
            <a:srgbClr val="F3F6FA"/>
          </a:solidFill>
          <a:ln w="762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0" name="Rectangle 17419"/>
          <p:cNvSpPr/>
          <p:nvPr/>
        </p:nvSpPr>
        <p:spPr>
          <a:xfrm>
            <a:off x="6858000" y="2093976"/>
            <a:ext cx="23774" cy="60807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6995160" y="2116836"/>
            <a:ext cx="467258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40" b="1" i="0" spc="110">
                <a:solidFill>
                  <a:srgbClr val="7F8FA2"/>
                </a:solidFill>
                <a:latin typeface="Arial"/>
              </a:rPr>
              <a:t>SPACE AGENCIES &amp; NATIONAL OPERATORS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995160" y="2299716"/>
            <a:ext cx="4672584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44546A"/>
                </a:solidFill>
                <a:latin typeface="Arial"/>
              </a:rPr>
              <a:t>A triage layer over public data that says </a:t>
            </a:r>
            <a:r>
              <a:rPr sz="890" b="1" i="0">
                <a:solidFill>
                  <a:srgbClr val="152233"/>
                </a:solidFill>
                <a:latin typeface="Arial"/>
              </a:rPr>
              <a:t>which pair to escalate</a:t>
            </a:r>
            <a:r>
              <a:rPr sz="890" b="0" i="0">
                <a:solidFill>
                  <a:srgbClr val="44546A"/>
                </a:solidFill>
                <a:latin typeface="Arial"/>
              </a:rPr>
              <a:t> for a real CDM. 72 of the 3,032 events in the demo run involve an ISRO-operated asset.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858000" y="2830068"/>
            <a:ext cx="4946904" cy="772668"/>
          </a:xfrm>
          <a:prstGeom prst="roundRect">
            <a:avLst>
              <a:gd name="adj" fmla="val 7000"/>
            </a:avLst>
          </a:prstGeom>
          <a:solidFill>
            <a:srgbClr val="F3F6FA"/>
          </a:solidFill>
          <a:ln w="762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4" name="Rectangle 17423"/>
          <p:cNvSpPr/>
          <p:nvPr/>
        </p:nvSpPr>
        <p:spPr>
          <a:xfrm>
            <a:off x="6858000" y="2912364"/>
            <a:ext cx="23774" cy="608076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6995160" y="2935224"/>
            <a:ext cx="467258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40" b="1" i="0" spc="110">
                <a:solidFill>
                  <a:srgbClr val="7F8FA2"/>
                </a:solidFill>
                <a:latin typeface="Arial"/>
              </a:rPr>
              <a:t>UNIVERSITIES, CUBESAT TEAMS, STARTUPS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995160" y="3118104"/>
            <a:ext cx="4672584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44546A"/>
                </a:solidFill>
                <a:latin typeface="Arial"/>
              </a:rPr>
              <a:t>The entry cost of commercial CA is the licence </a:t>
            </a:r>
            <a:r>
              <a:rPr sz="890" b="1" i="0">
                <a:solidFill>
                  <a:srgbClr val="152233"/>
                </a:solidFill>
                <a:latin typeface="Arial"/>
              </a:rPr>
              <a:t>plus the analyst</a:t>
            </a:r>
            <a:r>
              <a:rPr sz="890" b="0" i="0">
                <a:solidFill>
                  <a:srgbClr val="44546A"/>
                </a:solidFill>
                <a:latin typeface="Arial"/>
              </a:rPr>
              <a:t>. This needs neither — one cubesat gets the same pipeline as four hundred satellites.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858000" y="3648456"/>
            <a:ext cx="4946904" cy="772668"/>
          </a:xfrm>
          <a:prstGeom prst="roundRect">
            <a:avLst>
              <a:gd name="adj" fmla="val 7000"/>
            </a:avLst>
          </a:prstGeom>
          <a:solidFill>
            <a:srgbClr val="F3F6FA"/>
          </a:solidFill>
          <a:ln w="762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8" name="Rectangle 17427"/>
          <p:cNvSpPr/>
          <p:nvPr/>
        </p:nvSpPr>
        <p:spPr>
          <a:xfrm>
            <a:off x="6858000" y="3730752"/>
            <a:ext cx="23774" cy="608076"/>
          </a:xfrm>
          <a:prstGeom prst="rect">
            <a:avLst/>
          </a:prstGeom>
          <a:solidFill>
            <a:srgbClr val="F29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6995160" y="3753612"/>
            <a:ext cx="467258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40" b="1" i="0" spc="110">
                <a:solidFill>
                  <a:srgbClr val="7F8FA2"/>
                </a:solidFill>
                <a:latin typeface="Arial"/>
              </a:rPr>
              <a:t>STRATEGIC AUTONOMY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995160" y="3936492"/>
            <a:ext cx="4672584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44546A"/>
                </a:solidFill>
                <a:latin typeface="Arial"/>
              </a:rPr>
              <a:t>Asking a foreign vendor “is my satellite about to be hit” is a dependency that is </a:t>
            </a:r>
            <a:r>
              <a:rPr sz="890" b="1" i="0">
                <a:solidFill>
                  <a:srgbClr val="152233"/>
                </a:solidFill>
                <a:latin typeface="Arial"/>
              </a:rPr>
              <a:t>not commercially negotiable in a crisis</a:t>
            </a:r>
            <a:r>
              <a:rPr sz="890" b="0" i="0">
                <a:solidFill>
                  <a:srgbClr val="44546A"/>
                </a:solidFill>
                <a:latin typeface="Arial"/>
              </a:rPr>
              <a:t>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384048" y="4663440"/>
            <a:ext cx="2754630" cy="15727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2" name="Rectangle 17431"/>
          <p:cNvSpPr/>
          <p:nvPr/>
        </p:nvSpPr>
        <p:spPr>
          <a:xfrm>
            <a:off x="384048" y="4764024"/>
            <a:ext cx="25603" cy="1371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525780" y="4782312"/>
            <a:ext cx="247116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94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10">
                <a:solidFill>
                  <a:srgbClr val="7F8FA2"/>
                </a:solidFill>
                <a:latin typeface="Arial"/>
              </a:rPr>
              <a:t>SOCIAL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525780" y="4937759"/>
            <a:ext cx="24711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52233"/>
                </a:solidFill>
                <a:latin typeface="Arial"/>
              </a:rPr>
              <a:t>Not a procurement decision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525780" y="5248655"/>
            <a:ext cx="2471166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0C0"/>
                </a:solidFill>
                <a:latin typeface="Arial"/>
              </a:rPr>
              <a:t>▪  </a:t>
            </a:r>
            <a:r>
              <a:rPr sz="880" b="0" i="0">
                <a:solidFill>
                  <a:srgbClr val="44546A"/>
                </a:solidFill>
                <a:latin typeface="Arial"/>
              </a:rPr>
              <a:t>Open engine, open data, every assumption stated where it is used.</a:t>
            </a:r>
          </a:p>
          <a:p>
            <a:pPr>
              <a:lnSpc>
                <a:spcPts val="1140"/>
              </a:lnSpc>
              <a:spcBef>
                <a:spcPts val="459"/>
              </a:spcBef>
              <a:spcAft>
                <a:spcPts val="0"/>
              </a:spcAft>
            </a:pPr>
            <a:r>
              <a:rPr sz="880" b="1" i="0">
                <a:solidFill>
                  <a:srgbClr val="0070C0"/>
                </a:solidFill>
                <a:latin typeface="Arial"/>
              </a:rPr>
              <a:t>▪  </a:t>
            </a:r>
            <a:r>
              <a:rPr sz="880" b="0" i="0">
                <a:solidFill>
                  <a:srgbClr val="44546A"/>
                </a:solidFill>
                <a:latin typeface="Arial"/>
              </a:rPr>
              <a:t>No licence to negotiate, and nothing you are contractually barred from inspecting.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3275838" y="4663440"/>
            <a:ext cx="2754630" cy="15727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7" name="Rectangle 17436"/>
          <p:cNvSpPr/>
          <p:nvPr/>
        </p:nvSpPr>
        <p:spPr>
          <a:xfrm>
            <a:off x="3275838" y="4764024"/>
            <a:ext cx="25603" cy="13716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3417570" y="4782312"/>
            <a:ext cx="247116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94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10">
                <a:solidFill>
                  <a:srgbClr val="7F8FA2"/>
                </a:solidFill>
                <a:latin typeface="Arial"/>
              </a:rPr>
              <a:t>ECONOMIC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3417570" y="4937759"/>
            <a:ext cx="24711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52233"/>
                </a:solidFill>
                <a:latin typeface="Arial"/>
              </a:rPr>
              <a:t>Zero licence, zero data cost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3417570" y="5248655"/>
            <a:ext cx="2471166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E9E6B"/>
                </a:solidFill>
                <a:latin typeface="Arial"/>
              </a:rPr>
              <a:t>▪  </a:t>
            </a:r>
            <a:r>
              <a:rPr sz="880" b="0" i="0">
                <a:solidFill>
                  <a:srgbClr val="44546A"/>
                </a:solidFill>
                <a:latin typeface="Arial"/>
              </a:rPr>
              <a:t>Commercial CA is priced for constellation operators — the entry cost is the licence </a:t>
            </a:r>
            <a:r>
              <a:rPr sz="880" b="1" i="0">
                <a:solidFill>
                  <a:srgbClr val="152233"/>
                </a:solidFill>
                <a:latin typeface="Arial"/>
              </a:rPr>
              <a:t>plus the analyst</a:t>
            </a:r>
            <a:r>
              <a:rPr sz="880" b="0" i="0">
                <a:solidFill>
                  <a:srgbClr val="44546A"/>
                </a:solidFill>
                <a:latin typeface="Arial"/>
              </a:rPr>
              <a:t>.</a:t>
            </a:r>
          </a:p>
          <a:p>
            <a:pPr>
              <a:lnSpc>
                <a:spcPts val="1140"/>
              </a:lnSpc>
              <a:spcBef>
                <a:spcPts val="459"/>
              </a:spcBef>
              <a:spcAft>
                <a:spcPts val="0"/>
              </a:spcAft>
            </a:pPr>
            <a:r>
              <a:rPr sz="880" b="1" i="0">
                <a:solidFill>
                  <a:srgbClr val="2E9E6B"/>
                </a:solidFill>
                <a:latin typeface="Arial"/>
              </a:rPr>
              <a:t>▪  </a:t>
            </a:r>
            <a:r>
              <a:rPr sz="880" b="0" i="0">
                <a:solidFill>
                  <a:srgbClr val="44546A"/>
                </a:solidFill>
                <a:latin typeface="Arial"/>
              </a:rPr>
              <a:t>One avoided collision protects an asset worth hundreds of crores.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6167628" y="4663440"/>
            <a:ext cx="2754630" cy="15727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2" name="Rectangle 17441"/>
          <p:cNvSpPr/>
          <p:nvPr/>
        </p:nvSpPr>
        <p:spPr>
          <a:xfrm>
            <a:off x="6167628" y="4764024"/>
            <a:ext cx="25603" cy="1371600"/>
          </a:xfrm>
          <a:prstGeom prst="rect">
            <a:avLst/>
          </a:prstGeom>
          <a:solidFill>
            <a:srgbClr val="2E7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6309360" y="4782312"/>
            <a:ext cx="247116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94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10">
                <a:solidFill>
                  <a:srgbClr val="7F8FA2"/>
                </a:solidFill>
                <a:latin typeface="Arial"/>
              </a:rPr>
              <a:t>ENVIRONMENTAL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6309360" y="4937759"/>
            <a:ext cx="24711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52233"/>
                </a:solidFill>
                <a:latin typeface="Arial"/>
              </a:rPr>
              <a:t>Orbit is a shared resource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6309360" y="5248655"/>
            <a:ext cx="2471166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E7D9E"/>
                </a:solidFill>
                <a:latin typeface="Arial"/>
              </a:rPr>
              <a:t>▪  </a:t>
            </a:r>
            <a:r>
              <a:rPr sz="880" b="0" i="0">
                <a:solidFill>
                  <a:srgbClr val="44546A"/>
                </a:solidFill>
                <a:latin typeface="Arial"/>
              </a:rPr>
              <a:t>Low Earth Orbit has no traffic control, and 20 of India’s 22 active LEO satellites already face elevated risk.</a:t>
            </a:r>
          </a:p>
          <a:p>
            <a:pPr>
              <a:lnSpc>
                <a:spcPts val="1140"/>
              </a:lnSpc>
              <a:spcBef>
                <a:spcPts val="459"/>
              </a:spcBef>
              <a:spcAft>
                <a:spcPts val="0"/>
              </a:spcAft>
            </a:pPr>
            <a:r>
              <a:rPr sz="880" b="1" i="0">
                <a:solidFill>
                  <a:srgbClr val="2E7D9E"/>
                </a:solidFill>
                <a:latin typeface="Arial"/>
              </a:rPr>
              <a:t>▪  </a:t>
            </a:r>
            <a:r>
              <a:rPr sz="880" b="0" i="0">
                <a:solidFill>
                  <a:srgbClr val="44546A"/>
                </a:solidFill>
                <a:latin typeface="Arial"/>
              </a:rPr>
              <a:t>Ranking which passes matter is how the </a:t>
            </a:r>
            <a:r>
              <a:rPr sz="880" b="1" i="0">
                <a:solidFill>
                  <a:srgbClr val="152233"/>
                </a:solidFill>
                <a:latin typeface="Arial"/>
              </a:rPr>
              <a:t>Kessler cascade stays hypothetical</a:t>
            </a:r>
            <a:r>
              <a:rPr sz="880" b="0" i="0">
                <a:solidFill>
                  <a:srgbClr val="44546A"/>
                </a:solidFill>
                <a:latin typeface="Arial"/>
              </a:rPr>
              <a:t>.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9059418" y="4663440"/>
            <a:ext cx="2754630" cy="15727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7" name="Rectangle 17446"/>
          <p:cNvSpPr/>
          <p:nvPr/>
        </p:nvSpPr>
        <p:spPr>
          <a:xfrm>
            <a:off x="9059418" y="4764024"/>
            <a:ext cx="25603" cy="1371600"/>
          </a:xfrm>
          <a:prstGeom prst="rect">
            <a:avLst/>
          </a:prstGeom>
          <a:solidFill>
            <a:srgbClr val="F29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8" name="TextBox 17447"/>
          <p:cNvSpPr txBox="1"/>
          <p:nvPr/>
        </p:nvSpPr>
        <p:spPr>
          <a:xfrm>
            <a:off x="9201150" y="4782312"/>
            <a:ext cx="247116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94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10">
                <a:solidFill>
                  <a:srgbClr val="7F8FA2"/>
                </a:solidFill>
                <a:latin typeface="Arial"/>
              </a:rPr>
              <a:t>OPERATIONAL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9201150" y="4937759"/>
            <a:ext cx="24711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52233"/>
                </a:solidFill>
                <a:latin typeface="Arial"/>
              </a:rPr>
              <a:t>Fits the pipeline that exists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9201150" y="5248655"/>
            <a:ext cx="2471166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2913F"/>
                </a:solidFill>
                <a:latin typeface="Arial"/>
              </a:rPr>
              <a:t>▪  </a:t>
            </a:r>
            <a:r>
              <a:rPr sz="880" b="0" i="0">
                <a:solidFill>
                  <a:srgbClr val="44546A"/>
                </a:solidFill>
                <a:latin typeface="Arial"/>
              </a:rPr>
              <a:t>CCSDS CDM export drops straight into an operator’s flight-dynamics workflow.</a:t>
            </a:r>
          </a:p>
          <a:p>
            <a:pPr>
              <a:lnSpc>
                <a:spcPts val="1140"/>
              </a:lnSpc>
              <a:spcBef>
                <a:spcPts val="459"/>
              </a:spcBef>
              <a:spcAft>
                <a:spcPts val="0"/>
              </a:spcAft>
            </a:pPr>
            <a:r>
              <a:rPr sz="880" b="1" i="0">
                <a:solidFill>
                  <a:srgbClr val="F2913F"/>
                </a:solidFill>
                <a:latin typeface="Arial"/>
              </a:rPr>
              <a:t>▪  </a:t>
            </a:r>
            <a:r>
              <a:rPr sz="880" b="0" i="0">
                <a:solidFill>
                  <a:srgbClr val="44546A"/>
                </a:solidFill>
                <a:latin typeface="Arial"/>
              </a:rPr>
              <a:t>Runs offline from a single file — a demo that never depends on the venue’s wifi.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sz="1100" b="1">
                <a:solidFill>
                  <a:srgbClr val="333333"/>
                </a:solidFill>
                <a:latin typeface="Arial"/>
              </a:rPr>
              <a:t>&lt;TEAM NAME&gt;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84048" y="1170432"/>
            <a:ext cx="11420856" cy="73152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384048" y="1170432"/>
            <a:ext cx="32004" cy="731520"/>
          </a:xfrm>
          <a:prstGeom prst="rect">
            <a:avLst/>
          </a:prstGeom>
          <a:solidFill>
            <a:srgbClr val="F29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621792" y="1257300"/>
            <a:ext cx="73609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60" b="1" i="0" spc="145">
                <a:solidFill>
                  <a:srgbClr val="F2913F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21792" y="1440180"/>
            <a:ext cx="7360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9DAEC1"/>
                </a:solidFill>
                <a:latin typeface="Arial"/>
              </a:rPr>
              <a:t>Every model here is a published one applied to real data, </a:t>
            </a:r>
            <a:r>
              <a:rPr sz="1260" b="1" i="0">
                <a:solidFill>
                  <a:srgbClr val="EEF3F9"/>
                </a:solidFill>
                <a:latin typeface="Arial"/>
              </a:rPr>
              <a:t>and every claim the console makes has a test behind it.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0659618" y="1330452"/>
            <a:ext cx="92583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EF3F9"/>
                </a:solidFill>
                <a:latin typeface="Arial"/>
              </a:rPr>
              <a:t>62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0659618" y="1604772"/>
            <a:ext cx="92583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90" b="1" i="0" spc="80">
                <a:solidFill>
                  <a:srgbClr val="6B7F94"/>
                </a:solidFill>
                <a:latin typeface="Arial"/>
              </a:rPr>
              <a:t>TESTS PASSING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9173718" y="1330452"/>
            <a:ext cx="12115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EF3F9"/>
                </a:solidFill>
                <a:latin typeface="Arial"/>
              </a:rPr>
              <a:t>10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9173718" y="1604772"/>
            <a:ext cx="12115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90" b="1" i="0" spc="80">
                <a:solidFill>
                  <a:srgbClr val="6B7F94"/>
                </a:solidFill>
                <a:latin typeface="Arial"/>
              </a:rPr>
              <a:t>MODELS &amp; STANDARDS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84048" y="2011680"/>
            <a:ext cx="6949440" cy="2487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9" name="Rectangle 17418"/>
          <p:cNvSpPr/>
          <p:nvPr/>
        </p:nvSpPr>
        <p:spPr>
          <a:xfrm>
            <a:off x="384048" y="2112264"/>
            <a:ext cx="25603" cy="228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566928" y="2148840"/>
            <a:ext cx="65836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1" i="0" spc="110">
                <a:solidFill>
                  <a:srgbClr val="7F8FA2"/>
                </a:solidFill>
                <a:latin typeface="Arial"/>
              </a:rPr>
              <a:t>MODELS AND STANDARDS IMPLEMENTED — NOT CITED, IMPLEMENTED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566928" y="2395728"/>
            <a:ext cx="6583679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D9741F"/>
                </a:solidFill>
                <a:latin typeface="Arial"/>
              </a:rPr>
              <a:t>01</a:t>
            </a:r>
            <a:r>
              <a:rPr sz="869" b="0" i="0">
                <a:solidFill>
                  <a:srgbClr val="44546A"/>
                </a:solidFill>
                <a:latin typeface="Arial"/>
              </a:rPr>
              <a:t>  </a:t>
            </a:r>
            <a:r>
              <a:rPr sz="869" b="1" i="0">
                <a:solidFill>
                  <a:srgbClr val="152233"/>
                </a:solidFill>
                <a:latin typeface="Arial"/>
              </a:rPr>
              <a:t>Vallado &amp; Crawford — Revisiting Spacetrack Report #3 (SGP4)</a:t>
            </a:r>
            <a:r>
              <a:rPr sz="869" b="0" i="0">
                <a:solidFill>
                  <a:srgbClr val="44546A"/>
                </a:solidFill>
                <a:latin typeface="Arial"/>
              </a:rPr>
              <a:t>  </a:t>
            </a:r>
            <a:r>
              <a:rPr sz="869" b="0" i="0">
                <a:solidFill>
                  <a:srgbClr val="7F8FA2"/>
                </a:solidFill>
                <a:latin typeface="Arial"/>
              </a:rPr>
              <a:t>AIAA 2006-6753</a:t>
            </a:r>
          </a:p>
          <a:p>
            <a:pPr>
              <a:lnSpc>
                <a:spcPts val="1100"/>
              </a:lnSpc>
              <a:spcBef>
                <a:spcPts val="320"/>
              </a:spcBef>
              <a:spcAft>
                <a:spcPts val="0"/>
              </a:spcAft>
            </a:pPr>
            <a:r>
              <a:rPr sz="819" b="1" i="0">
                <a:solidFill>
                  <a:srgbClr val="D9741F"/>
                </a:solidFill>
                <a:latin typeface="Arial"/>
              </a:rPr>
              <a:t>02</a:t>
            </a:r>
            <a:r>
              <a:rPr sz="869" b="0" i="0">
                <a:solidFill>
                  <a:srgbClr val="44546A"/>
                </a:solidFill>
                <a:latin typeface="Arial"/>
              </a:rPr>
              <a:t>  </a:t>
            </a:r>
            <a:r>
              <a:rPr sz="869" b="1" i="0">
                <a:solidFill>
                  <a:srgbClr val="152233"/>
                </a:solidFill>
                <a:latin typeface="Arial"/>
              </a:rPr>
              <a:t>Foster &amp; Estes — Parametric analysis of orbital debris collision probability</a:t>
            </a:r>
            <a:r>
              <a:rPr sz="869" b="0" i="0">
                <a:solidFill>
                  <a:srgbClr val="44546A"/>
                </a:solidFill>
                <a:latin typeface="Arial"/>
              </a:rPr>
              <a:t>  </a:t>
            </a:r>
            <a:r>
              <a:rPr sz="869" b="0" i="0">
                <a:solidFill>
                  <a:srgbClr val="7F8FA2"/>
                </a:solidFill>
                <a:latin typeface="Arial"/>
              </a:rPr>
              <a:t>NASA JSC-25898, 1992</a:t>
            </a:r>
          </a:p>
          <a:p>
            <a:pPr>
              <a:lnSpc>
                <a:spcPts val="1100"/>
              </a:lnSpc>
              <a:spcBef>
                <a:spcPts val="320"/>
              </a:spcBef>
              <a:spcAft>
                <a:spcPts val="0"/>
              </a:spcAft>
            </a:pPr>
            <a:r>
              <a:rPr sz="819" b="1" i="0">
                <a:solidFill>
                  <a:srgbClr val="D9741F"/>
                </a:solidFill>
                <a:latin typeface="Arial"/>
              </a:rPr>
              <a:t>03</a:t>
            </a:r>
            <a:r>
              <a:rPr sz="869" b="0" i="0">
                <a:solidFill>
                  <a:srgbClr val="44546A"/>
                </a:solidFill>
                <a:latin typeface="Arial"/>
              </a:rPr>
              <a:t>  </a:t>
            </a:r>
            <a:r>
              <a:rPr sz="869" b="1" i="0">
                <a:solidFill>
                  <a:srgbClr val="152233"/>
                </a:solidFill>
                <a:latin typeface="Arial"/>
              </a:rPr>
              <a:t>Johnson et al. — NASA’s New Breakup Model of EVOLVE 4.0</a:t>
            </a:r>
            <a:r>
              <a:rPr sz="869" b="0" i="0">
                <a:solidFill>
                  <a:srgbClr val="44546A"/>
                </a:solidFill>
                <a:latin typeface="Arial"/>
              </a:rPr>
              <a:t>  </a:t>
            </a:r>
            <a:r>
              <a:rPr sz="869" b="0" i="0">
                <a:solidFill>
                  <a:srgbClr val="7F8FA2"/>
                </a:solidFill>
                <a:latin typeface="Arial"/>
              </a:rPr>
              <a:t>Adv. Space Res. 28(9), 2001</a:t>
            </a:r>
          </a:p>
          <a:p>
            <a:pPr>
              <a:lnSpc>
                <a:spcPts val="1100"/>
              </a:lnSpc>
              <a:spcBef>
                <a:spcPts val="320"/>
              </a:spcBef>
              <a:spcAft>
                <a:spcPts val="0"/>
              </a:spcAft>
            </a:pPr>
            <a:r>
              <a:rPr sz="819" b="1" i="0">
                <a:solidFill>
                  <a:srgbClr val="D9741F"/>
                </a:solidFill>
                <a:latin typeface="Arial"/>
              </a:rPr>
              <a:t>04</a:t>
            </a:r>
            <a:r>
              <a:rPr sz="869" b="0" i="0">
                <a:solidFill>
                  <a:srgbClr val="44546A"/>
                </a:solidFill>
                <a:latin typeface="Arial"/>
              </a:rPr>
              <a:t>  </a:t>
            </a:r>
            <a:r>
              <a:rPr sz="869" b="1" i="0">
                <a:solidFill>
                  <a:srgbClr val="152233"/>
                </a:solidFill>
                <a:latin typeface="Arial"/>
              </a:rPr>
              <a:t>Kessler &amp; Cour-Palais — Collision frequency of artificial satellites</a:t>
            </a:r>
            <a:r>
              <a:rPr sz="869" b="0" i="0">
                <a:solidFill>
                  <a:srgbClr val="44546A"/>
                </a:solidFill>
                <a:latin typeface="Arial"/>
              </a:rPr>
              <a:t>  </a:t>
            </a:r>
            <a:r>
              <a:rPr sz="869" b="0" i="0">
                <a:solidFill>
                  <a:srgbClr val="7F8FA2"/>
                </a:solidFill>
                <a:latin typeface="Arial"/>
              </a:rPr>
              <a:t>JGR 83(A6), 1978</a:t>
            </a:r>
          </a:p>
          <a:p>
            <a:pPr>
              <a:lnSpc>
                <a:spcPts val="1100"/>
              </a:lnSpc>
              <a:spcBef>
                <a:spcPts val="320"/>
              </a:spcBef>
              <a:spcAft>
                <a:spcPts val="0"/>
              </a:spcAft>
            </a:pPr>
            <a:r>
              <a:rPr sz="819" b="1" i="0">
                <a:solidFill>
                  <a:srgbClr val="D9741F"/>
                </a:solidFill>
                <a:latin typeface="Arial"/>
              </a:rPr>
              <a:t>05</a:t>
            </a:r>
            <a:r>
              <a:rPr sz="869" b="0" i="0">
                <a:solidFill>
                  <a:srgbClr val="44546A"/>
                </a:solidFill>
                <a:latin typeface="Arial"/>
              </a:rPr>
              <a:t>  </a:t>
            </a:r>
            <a:r>
              <a:rPr sz="869" b="1" i="0">
                <a:solidFill>
                  <a:srgbClr val="152233"/>
                </a:solidFill>
                <a:latin typeface="Arial"/>
              </a:rPr>
              <a:t>King-Hele — Satellite Orbits in an Atmosphere: Theory and Applications</a:t>
            </a:r>
            <a:r>
              <a:rPr sz="869" b="0" i="0">
                <a:solidFill>
                  <a:srgbClr val="44546A"/>
                </a:solidFill>
                <a:latin typeface="Arial"/>
              </a:rPr>
              <a:t>  </a:t>
            </a:r>
            <a:r>
              <a:rPr sz="869" b="0" i="0">
                <a:solidFill>
                  <a:srgbClr val="7F8FA2"/>
                </a:solidFill>
                <a:latin typeface="Arial"/>
              </a:rPr>
              <a:t>1987</a:t>
            </a:r>
          </a:p>
          <a:p>
            <a:pPr>
              <a:lnSpc>
                <a:spcPts val="1100"/>
              </a:lnSpc>
              <a:spcBef>
                <a:spcPts val="320"/>
              </a:spcBef>
              <a:spcAft>
                <a:spcPts val="0"/>
              </a:spcAft>
            </a:pPr>
            <a:r>
              <a:rPr sz="819" b="1" i="0">
                <a:solidFill>
                  <a:srgbClr val="D9741F"/>
                </a:solidFill>
                <a:latin typeface="Arial"/>
              </a:rPr>
              <a:t>06</a:t>
            </a:r>
            <a:r>
              <a:rPr sz="869" b="0" i="0">
                <a:solidFill>
                  <a:srgbClr val="44546A"/>
                </a:solidFill>
                <a:latin typeface="Arial"/>
              </a:rPr>
              <a:t>  </a:t>
            </a:r>
            <a:r>
              <a:rPr sz="869" b="1" i="0">
                <a:solidFill>
                  <a:srgbClr val="152233"/>
                </a:solidFill>
                <a:latin typeface="Arial"/>
              </a:rPr>
              <a:t>Sutton &amp; Graves — General stagnation-point convective-heating equation</a:t>
            </a:r>
            <a:r>
              <a:rPr sz="869" b="0" i="0">
                <a:solidFill>
                  <a:srgbClr val="44546A"/>
                </a:solidFill>
                <a:latin typeface="Arial"/>
              </a:rPr>
              <a:t>  </a:t>
            </a:r>
            <a:r>
              <a:rPr sz="869" b="0" i="0">
                <a:solidFill>
                  <a:srgbClr val="7F8FA2"/>
                </a:solidFill>
                <a:latin typeface="Arial"/>
              </a:rPr>
              <a:t>NASA TR R-376, 1971</a:t>
            </a:r>
          </a:p>
          <a:p>
            <a:pPr>
              <a:lnSpc>
                <a:spcPts val="1100"/>
              </a:lnSpc>
              <a:spcBef>
                <a:spcPts val="320"/>
              </a:spcBef>
              <a:spcAft>
                <a:spcPts val="0"/>
              </a:spcAft>
            </a:pPr>
            <a:r>
              <a:rPr sz="819" b="1" i="0">
                <a:solidFill>
                  <a:srgbClr val="D9741F"/>
                </a:solidFill>
                <a:latin typeface="Arial"/>
              </a:rPr>
              <a:t>07</a:t>
            </a:r>
            <a:r>
              <a:rPr sz="869" b="0" i="0">
                <a:solidFill>
                  <a:srgbClr val="44546A"/>
                </a:solidFill>
                <a:latin typeface="Arial"/>
              </a:rPr>
              <a:t>  </a:t>
            </a:r>
            <a:r>
              <a:rPr sz="869" b="1" i="0">
                <a:solidFill>
                  <a:srgbClr val="152233"/>
                </a:solidFill>
                <a:latin typeface="Arial"/>
              </a:rPr>
              <a:t>Allen &amp; Eggers — Motion and aerodynamic heating of ballistic entry</a:t>
            </a:r>
            <a:r>
              <a:rPr sz="869" b="0" i="0">
                <a:solidFill>
                  <a:srgbClr val="44546A"/>
                </a:solidFill>
                <a:latin typeface="Arial"/>
              </a:rPr>
              <a:t>  </a:t>
            </a:r>
            <a:r>
              <a:rPr sz="869" b="0" i="0">
                <a:solidFill>
                  <a:srgbClr val="7F8FA2"/>
                </a:solidFill>
                <a:latin typeface="Arial"/>
              </a:rPr>
              <a:t>NACA TR-1381, 1958</a:t>
            </a:r>
          </a:p>
          <a:p>
            <a:pPr>
              <a:lnSpc>
                <a:spcPts val="1100"/>
              </a:lnSpc>
              <a:spcBef>
                <a:spcPts val="320"/>
              </a:spcBef>
              <a:spcAft>
                <a:spcPts val="0"/>
              </a:spcAft>
            </a:pPr>
            <a:r>
              <a:rPr sz="819" b="1" i="0">
                <a:solidFill>
                  <a:srgbClr val="D9741F"/>
                </a:solidFill>
                <a:latin typeface="Arial"/>
              </a:rPr>
              <a:t>08</a:t>
            </a:r>
            <a:r>
              <a:rPr sz="869" b="0" i="0">
                <a:solidFill>
                  <a:srgbClr val="44546A"/>
                </a:solidFill>
                <a:latin typeface="Arial"/>
              </a:rPr>
              <a:t>  </a:t>
            </a:r>
            <a:r>
              <a:rPr sz="869" b="1" i="0">
                <a:solidFill>
                  <a:srgbClr val="152233"/>
                </a:solidFill>
                <a:latin typeface="Arial"/>
              </a:rPr>
              <a:t>CCSDS 508.0-B-1 — Conjunction Data Message</a:t>
            </a:r>
            <a:r>
              <a:rPr sz="869" b="0" i="0">
                <a:solidFill>
                  <a:srgbClr val="44546A"/>
                </a:solidFill>
                <a:latin typeface="Arial"/>
              </a:rPr>
              <a:t>  </a:t>
            </a:r>
            <a:r>
              <a:rPr sz="869" b="0" i="0">
                <a:solidFill>
                  <a:srgbClr val="7F8FA2"/>
                </a:solidFill>
                <a:latin typeface="Arial"/>
              </a:rPr>
              <a:t>Blue Book, 2013</a:t>
            </a:r>
          </a:p>
          <a:p>
            <a:pPr>
              <a:lnSpc>
                <a:spcPts val="1100"/>
              </a:lnSpc>
              <a:spcBef>
                <a:spcPts val="320"/>
              </a:spcBef>
              <a:spcAft>
                <a:spcPts val="0"/>
              </a:spcAft>
            </a:pPr>
            <a:r>
              <a:rPr sz="819" b="1" i="0">
                <a:solidFill>
                  <a:srgbClr val="D9741F"/>
                </a:solidFill>
                <a:latin typeface="Arial"/>
              </a:rPr>
              <a:t>09</a:t>
            </a:r>
            <a:r>
              <a:rPr sz="869" b="0" i="0">
                <a:solidFill>
                  <a:srgbClr val="44546A"/>
                </a:solidFill>
                <a:latin typeface="Arial"/>
              </a:rPr>
              <a:t>  </a:t>
            </a:r>
            <a:r>
              <a:rPr sz="869" b="1" i="0">
                <a:solidFill>
                  <a:srgbClr val="152233"/>
                </a:solidFill>
                <a:latin typeface="Arial"/>
              </a:rPr>
              <a:t>Flohrer et al. — Categorisation of TLE orbit errors for the SSN catalogue</a:t>
            </a:r>
            <a:r>
              <a:rPr sz="869" b="0" i="0">
                <a:solidFill>
                  <a:srgbClr val="44546A"/>
                </a:solidFill>
                <a:latin typeface="Arial"/>
              </a:rPr>
              <a:t>  </a:t>
            </a:r>
            <a:r>
              <a:rPr sz="869" b="0" i="0">
                <a:solidFill>
                  <a:srgbClr val="7F8FA2"/>
                </a:solidFill>
                <a:latin typeface="Arial"/>
              </a:rPr>
              <a:t>AMOS 2008</a:t>
            </a:r>
          </a:p>
          <a:p>
            <a:pPr>
              <a:lnSpc>
                <a:spcPts val="1100"/>
              </a:lnSpc>
              <a:spcBef>
                <a:spcPts val="320"/>
              </a:spcBef>
              <a:spcAft>
                <a:spcPts val="0"/>
              </a:spcAft>
            </a:pPr>
            <a:r>
              <a:rPr sz="819" b="1" i="0">
                <a:solidFill>
                  <a:srgbClr val="D9741F"/>
                </a:solidFill>
                <a:latin typeface="Arial"/>
              </a:rPr>
              <a:t>10</a:t>
            </a:r>
            <a:r>
              <a:rPr sz="869" b="0" i="0">
                <a:solidFill>
                  <a:srgbClr val="44546A"/>
                </a:solidFill>
                <a:latin typeface="Arial"/>
              </a:rPr>
              <a:t>  </a:t>
            </a:r>
            <a:r>
              <a:rPr sz="869" b="1" i="0">
                <a:solidFill>
                  <a:srgbClr val="152233"/>
                </a:solidFill>
                <a:latin typeface="Arial"/>
              </a:rPr>
              <a:t>Anilkumar et al. — CLAPS, ISRO close-approach prediction software</a:t>
            </a:r>
            <a:r>
              <a:rPr sz="869" b="0" i="0">
                <a:solidFill>
                  <a:srgbClr val="44546A"/>
                </a:solidFill>
                <a:latin typeface="Arial"/>
              </a:rPr>
              <a:t>  </a:t>
            </a:r>
            <a:r>
              <a:rPr sz="869" b="0" i="0">
                <a:solidFill>
                  <a:srgbClr val="7F8FA2"/>
                </a:solidFill>
                <a:latin typeface="Arial"/>
              </a:rPr>
              <a:t>MCF Hassan / IS4OM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566928" y="4206240"/>
            <a:ext cx="6583679" cy="7315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566928" y="4270248"/>
            <a:ext cx="6583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4546A"/>
                </a:solidFill>
                <a:latin typeface="Arial"/>
              </a:rPr>
              <a:t>Each of these is </a:t>
            </a:r>
            <a:r>
              <a:rPr sz="850" b="1" i="0">
                <a:solidFill>
                  <a:srgbClr val="152233"/>
                </a:solidFill>
                <a:latin typeface="Arial"/>
              </a:rPr>
              <a:t>implemented in </a:t>
            </a:r>
            <a:r>
              <a:rPr sz="850" b="1" i="0">
                <a:solidFill>
                  <a:srgbClr val="D9741F"/>
                </a:solidFill>
                <a:latin typeface="Arial"/>
              </a:rPr>
              <a:t>src/data/engine/</a:t>
            </a:r>
            <a:r>
              <a:rPr sz="850" b="0" i="0">
                <a:solidFill>
                  <a:srgbClr val="44546A"/>
                </a:solidFill>
                <a:latin typeface="Arial"/>
              </a:rPr>
              <a:t>, not merely cited — and every one is exercised by the validation suite.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7479792" y="2011680"/>
            <a:ext cx="4325112" cy="2487168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 w="762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5" name="Rectangle 17424"/>
          <p:cNvSpPr/>
          <p:nvPr/>
        </p:nvSpPr>
        <p:spPr>
          <a:xfrm>
            <a:off x="7479792" y="2112264"/>
            <a:ext cx="25603" cy="2286000"/>
          </a:xfrm>
          <a:prstGeom prst="rect">
            <a:avLst/>
          </a:prstGeom>
          <a:solidFill>
            <a:srgbClr val="F29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7644383" y="2148840"/>
            <a:ext cx="39959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1" i="0" spc="110">
                <a:solidFill>
                  <a:srgbClr val="7F8FA2"/>
                </a:solidFill>
                <a:latin typeface="Arial"/>
              </a:rPr>
              <a:t>DATA SOURCES AND PRIOR ART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7644383" y="2395728"/>
            <a:ext cx="3995928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2913F"/>
                </a:solidFill>
                <a:latin typeface="Arial"/>
              </a:rPr>
              <a:t>▪  </a:t>
            </a:r>
            <a:r>
              <a:rPr sz="880" b="1" i="0">
                <a:solidFill>
                  <a:srgbClr val="152233"/>
                </a:solidFill>
                <a:latin typeface="Arial"/>
              </a:rPr>
              <a:t>CelesTrak GP element sets</a:t>
            </a:r>
            <a:r>
              <a:rPr sz="880" b="0" i="0">
                <a:solidFill>
                  <a:srgbClr val="44546A"/>
                </a:solidFill>
                <a:latin typeface="Arial"/>
              </a:rPr>
              <a:t> — celestrak.org. Free, no signup, five groups, 859 objects, captured 2024-11-17T23:05Z.</a:t>
            </a:r>
          </a:p>
          <a:p>
            <a:pPr>
              <a:lnSpc>
                <a:spcPts val="1140"/>
              </a:lnSpc>
              <a:spcBef>
                <a:spcPts val="500"/>
              </a:spcBef>
              <a:spcAft>
                <a:spcPts val="0"/>
              </a:spcAft>
            </a:pPr>
            <a:r>
              <a:rPr sz="880" b="1" i="0">
                <a:solidFill>
                  <a:srgbClr val="F2913F"/>
                </a:solidFill>
                <a:latin typeface="Arial"/>
              </a:rPr>
              <a:t>▪  </a:t>
            </a:r>
            <a:r>
              <a:rPr sz="880" b="1" i="0">
                <a:solidFill>
                  <a:srgbClr val="152233"/>
                </a:solidFill>
                <a:latin typeface="Arial"/>
              </a:rPr>
              <a:t>ISRO Indian Space Situational Assessment Report</a:t>
            </a:r>
            <a:r>
              <a:rPr sz="880" b="0" i="0">
                <a:solidFill>
                  <a:srgbClr val="44546A"/>
                </a:solidFill>
                <a:latin typeface="Arial"/>
              </a:rPr>
              <a:t> — IS4OM. Source of the 53,000 alerts and 10 manoeuvres.</a:t>
            </a:r>
          </a:p>
          <a:p>
            <a:pPr>
              <a:lnSpc>
                <a:spcPts val="1140"/>
              </a:lnSpc>
              <a:spcBef>
                <a:spcPts val="500"/>
              </a:spcBef>
              <a:spcAft>
                <a:spcPts val="0"/>
              </a:spcAft>
            </a:pPr>
            <a:r>
              <a:rPr sz="880" b="1" i="0">
                <a:solidFill>
                  <a:srgbClr val="F2913F"/>
                </a:solidFill>
                <a:latin typeface="Arial"/>
              </a:rPr>
              <a:t>▪  </a:t>
            </a:r>
            <a:r>
              <a:rPr sz="880" b="1" i="0">
                <a:solidFill>
                  <a:srgbClr val="152233"/>
                </a:solidFill>
                <a:latin typeface="Arial"/>
              </a:rPr>
              <a:t>CelesTrak SOCRATES</a:t>
            </a:r>
            <a:r>
              <a:rPr sz="880" b="0" i="0">
                <a:solidFill>
                  <a:srgbClr val="44546A"/>
                </a:solidFill>
                <a:latin typeface="Arial"/>
              </a:rPr>
              <a:t> — the closest public prior art. Upstream truth we would happily consume; what we add is interrogability and the consequence chain.</a:t>
            </a:r>
          </a:p>
          <a:p>
            <a:pPr>
              <a:lnSpc>
                <a:spcPts val="1140"/>
              </a:lnSpc>
              <a:spcBef>
                <a:spcPts val="500"/>
              </a:spcBef>
              <a:spcAft>
                <a:spcPts val="0"/>
              </a:spcAft>
            </a:pPr>
            <a:r>
              <a:rPr sz="880" b="1" i="0">
                <a:solidFill>
                  <a:srgbClr val="F2913F"/>
                </a:solidFill>
                <a:latin typeface="Arial"/>
              </a:rPr>
              <a:t>▪  </a:t>
            </a:r>
            <a:r>
              <a:rPr sz="880" b="1" i="0">
                <a:solidFill>
                  <a:srgbClr val="152233"/>
                </a:solidFill>
                <a:latin typeface="Arial"/>
              </a:rPr>
              <a:t>ESA Spacecraft Collision Avoidance Challenge</a:t>
            </a:r>
            <a:r>
              <a:rPr sz="880" b="0" i="0">
                <a:solidFill>
                  <a:srgbClr val="44546A"/>
                </a:solidFill>
                <a:latin typeface="Arial"/>
              </a:rPr>
              <a:t> — 13,154 real CDMs, 97 teams. The evidence behind the panel below.</a:t>
            </a:r>
          </a:p>
          <a:p>
            <a:pPr>
              <a:lnSpc>
                <a:spcPts val="1140"/>
              </a:lnSpc>
              <a:spcBef>
                <a:spcPts val="500"/>
              </a:spcBef>
              <a:spcAft>
                <a:spcPts val="0"/>
              </a:spcAft>
            </a:pPr>
            <a:r>
              <a:rPr sz="880" b="1" i="0">
                <a:solidFill>
                  <a:srgbClr val="F2913F"/>
                </a:solidFill>
                <a:latin typeface="Arial"/>
              </a:rPr>
              <a:t>▪  </a:t>
            </a:r>
            <a:r>
              <a:rPr sz="880" b="1" i="0">
                <a:solidFill>
                  <a:srgbClr val="152233"/>
                </a:solidFill>
                <a:latin typeface="Arial"/>
              </a:rPr>
              <a:t>18th / 19th Space Defense Squadron</a:t>
            </a:r>
            <a:r>
              <a:rPr sz="880" b="0" i="0">
                <a:solidFill>
                  <a:srgbClr val="44546A"/>
                </a:solidFill>
                <a:latin typeface="Arial"/>
              </a:rPr>
              <a:t> — issuer of the operational CDMs with a real covariance. This tool tells a small operator </a:t>
            </a:r>
            <a:r>
              <a:rPr sz="880" b="1" i="0">
                <a:solidFill>
                  <a:srgbClr val="152233"/>
                </a:solidFill>
                <a:latin typeface="Arial"/>
              </a:rPr>
              <a:t>which pair to go and ask about</a:t>
            </a:r>
            <a:r>
              <a:rPr sz="880" b="0" i="0">
                <a:solidFill>
                  <a:srgbClr val="44546A"/>
                </a:solidFill>
                <a:latin typeface="Arial"/>
              </a:rPr>
              <a:t>.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84048" y="4572000"/>
            <a:ext cx="7863840" cy="1700784"/>
          </a:xfrm>
          <a:prstGeom prst="roundRect">
            <a:avLst>
              <a:gd name="adj" fmla="val 5000"/>
            </a:avLst>
          </a:prstGeom>
          <a:solidFill>
            <a:srgbClr val="FDF7EF"/>
          </a:solidFill>
          <a:ln w="9525">
            <a:solidFill>
              <a:srgbClr val="E7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9" name="Rectangle 17428"/>
          <p:cNvSpPr/>
          <p:nvPr/>
        </p:nvSpPr>
        <p:spPr>
          <a:xfrm>
            <a:off x="384048" y="4572000"/>
            <a:ext cx="32004" cy="1700784"/>
          </a:xfrm>
          <a:prstGeom prst="rect">
            <a:avLst/>
          </a:prstGeom>
          <a:solidFill>
            <a:srgbClr val="F29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585216" y="4690872"/>
            <a:ext cx="74615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1" i="0" spc="110">
                <a:solidFill>
                  <a:srgbClr val="D9741F"/>
                </a:solidFill>
                <a:latin typeface="Arial"/>
              </a:rPr>
              <a:t>WHY THERE IS NO MACHINE-LEARNING MODEL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585216" y="4901184"/>
            <a:ext cx="7461504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44546A"/>
                </a:solidFill>
                <a:latin typeface="Arial"/>
              </a:rPr>
              <a:t>ESA ran exactly this experiment: </a:t>
            </a:r>
            <a:r>
              <a:rPr sz="919" b="1" i="0">
                <a:solidFill>
                  <a:srgbClr val="152233"/>
                </a:solidFill>
                <a:latin typeface="Arial"/>
              </a:rPr>
              <a:t>13,154 real conjunction events as CDMs, 97 registered teams</a:t>
            </a:r>
            <a:r>
              <a:rPr sz="919" b="0" i="0">
                <a:solidFill>
                  <a:srgbClr val="44546A"/>
                </a:solidFill>
                <a:latin typeface="Arial"/>
              </a:rPr>
              <a:t>. The naive baseline — predict the risk stated in the most recent CDM — beat almost every model submitted, and a later systematic benchmark found roughly </a:t>
            </a:r>
            <a:r>
              <a:rPr sz="919" b="1" i="0">
                <a:solidFill>
                  <a:srgbClr val="152233"/>
                </a:solidFill>
                <a:latin typeface="Arial"/>
              </a:rPr>
              <a:t>one model in five thousand</a:t>
            </a:r>
            <a:r>
              <a:rPr sz="919" b="0" i="0">
                <a:solidFill>
                  <a:srgbClr val="44546A"/>
                </a:solidFill>
                <a:latin typeface="Arial"/>
              </a:rPr>
              <a:t> beat it on both training and test sets, by 1.4%.</a:t>
            </a:r>
          </a:p>
          <a:p>
            <a:pPr>
              <a:lnSpc>
                <a:spcPts val="1200"/>
              </a:lnSpc>
              <a:spcBef>
                <a:spcPts val="600"/>
              </a:spcBef>
              <a:spcAft>
                <a:spcPts val="0"/>
              </a:spcAft>
            </a:pPr>
            <a:r>
              <a:rPr sz="919" b="0" i="0">
                <a:solidFill>
                  <a:srgbClr val="44546A"/>
                </a:solidFill>
                <a:latin typeface="Arial"/>
              </a:rPr>
              <a:t>So a model here would be decoration we could not validate, inside a project whose entire argument is that every claim has a test behind it. We spent that effort on </a:t>
            </a:r>
            <a:r>
              <a:rPr sz="919" b="1" i="0">
                <a:solidFill>
                  <a:srgbClr val="152233"/>
                </a:solidFill>
                <a:latin typeface="Arial"/>
              </a:rPr>
              <a:t>successive TLE differencing</a:t>
            </a:r>
            <a:r>
              <a:rPr sz="919" b="0" i="0">
                <a:solidFill>
                  <a:srgbClr val="44546A"/>
                </a:solidFill>
                <a:latin typeface="Arial"/>
              </a:rPr>
              <a:t> instead — the published method for measuring positional uncertainty from public element sets alone, tested against a known injected perturbation, which it recovers to </a:t>
            </a:r>
            <a:r>
              <a:rPr sz="919" b="1" i="0">
                <a:solidFill>
                  <a:srgbClr val="D9741F"/>
                </a:solidFill>
                <a:latin typeface="Arial"/>
              </a:rPr>
              <a:t>1.00×</a:t>
            </a:r>
            <a:r>
              <a:rPr sz="919" b="0" i="0">
                <a:solidFill>
                  <a:srgbClr val="44546A"/>
                </a:solidFill>
                <a:latin typeface="Arial"/>
              </a:rPr>
              <a:t>.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8394192" y="4572000"/>
            <a:ext cx="3410712" cy="1700784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3" name="Rectangle 17432"/>
          <p:cNvSpPr/>
          <p:nvPr/>
        </p:nvSpPr>
        <p:spPr>
          <a:xfrm>
            <a:off x="8394192" y="4572000"/>
            <a:ext cx="32004" cy="1700784"/>
          </a:xfrm>
          <a:prstGeom prst="rect">
            <a:avLst/>
          </a:prstGeom>
          <a:solidFill>
            <a:srgbClr val="F29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8595360" y="4690872"/>
            <a:ext cx="3008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40" b="1" i="0" spc="110">
                <a:solidFill>
                  <a:srgbClr val="F2913F"/>
                </a:solidFill>
                <a:latin typeface="Arial"/>
              </a:rPr>
              <a:t>REPRODUCE EVERY NUMBER IN THIS DECK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8595360" y="4901184"/>
            <a:ext cx="30083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EEF3F9"/>
                </a:solidFill>
                <a:latin typeface="Arial"/>
              </a:rPr>
              <a:t>github.com/agpriyanshu07/SIH-Internal-NITR-2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8595360" y="5321808"/>
            <a:ext cx="30083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F2913F"/>
                </a:solidFill>
                <a:latin typeface="Arial"/>
              </a:rPr>
              <a:t>npm run validate</a:t>
            </a:r>
            <a:r>
              <a:rPr sz="840" b="0" i="0">
                <a:solidFill>
                  <a:srgbClr val="6B7F94"/>
                </a:solidFill>
                <a:latin typeface="Arial"/>
              </a:rPr>
              <a:t>  →  </a:t>
            </a:r>
            <a:r>
              <a:rPr sz="840" b="0" i="0">
                <a:solidFill>
                  <a:srgbClr val="9DAEC1"/>
                </a:solidFill>
                <a:latin typeface="Arial"/>
              </a:rPr>
              <a:t>62/62 known-answer checks</a:t>
            </a:r>
          </a:p>
          <a:p>
            <a:pPr>
              <a:lnSpc>
                <a:spcPts val="1100"/>
              </a:lnSpc>
              <a:spcBef>
                <a:spcPts val="450"/>
              </a:spcBef>
              <a:spcAft>
                <a:spcPts val="0"/>
              </a:spcAft>
            </a:pPr>
            <a:r>
              <a:rPr sz="840" b="1" i="0">
                <a:solidFill>
                  <a:srgbClr val="F2913F"/>
                </a:solidFill>
                <a:latin typeface="Arial"/>
              </a:rPr>
              <a:t>npm run screen</a:t>
            </a:r>
            <a:r>
              <a:rPr sz="840" b="0" i="0">
                <a:solidFill>
                  <a:srgbClr val="6B7F94"/>
                </a:solidFill>
                <a:latin typeface="Arial"/>
              </a:rPr>
              <a:t>  →  </a:t>
            </a:r>
            <a:r>
              <a:rPr sz="840" b="0" i="0">
                <a:solidFill>
                  <a:srgbClr val="9DAEC1"/>
                </a:solidFill>
                <a:latin typeface="Arial"/>
              </a:rPr>
              <a:t>reproduces all 3,032 events</a:t>
            </a:r>
          </a:p>
          <a:p>
            <a:pPr>
              <a:lnSpc>
                <a:spcPts val="1100"/>
              </a:lnSpc>
              <a:spcBef>
                <a:spcPts val="450"/>
              </a:spcBef>
              <a:spcAft>
                <a:spcPts val="0"/>
              </a:spcAft>
            </a:pPr>
            <a:r>
              <a:rPr sz="840" b="1" i="0">
                <a:solidFill>
                  <a:srgbClr val="F2913F"/>
                </a:solidFill>
                <a:latin typeface="Arial"/>
              </a:rPr>
              <a:t>npm run scaling</a:t>
            </a:r>
            <a:r>
              <a:rPr sz="840" b="0" i="0">
                <a:solidFill>
                  <a:srgbClr val="6B7F94"/>
                </a:solidFill>
                <a:latin typeface="Arial"/>
              </a:rPr>
              <a:t>  →  </a:t>
            </a:r>
            <a:r>
              <a:rPr sz="840" b="0" i="0">
                <a:solidFill>
                  <a:srgbClr val="9DAEC1"/>
                </a:solidFill>
                <a:latin typeface="Arial"/>
              </a:rPr>
              <a:t>the measured 1.738 curve</a:t>
            </a:r>
          </a:p>
          <a:p>
            <a:pPr>
              <a:lnSpc>
                <a:spcPts val="1100"/>
              </a:lnSpc>
              <a:spcBef>
                <a:spcPts val="450"/>
              </a:spcBef>
              <a:spcAft>
                <a:spcPts val="0"/>
              </a:spcAft>
            </a:pPr>
            <a:r>
              <a:rPr sz="840" b="1" i="0">
                <a:solidFill>
                  <a:srgbClr val="F2913F"/>
                </a:solidFill>
                <a:latin typeface="Arial"/>
              </a:rPr>
              <a:t>npm run build:single</a:t>
            </a:r>
            <a:r>
              <a:rPr sz="840" b="0" i="0">
                <a:solidFill>
                  <a:srgbClr val="6B7F94"/>
                </a:solidFill>
                <a:latin typeface="Arial"/>
              </a:rPr>
              <a:t>  →  </a:t>
            </a:r>
            <a:r>
              <a:rPr sz="840" b="0" i="0">
                <a:solidFill>
                  <a:srgbClr val="9DAEC1"/>
                </a:solidFill>
                <a:latin typeface="Arial"/>
              </a:rPr>
              <a:t>one offline HTML file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